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hurT5F3R+Xb1lzPKutb0kq61/i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743D6BD-7D85-4B46-9572-FA2B7AA6E5CD}">
  <a:tblStyle styleId="{0743D6BD-7D85-4B46-9572-FA2B7AA6E5C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- Project repository: https://github.com/arenmizuno/beating-1X2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- UChicago branding inherited from the user-provided source deck.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- Team portraits and biographies inherited from the user-provided source deck.</a:t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- Project README.md, sections Problem framing and evaluation tracks.</a:t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- football-data.co.uk: https://www.football-data.co.uk/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- Understat: https://understat.com/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- ClubElo: http://clubelo.com/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- Project reports/summary.md.</a:t>
            </a:r>
            <a:endParaRPr/>
          </a:p>
        </p:txBody>
      </p:sp>
      <p:sp>
        <p:nvSpPr>
          <p:cNvPr id="75" name="Google Shape;75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- Project reports/summary.md and reports/model_vs_market.csv.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- Project src/splits.py and reports/champion.json for fold protocol.</a:t>
            </a:r>
            <a:endParaRPr/>
          </a:p>
        </p:txBody>
      </p:sp>
      <p:sp>
        <p:nvSpPr>
          <p:cNvPr id="106" name="Google Shape;106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- Project dvc.yaml, flows.py, src/api.py, src/train.py, and README.md.</a:t>
            </a:r>
            <a:endParaRPr/>
          </a:p>
        </p:txBody>
      </p:sp>
      <p:sp>
        <p:nvSpPr>
          <p:cNvPr id="127" name="Google Shape;127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- Project src/features.py, src/harmonize.py, src/market.py, and tests/test_features.py.</a:t>
            </a:r>
            <a:endParaRPr/>
          </a:p>
        </p:txBody>
      </p:sp>
      <p:sp>
        <p:nvSpPr>
          <p:cNvPr id="176" name="Google Shape;176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6" name="Google Shape;206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- Project params.yaml and src/train.py.</a:t>
            </a:r>
            <a:endParaRPr/>
          </a:p>
        </p:txBody>
      </p:sp>
      <p:sp>
        <p:nvSpPr>
          <p:cNvPr id="207" name="Google Shape;207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6" name="Google Shape;236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- Project reports/champion.json and local MLflow registry at http://127.0.0.1:5000/#/models/beating-1x2.</a:t>
            </a:r>
            <a:endParaRPr/>
          </a:p>
        </p:txBody>
      </p:sp>
      <p:sp>
        <p:nvSpPr>
          <p:cNvPr id="237" name="Google Shape;237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1" name="Google Shape;251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- Project reports/champion.json and reports/model_vs_market.csv; values normalized to wf_2021 through wf_2024.</a:t>
            </a:r>
            <a:endParaRPr/>
          </a:p>
        </p:txBody>
      </p:sp>
      <p:sp>
        <p:nvSpPr>
          <p:cNvPr id="252" name="Google Shape;252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1" name="Google Shape;301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- Project reports/value_backtest.csv and reports/value_backtest.md.</a:t>
            </a:r>
            <a:endParaRPr/>
          </a:p>
        </p:txBody>
      </p:sp>
      <p:sp>
        <p:nvSpPr>
          <p:cNvPr id="302" name="Google Shape;302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7" name="Google Shape;327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- Project src/api.py and src/predict.py; screenshot captured from http://127.0.0.1:8000/docs.</a:t>
            </a:r>
            <a:endParaRPr/>
          </a:p>
        </p:txBody>
      </p:sp>
      <p:sp>
        <p:nvSpPr>
          <p:cNvPr id="328" name="Google Shape;328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3" name="Google Shape;343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- Project reports/drift/drift_metrics.json and reports/drift/calibration_decay.csv.</a:t>
            </a:r>
            <a:endParaRPr/>
          </a:p>
        </p:txBody>
      </p:sp>
      <p:sp>
        <p:nvSpPr>
          <p:cNvPr id="344" name="Google Shape;344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3" name="Google Shape;363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- Project reports/drift/stress_test.json and reports/drift/stress_test.html; all scenarios scored through HTTP /predict.</a:t>
            </a:r>
            <a:endParaRPr/>
          </a:p>
        </p:txBody>
      </p:sp>
      <p:sp>
        <p:nvSpPr>
          <p:cNvPr id="364" name="Google Shape;364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0" name="Google Shape;380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- Project reports/champion.json, reports/summary.md, reports/value_backtest.csv, and reports/drift/stress_test.json.</a:t>
            </a:r>
            <a:endParaRPr/>
          </a:p>
        </p:txBody>
      </p:sp>
      <p:sp>
        <p:nvSpPr>
          <p:cNvPr id="381" name="Google Shape;381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4" name="Google Shape;394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- Project README.md, params.yaml, and reports/drift/drift_metrics.json.</a:t>
            </a:r>
            <a:endParaRPr/>
          </a:p>
        </p:txBody>
      </p:sp>
      <p:sp>
        <p:nvSpPr>
          <p:cNvPr id="395" name="Google Shape;395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9" name="Google Shape;409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- Project repository: https://github.com/arenmizuno/beating-1X2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- Verified locally: 98 tests passed; dvc status reported all stages up to date.</a:t>
            </a:r>
            <a:endParaRPr/>
          </a:p>
        </p:txBody>
      </p:sp>
      <p:sp>
        <p:nvSpPr>
          <p:cNvPr id="410" name="Google Shape;410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3.jpg"/><Relationship Id="rId5" Type="http://schemas.openxmlformats.org/officeDocument/2006/relationships/image" Target="../media/image1.jpg"/><Relationship Id="rId6" Type="http://schemas.openxmlformats.org/officeDocument/2006/relationships/image" Target="../media/image2.png"/><Relationship Id="rId7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502920" y="1874520"/>
            <a:ext cx="780092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5400"/>
              <a:buFont typeface="Arial"/>
              <a:buNone/>
            </a:pPr>
            <a:r>
              <a:rPr b="0" i="0" lang="en-US" sz="65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Beating the 1X2</a:t>
            </a:r>
            <a:endParaRPr b="0" i="0" sz="6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02925" y="2985513"/>
            <a:ext cx="97698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200"/>
              <a:buFont typeface="Arial"/>
              <a:buNone/>
            </a:pPr>
            <a:r>
              <a:rPr b="0" i="0" lang="en-US" sz="25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Can machine learning beat football’s closing market?</a:t>
            </a:r>
            <a:endParaRPr b="0" i="0" sz="2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02920" y="3657600"/>
            <a:ext cx="2011680" cy="18288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9" name="Google Shape;19;p1"/>
          <p:cNvSpPr/>
          <p:nvPr/>
        </p:nvSpPr>
        <p:spPr>
          <a:xfrm>
            <a:off x="502926" y="3886200"/>
            <a:ext cx="89559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500"/>
              <a:buFont typeface="Arial"/>
              <a:buNone/>
            </a:pPr>
            <a:r>
              <a:rPr b="0" i="0" lang="en-US" sz="20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ADSP 32021: MLOps Final Project  ·  Professor Abado  ·  Summer 2026</a:t>
            </a:r>
            <a:endParaRPr b="0" i="0" sz="2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None/>
            </a:pPr>
            <a:r>
              <a:rPr b="1" i="0" lang="en-US" sz="2000" u="non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Aren Mizuno  ·  Nick Dhaliwal  ·  Arthur Acker  ·  Nick Mikhail</a:t>
            </a:r>
            <a:endParaRPr b="0" i="0" sz="2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Arial"/>
              <a:buNone/>
            </a:pPr>
            <a:r>
              <a:rPr b="0" i="0" lang="en-US" sz="20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github.com/arenmizuno/beating-1X2</a:t>
            </a:r>
            <a:endParaRPr b="0" i="0" sz="2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0" y="6382512"/>
            <a:ext cx="12234672" cy="475488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pic>
        <p:nvPicPr>
          <p:cNvPr id="21" name="Google Shape;2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464808"/>
            <a:ext cx="244231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"/>
          <p:cNvSpPr/>
          <p:nvPr/>
        </p:nvSpPr>
        <p:spPr>
          <a:xfrm>
            <a:off x="481975" y="6437376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UNIVERSITY OF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CHICAGO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457200" y="256032"/>
            <a:ext cx="1127455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Meet the Team</a:t>
            </a:r>
            <a:endParaRPr b="0" i="0" sz="3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457200" y="1014984"/>
            <a:ext cx="11274552" cy="1554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0" name="Google Shape;30;p2"/>
          <p:cNvSpPr/>
          <p:nvPr/>
        </p:nvSpPr>
        <p:spPr>
          <a:xfrm>
            <a:off x="0" y="6382512"/>
            <a:ext cx="12234672" cy="475488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pic>
        <p:nvPicPr>
          <p:cNvPr id="31" name="Google Shape;3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464808"/>
            <a:ext cx="244231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"/>
          <p:cNvSpPr/>
          <p:nvPr/>
        </p:nvSpPr>
        <p:spPr>
          <a:xfrm>
            <a:off x="481975" y="6437376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UNIVERSITY OF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CHICAGO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1622024" y="638251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12051" y="2913251"/>
            <a:ext cx="2633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600"/>
              <a:buFont typeface="Arial"/>
              <a:buNone/>
            </a:pPr>
            <a:r>
              <a:rPr b="0" i="0" lang="en-US" sz="20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Aren Mizuno</a:t>
            </a:r>
            <a:endParaRPr b="0" i="0" sz="20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640075" y="3333875"/>
            <a:ext cx="2377500" cy="2647200"/>
          </a:xfrm>
          <a:prstGeom prst="roundRect">
            <a:avLst>
              <a:gd fmla="val 2752" name="adj"/>
            </a:avLst>
          </a:prstGeom>
          <a:solidFill>
            <a:srgbClr val="F0F0F0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6" name="Google Shape;36;p2"/>
          <p:cNvSpPr/>
          <p:nvPr/>
        </p:nvSpPr>
        <p:spPr>
          <a:xfrm>
            <a:off x="786372" y="3461891"/>
            <a:ext cx="20847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8775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300"/>
              <a:buFont typeface="Arial"/>
              <a:buChar char="•"/>
            </a:pPr>
            <a:r>
              <a:rPr b="0" i="0" lang="en-US" sz="13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MS Applied Data Science, UChicago</a:t>
            </a:r>
            <a:endParaRPr b="0" i="0" sz="13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8775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737373"/>
              </a:buClr>
              <a:buSzPts val="1300"/>
              <a:buFont typeface="Arial"/>
              <a:buChar char="•"/>
            </a:pPr>
            <a:r>
              <a:rPr b="0" i="0" lang="en-US" sz="13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BA Data Science &amp; Business Economics, UChicago</a:t>
            </a:r>
            <a:endParaRPr b="0" i="0" sz="13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8775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737373"/>
              </a:buClr>
              <a:buSzPts val="1300"/>
              <a:buFont typeface="Arial"/>
              <a:buChar char="•"/>
            </a:pPr>
            <a:r>
              <a:rPr b="0" i="0" lang="en-US" sz="13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Data Science Intern, Actelligent</a:t>
            </a:r>
            <a:endParaRPr b="0" i="0" sz="13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8775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737373"/>
              </a:buClr>
              <a:buSzPts val="1300"/>
              <a:buFont typeface="Arial"/>
              <a:buChar char="•"/>
            </a:pPr>
            <a:r>
              <a:rPr b="0" i="0" lang="en-US" sz="13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Data Science Intern, Morningstar</a:t>
            </a:r>
            <a:endParaRPr b="0" i="0" sz="13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3355836" y="2913251"/>
            <a:ext cx="2633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600"/>
              <a:buFont typeface="Arial"/>
              <a:buNone/>
            </a:pPr>
            <a:r>
              <a:rPr lang="en-US" sz="2000">
                <a:solidFill>
                  <a:srgbClr val="800000"/>
                </a:solidFill>
              </a:rPr>
              <a:t>Arthur Acker</a:t>
            </a:r>
            <a:endParaRPr b="0" i="0" sz="20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3483850" y="3333875"/>
            <a:ext cx="2377500" cy="2647200"/>
          </a:xfrm>
          <a:prstGeom prst="roundRect">
            <a:avLst>
              <a:gd fmla="val 2752" name="adj"/>
            </a:avLst>
          </a:prstGeom>
          <a:solidFill>
            <a:srgbClr val="F0F0F0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9" name="Google Shape;39;p2"/>
          <p:cNvSpPr/>
          <p:nvPr/>
        </p:nvSpPr>
        <p:spPr>
          <a:xfrm>
            <a:off x="3630156" y="3461891"/>
            <a:ext cx="20847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8775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300"/>
              <a:buFont typeface="Arial"/>
              <a:buChar char="•"/>
            </a:pPr>
            <a:r>
              <a:rPr b="0" i="0" lang="en-US" sz="13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MS Applied Data Science, UChicago</a:t>
            </a:r>
            <a:endParaRPr b="0" i="0" sz="13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8775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737373"/>
              </a:buClr>
              <a:buSzPts val="1300"/>
              <a:buFont typeface="Arial"/>
              <a:buChar char="•"/>
            </a:pPr>
            <a:r>
              <a:rPr b="0" i="0" lang="en-US" sz="13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BS Data Science, UChicago</a:t>
            </a:r>
            <a:endParaRPr b="0" i="0" sz="13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8775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737373"/>
              </a:buClr>
              <a:buSzPts val="1300"/>
              <a:buFont typeface="Arial"/>
              <a:buChar char="•"/>
            </a:pPr>
            <a:r>
              <a:rPr b="0" i="0" lang="en-US" sz="13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Data Science Project Manager, CharacTour</a:t>
            </a:r>
            <a:endParaRPr b="0" i="0" sz="13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8775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737373"/>
              </a:buClr>
              <a:buSzPts val="1300"/>
              <a:buFont typeface="Arial"/>
              <a:buChar char="•"/>
            </a:pPr>
            <a:r>
              <a:rPr b="0" i="0" lang="en-US" sz="13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Data Science Team Member, Internet Equity Initiative</a:t>
            </a:r>
            <a:endParaRPr b="0" i="0" sz="13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6199620" y="2913251"/>
            <a:ext cx="2633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600"/>
              <a:buFont typeface="Arial"/>
              <a:buNone/>
            </a:pPr>
            <a:r>
              <a:rPr lang="en-US" sz="2000">
                <a:solidFill>
                  <a:srgbClr val="800000"/>
                </a:solidFill>
              </a:rPr>
              <a:t>Nick Mikhail</a:t>
            </a:r>
            <a:endParaRPr b="0" i="0" sz="20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327625" y="3333875"/>
            <a:ext cx="2377500" cy="2647200"/>
          </a:xfrm>
          <a:prstGeom prst="roundRect">
            <a:avLst>
              <a:gd fmla="val 2752" name="adj"/>
            </a:avLst>
          </a:prstGeom>
          <a:solidFill>
            <a:srgbClr val="F0F0F0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2" name="Google Shape;42;p2"/>
          <p:cNvSpPr/>
          <p:nvPr/>
        </p:nvSpPr>
        <p:spPr>
          <a:xfrm>
            <a:off x="6473939" y="3461891"/>
            <a:ext cx="20847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8775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300"/>
              <a:buFont typeface="Arial"/>
              <a:buChar char="•"/>
            </a:pPr>
            <a:r>
              <a:rPr b="0" i="0" lang="en-US" sz="13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MS Applied Data Science, UChicago</a:t>
            </a:r>
            <a:endParaRPr b="0" i="0" sz="1300" u="none" cap="none">
              <a:solidFill>
                <a:srgbClr val="73737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8775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rgbClr val="737373"/>
                </a:solidFill>
              </a:rPr>
              <a:t>BA Psychology &amp; Minor in Data Science, UChicago</a:t>
            </a:r>
            <a:endParaRPr sz="1300">
              <a:solidFill>
                <a:srgbClr val="737373"/>
              </a:solidFill>
            </a:endParaRPr>
          </a:p>
          <a:p>
            <a:pPr indent="-358775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rgbClr val="737373"/>
                </a:solidFill>
              </a:rPr>
              <a:t>Research Assistant, Social-Human AI Interactions and Impressions Lab</a:t>
            </a:r>
            <a:endParaRPr sz="1300">
              <a:solidFill>
                <a:srgbClr val="737373"/>
              </a:solidFill>
            </a:endParaRPr>
          </a:p>
          <a:p>
            <a:pPr indent="-358775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rgbClr val="737373"/>
                </a:solidFill>
              </a:rPr>
              <a:t>Research Assistant, UChicago Light Lab</a:t>
            </a:r>
            <a:endParaRPr sz="1300">
              <a:solidFill>
                <a:srgbClr val="737373"/>
              </a:solidFill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9043404" y="2913251"/>
            <a:ext cx="2633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600"/>
              <a:buFont typeface="Arial"/>
              <a:buNone/>
            </a:pPr>
            <a:r>
              <a:rPr b="0" i="0" lang="en-US" sz="20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Nick Dhaliwal</a:t>
            </a:r>
            <a:endParaRPr b="0" i="0" sz="20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9171425" y="3333875"/>
            <a:ext cx="2377500" cy="2647200"/>
          </a:xfrm>
          <a:prstGeom prst="roundRect">
            <a:avLst>
              <a:gd fmla="val 2752" name="adj"/>
            </a:avLst>
          </a:prstGeom>
          <a:solidFill>
            <a:srgbClr val="F0F0F0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5" name="Google Shape;45;p2"/>
          <p:cNvSpPr/>
          <p:nvPr/>
        </p:nvSpPr>
        <p:spPr>
          <a:xfrm>
            <a:off x="9317724" y="3461891"/>
            <a:ext cx="20847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8775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300"/>
              <a:buFont typeface="Arial"/>
              <a:buChar char="•"/>
            </a:pPr>
            <a:r>
              <a:rPr b="0" i="0" lang="en-US" sz="13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MS Applied Data Science, UChicago</a:t>
            </a:r>
            <a:endParaRPr b="0" i="0" sz="1300" u="none" cap="none">
              <a:solidFill>
                <a:srgbClr val="73737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8775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rgbClr val="737373"/>
                </a:solidFill>
              </a:rPr>
              <a:t>BA Economics; Legal Studies, UC Berkeley</a:t>
            </a:r>
            <a:endParaRPr sz="1300">
              <a:solidFill>
                <a:srgbClr val="737373"/>
              </a:solidFill>
            </a:endParaRPr>
          </a:p>
          <a:p>
            <a:pPr indent="-358775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rgbClr val="737373"/>
                </a:solidFill>
              </a:rPr>
              <a:t>Asset Pricing Research, Economics Department, UC Berkeley</a:t>
            </a:r>
            <a:endParaRPr sz="1300">
              <a:solidFill>
                <a:srgbClr val="737373"/>
              </a:solidFill>
            </a:endParaRPr>
          </a:p>
          <a:p>
            <a:pPr indent="-358775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rgbClr val="737373"/>
                </a:solidFill>
              </a:rPr>
              <a:t>Business and Operations Analyst, Grocery Chain</a:t>
            </a:r>
            <a:endParaRPr sz="1300">
              <a:solidFill>
                <a:srgbClr val="737373"/>
              </a:solidFill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142981" y="1399998"/>
            <a:ext cx="1371600" cy="1371600"/>
          </a:xfrm>
          <a:prstGeom prst="ellipse">
            <a:avLst/>
          </a:prstGeom>
          <a:solidFill>
            <a:srgbClr val="D9D9D9"/>
          </a:solidFill>
          <a:ln cap="flat" cmpd="sng" w="9525">
            <a:solidFill>
              <a:srgbClr val="A6A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pic>
        <p:nvPicPr>
          <p:cNvPr id="47" name="Google Shape;47;p2"/>
          <p:cNvPicPr preferRelativeResize="0"/>
          <p:nvPr/>
        </p:nvPicPr>
        <p:blipFill rotWithShape="1">
          <a:blip r:embed="rId4">
            <a:alphaModFix/>
          </a:blip>
          <a:srcRect b="-1409" l="-1409" r="-1419" t="-1419"/>
          <a:stretch/>
        </p:blipFill>
        <p:spPr>
          <a:xfrm>
            <a:off x="1005888" y="1294825"/>
            <a:ext cx="1645800" cy="16458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8" name="Google Shape;48;p2"/>
          <p:cNvPicPr preferRelativeResize="0"/>
          <p:nvPr/>
        </p:nvPicPr>
        <p:blipFill rotWithShape="1">
          <a:blip r:embed="rId5">
            <a:alphaModFix/>
          </a:blip>
          <a:srcRect b="60" l="0" r="0" t="60"/>
          <a:stretch/>
        </p:blipFill>
        <p:spPr>
          <a:xfrm>
            <a:off x="6752525" y="1434900"/>
            <a:ext cx="1496400" cy="1494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9" name="Google Shape;49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11163" y="1452000"/>
            <a:ext cx="1460400" cy="14604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0" name="Google Shape;50;p2"/>
          <p:cNvPicPr preferRelativeResize="0"/>
          <p:nvPr/>
        </p:nvPicPr>
        <p:blipFill rotWithShape="1">
          <a:blip r:embed="rId7">
            <a:alphaModFix/>
          </a:blip>
          <a:srcRect b="0" l="0" r="0" t="3568"/>
          <a:stretch/>
        </p:blipFill>
        <p:spPr>
          <a:xfrm>
            <a:off x="9629875" y="1417250"/>
            <a:ext cx="1460400" cy="1441200"/>
          </a:xfrm>
          <a:prstGeom prst="ellipse">
            <a:avLst/>
          </a:prstGeom>
          <a:noFill/>
          <a:ln cap="flat" cmpd="sng" w="9525">
            <a:solidFill>
              <a:srgbClr val="A6A6A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/>
          <p:nvPr/>
        </p:nvSpPr>
        <p:spPr>
          <a:xfrm>
            <a:off x="457200" y="256032"/>
            <a:ext cx="1127455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b="0" i="0" sz="3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457200" y="1014984"/>
            <a:ext cx="11274552" cy="1554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8" name="Google Shape;58;p3"/>
          <p:cNvSpPr/>
          <p:nvPr/>
        </p:nvSpPr>
        <p:spPr>
          <a:xfrm>
            <a:off x="457200" y="1280160"/>
            <a:ext cx="11274552" cy="100584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9" name="Google Shape;59;p3"/>
          <p:cNvSpPr/>
          <p:nvPr/>
        </p:nvSpPr>
        <p:spPr>
          <a:xfrm>
            <a:off x="713232" y="1371600"/>
            <a:ext cx="1076248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Font typeface="Arial"/>
              <a:buNone/>
            </a:pPr>
            <a:r>
              <a:rPr b="1" i="0" lang="en-US" sz="1700" u="none" cap="non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Research question</a:t>
            </a:r>
            <a:endParaRPr b="0" i="0" sz="17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0" i="0" lang="en-US" sz="20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Can public pre-kickoff signals beat the closing line—or improve it when the market is included as an input?</a:t>
            </a:r>
            <a:endParaRPr b="0" i="0" sz="12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457200" y="2523744"/>
            <a:ext cx="5394960" cy="1572768"/>
          </a:xfrm>
          <a:prstGeom prst="rect">
            <a:avLst/>
          </a:prstGeom>
          <a:solidFill>
            <a:srgbClr val="D9D9D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1" name="Google Shape;61;p3"/>
          <p:cNvSpPr/>
          <p:nvPr/>
        </p:nvSpPr>
        <p:spPr>
          <a:xfrm>
            <a:off x="658368" y="2615184"/>
            <a:ext cx="4992624" cy="1389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500"/>
              <a:buFont typeface="Arial"/>
              <a:buNone/>
            </a:pPr>
            <a:r>
              <a:rPr b="1" i="0" lang="en-US" sz="20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task</a:t>
            </a:r>
            <a:endParaRPr b="0" i="0" sz="2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737373"/>
              </a:buClr>
              <a:buSzPts val="1300"/>
              <a:buFont typeface="Arial"/>
              <a:buNone/>
            </a:pPr>
            <a:r>
              <a:rPr lang="en-US" sz="1600">
                <a:solidFill>
                  <a:srgbClr val="737373"/>
                </a:solidFill>
              </a:rPr>
              <a:t>C</a:t>
            </a:r>
            <a:r>
              <a:rPr b="0" i="0" lang="en-US" sz="16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lassification of Home / Draw / Away using only information available before kickoff</a:t>
            </a:r>
            <a:endParaRPr b="0" i="0" sz="1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6336792" y="2523744"/>
            <a:ext cx="5394960" cy="1572768"/>
          </a:xfrm>
          <a:prstGeom prst="rect">
            <a:avLst/>
          </a:prstGeom>
          <a:solidFill>
            <a:srgbClr val="D9D9D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3" name="Google Shape;63;p3"/>
          <p:cNvSpPr/>
          <p:nvPr/>
        </p:nvSpPr>
        <p:spPr>
          <a:xfrm>
            <a:off x="6537960" y="2615184"/>
            <a:ext cx="4992624" cy="1389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500"/>
              <a:buFont typeface="Arial"/>
              <a:buNone/>
            </a:pPr>
            <a:r>
              <a:rPr b="1" i="0" lang="en-US" sz="20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value bet</a:t>
            </a:r>
            <a:endParaRPr b="0" i="0" sz="2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737373"/>
              </a:buClr>
              <a:buSzPts val="1300"/>
              <a:buFont typeface="Arial"/>
              <a:buNone/>
            </a:pPr>
            <a:r>
              <a:rPr b="0" i="0" lang="en-US" sz="16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Flag a wager where model probability exceeds the market-implied probability by more than a threshold</a:t>
            </a:r>
            <a:endParaRPr b="0" i="0" sz="1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457200" y="4224528"/>
            <a:ext cx="5394960" cy="1572768"/>
          </a:xfrm>
          <a:prstGeom prst="rect">
            <a:avLst/>
          </a:prstGeom>
          <a:solidFill>
            <a:srgbClr val="D9D9D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5" name="Google Shape;65;p3"/>
          <p:cNvSpPr/>
          <p:nvPr/>
        </p:nvSpPr>
        <p:spPr>
          <a:xfrm>
            <a:off x="658368" y="4315968"/>
            <a:ext cx="4992624" cy="1389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500"/>
              <a:buFont typeface="Arial"/>
              <a:buNone/>
            </a:pPr>
            <a:r>
              <a:rPr b="1" i="0" lang="en-US" sz="20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What “beating the market” means</a:t>
            </a:r>
            <a:endParaRPr b="0" i="0" sz="2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737373"/>
              </a:buClr>
              <a:buSzPts val="1300"/>
              <a:buFont typeface="Arial"/>
              <a:buNone/>
            </a:pPr>
            <a:r>
              <a:rPr b="0" i="0" lang="en-US" sz="16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A lower probabilistic log loss than the vig-free closing line: not just better accuracy</a:t>
            </a:r>
            <a:endParaRPr b="0" i="0" sz="1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6336792" y="4224528"/>
            <a:ext cx="5394960" cy="1572768"/>
          </a:xfrm>
          <a:prstGeom prst="rect">
            <a:avLst/>
          </a:prstGeom>
          <a:solidFill>
            <a:srgbClr val="D9D9D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7" name="Google Shape;67;p3"/>
          <p:cNvSpPr/>
          <p:nvPr/>
        </p:nvSpPr>
        <p:spPr>
          <a:xfrm>
            <a:off x="6537960" y="4315968"/>
            <a:ext cx="4992624" cy="1389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500"/>
              <a:buFont typeface="Arial"/>
              <a:buNone/>
            </a:pPr>
            <a:r>
              <a:rPr b="1" i="0" lang="en-US" sz="20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Why it is hard</a:t>
            </a:r>
            <a:endParaRPr b="0" i="0" sz="2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737373"/>
              </a:buClr>
              <a:buSzPts val="1300"/>
              <a:buFont typeface="Arial"/>
              <a:buNone/>
            </a:pPr>
            <a:r>
              <a:rPr b="0" i="0" lang="en-US" sz="16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The closing line aggregates the sharpest money, so beating it is the standard test of market efficiency</a:t>
            </a:r>
            <a:endParaRPr b="0" i="0" sz="1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0" y="6382512"/>
            <a:ext cx="12234672" cy="475488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pic>
        <p:nvPicPr>
          <p:cNvPr id="69" name="Google Shape;6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464808"/>
            <a:ext cx="244231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"/>
          <p:cNvSpPr/>
          <p:nvPr/>
        </p:nvSpPr>
        <p:spPr>
          <a:xfrm>
            <a:off x="481975" y="6437376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UNIVERSITY OF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CHICAGO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11622024" y="638251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/>
          <p:cNvSpPr/>
          <p:nvPr/>
        </p:nvSpPr>
        <p:spPr>
          <a:xfrm>
            <a:off x="457200" y="256025"/>
            <a:ext cx="10908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Data &amp; EDA</a:t>
            </a:r>
            <a:endParaRPr b="0" i="0" sz="3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457200" y="1014984"/>
            <a:ext cx="11274552" cy="1554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79" name="Google Shape;79;p4"/>
          <p:cNvSpPr/>
          <p:nvPr/>
        </p:nvSpPr>
        <p:spPr>
          <a:xfrm>
            <a:off x="457200" y="1298448"/>
            <a:ext cx="3520440" cy="914400"/>
          </a:xfrm>
          <a:prstGeom prst="rect">
            <a:avLst/>
          </a:prstGeom>
          <a:solidFill>
            <a:srgbClr val="D9D9D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80" name="Google Shape;80;p4"/>
          <p:cNvSpPr/>
          <p:nvPr/>
        </p:nvSpPr>
        <p:spPr>
          <a:xfrm>
            <a:off x="621792" y="1353312"/>
            <a:ext cx="1463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000"/>
              <a:buFont typeface="Arial"/>
              <a:buNone/>
            </a:pPr>
            <a:r>
              <a:rPr b="0" i="0" lang="en-US" sz="30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14,285</a:t>
            </a:r>
            <a:endParaRPr b="0" i="0" sz="3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2103120" y="1353312"/>
            <a:ext cx="1709928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Arial"/>
              <a:buNone/>
            </a:pPr>
            <a:r>
              <a:rPr b="0" i="0" lang="en-US" sz="15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matches ingested, 2018-19 to 2025-26</a:t>
            </a:r>
            <a:endParaRPr b="0" i="0" sz="1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8010080" y="1255923"/>
            <a:ext cx="3520500" cy="914400"/>
          </a:xfrm>
          <a:prstGeom prst="rect">
            <a:avLst/>
          </a:prstGeom>
          <a:solidFill>
            <a:srgbClr val="D9D9D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83" name="Google Shape;83;p4"/>
          <p:cNvSpPr/>
          <p:nvPr/>
        </p:nvSpPr>
        <p:spPr>
          <a:xfrm>
            <a:off x="8174672" y="1310787"/>
            <a:ext cx="14631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000"/>
              <a:buFont typeface="Arial"/>
              <a:buNone/>
            </a:pPr>
            <a:r>
              <a:rPr b="0" i="0" lang="en-US" sz="30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13,786</a:t>
            </a:r>
            <a:endParaRPr b="0" i="0" sz="3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9656000" y="1310787"/>
            <a:ext cx="17100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Arial"/>
              <a:buNone/>
            </a:pPr>
            <a:r>
              <a:rPr lang="en-US" sz="1500">
                <a:solidFill>
                  <a:srgbClr val="737373"/>
                </a:solidFill>
              </a:rPr>
              <a:t>matches </a:t>
            </a:r>
            <a:r>
              <a:rPr b="0" i="0" lang="en-US" sz="15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usable once </a:t>
            </a:r>
            <a:r>
              <a:rPr lang="en-US" sz="1500">
                <a:solidFill>
                  <a:srgbClr val="737373"/>
                </a:solidFill>
              </a:rPr>
              <a:t>rolling metrics are calculated</a:t>
            </a:r>
            <a:endParaRPr b="0" i="0" sz="1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4233622" y="1319936"/>
            <a:ext cx="3520500" cy="914400"/>
          </a:xfrm>
          <a:prstGeom prst="rect">
            <a:avLst/>
          </a:prstGeom>
          <a:solidFill>
            <a:srgbClr val="D9D9D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86" name="Google Shape;86;p4"/>
          <p:cNvSpPr/>
          <p:nvPr/>
        </p:nvSpPr>
        <p:spPr>
          <a:xfrm>
            <a:off x="4398215" y="1374800"/>
            <a:ext cx="14631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000"/>
              <a:buFont typeface="Arial"/>
              <a:buNone/>
            </a:pPr>
            <a:r>
              <a:rPr b="0" i="0" lang="en-US" sz="30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99.99%</a:t>
            </a:r>
            <a:endParaRPr b="0" i="0" sz="3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5879543" y="1374800"/>
            <a:ext cx="17100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Arial"/>
              <a:buNone/>
            </a:pPr>
            <a:r>
              <a:rPr b="0" i="0" lang="en-US" sz="15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cross-source join rate (14,284 / 14,285)</a:t>
            </a:r>
            <a:endParaRPr b="0" i="0" sz="1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457200" y="2395728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000"/>
              <a:buFont typeface="Arial"/>
              <a:buNone/>
            </a:pPr>
            <a:r>
              <a:rPr b="1" i="0" lang="en-US" sz="25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Three sources, one row per match</a:t>
            </a:r>
            <a:endParaRPr b="0" i="0" sz="2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457200" y="3074003"/>
            <a:ext cx="53949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900"/>
              <a:buFont typeface="Arial"/>
              <a:buChar char="•"/>
            </a:pPr>
            <a:r>
              <a:rPr b="0" i="0" lang="en-US" sz="19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football-data.co.uk: closing odds and results</a:t>
            </a:r>
            <a:endParaRPr b="0" i="0" sz="1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737373"/>
              </a:buClr>
              <a:buSzPts val="1900"/>
              <a:buFont typeface="Arial"/>
              <a:buChar char="•"/>
            </a:pPr>
            <a:r>
              <a:rPr b="0" i="0" lang="en-US" sz="19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Understat: shot-level expected goals</a:t>
            </a:r>
            <a:endParaRPr b="0" i="0" sz="1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737373"/>
              </a:buClr>
              <a:buSzPts val="1900"/>
              <a:buFont typeface="Arial"/>
              <a:buChar char="•"/>
            </a:pPr>
            <a:r>
              <a:rPr b="0" i="0" lang="en-US" sz="19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ClubElo: team strength ratings</a:t>
            </a:r>
            <a:endParaRPr b="0" i="0" sz="1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737373"/>
              </a:buClr>
              <a:buSzPts val="1900"/>
              <a:buFont typeface="Arial"/>
              <a:buChar char="•"/>
            </a:pPr>
            <a:r>
              <a:rPr b="0" i="0" lang="en-US" sz="19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Top-5 European leagues: EPL, La Liga, Bundesliga, Serie A, Ligue 1</a:t>
            </a:r>
            <a:endParaRPr b="0" i="0" sz="1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6336792" y="2395728"/>
            <a:ext cx="5394960" cy="2615184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91" name="Google Shape;91;p4"/>
          <p:cNvSpPr/>
          <p:nvPr/>
        </p:nvSpPr>
        <p:spPr>
          <a:xfrm>
            <a:off x="6537960" y="2523744"/>
            <a:ext cx="4992600" cy="235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20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EDA highlight</a:t>
            </a:r>
            <a:endParaRPr b="0" i="0" sz="2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6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Home advantage is persistent: the home-win rate holds at 44</a:t>
            </a:r>
            <a:r>
              <a:rPr lang="en-US" sz="1600">
                <a:solidFill>
                  <a:srgbClr val="FFFFFF"/>
                </a:solidFill>
              </a:rPr>
              <a:t>-</a:t>
            </a:r>
            <a:r>
              <a:rPr b="0" i="0" lang="en-US" sz="16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45% in every season except 2020-21, when it fell to 39.8% with empty stadiums</a:t>
            </a:r>
            <a:endParaRPr b="0" i="0" sz="1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D9D9D9"/>
              </a:buClr>
              <a:buSzPts val="1400"/>
              <a:buFont typeface="Arial"/>
              <a:buNone/>
            </a:pPr>
            <a:r>
              <a:rPr b="0" i="0" lang="en-US" u="none" cap="non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That dip is not noise. It returns on the monitoring slide as target drift at p &lt; 0.0001, measured against a pre-COVID reference window.</a:t>
            </a:r>
            <a:endParaRPr b="0" i="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457200" y="5230368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100"/>
              <a:buFont typeface="Arial"/>
              <a:buNone/>
            </a:pPr>
            <a:r>
              <a:rPr b="0" i="0" lang="en-US" sz="20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Class balance</a:t>
            </a:r>
            <a:endParaRPr b="0" i="0" sz="2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457200" y="5504688"/>
            <a:ext cx="4960803" cy="420624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94" name="Google Shape;94;p4"/>
          <p:cNvSpPr/>
          <p:nvPr/>
        </p:nvSpPr>
        <p:spPr>
          <a:xfrm>
            <a:off x="457200" y="5504688"/>
            <a:ext cx="4960803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6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Home win  44%</a:t>
            </a:r>
            <a:endParaRPr b="0" i="0" sz="1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5418003" y="5504688"/>
            <a:ext cx="2931384" cy="420624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96" name="Google Shape;96;p4"/>
          <p:cNvSpPr/>
          <p:nvPr/>
        </p:nvSpPr>
        <p:spPr>
          <a:xfrm>
            <a:off x="5418003" y="5504688"/>
            <a:ext cx="293138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b="0" i="0" lang="en-US" sz="1600" u="non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Draw  26%</a:t>
            </a:r>
            <a:endParaRPr b="0" i="0" sz="1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8349386" y="5504688"/>
            <a:ext cx="3382366" cy="420624"/>
          </a:xfrm>
          <a:prstGeom prst="rect">
            <a:avLst/>
          </a:prstGeom>
          <a:solidFill>
            <a:srgbClr val="7373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98" name="Google Shape;98;p4"/>
          <p:cNvSpPr/>
          <p:nvPr/>
        </p:nvSpPr>
        <p:spPr>
          <a:xfrm>
            <a:off x="8349386" y="5504688"/>
            <a:ext cx="3382366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6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Away win  30%</a:t>
            </a:r>
            <a:endParaRPr b="0" i="0" sz="1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0" y="6382512"/>
            <a:ext cx="12234672" cy="475488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pic>
        <p:nvPicPr>
          <p:cNvPr id="100" name="Google Shape;10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464808"/>
            <a:ext cx="244231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4"/>
          <p:cNvSpPr/>
          <p:nvPr/>
        </p:nvSpPr>
        <p:spPr>
          <a:xfrm>
            <a:off x="481975" y="6437376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UNIVERSITY OF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CHICAGO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11622024" y="638251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/>
          <p:nvPr/>
        </p:nvSpPr>
        <p:spPr>
          <a:xfrm>
            <a:off x="457200" y="256032"/>
            <a:ext cx="1127455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Evaluation Metric &amp; Two Baselines</a:t>
            </a:r>
            <a:endParaRPr b="0" i="0" sz="3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457200" y="1014984"/>
            <a:ext cx="11274552" cy="1554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10" name="Google Shape;110;p5"/>
          <p:cNvSpPr/>
          <p:nvPr/>
        </p:nvSpPr>
        <p:spPr>
          <a:xfrm>
            <a:off x="457200" y="1316736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000"/>
              <a:buFont typeface="Arial"/>
              <a:buNone/>
            </a:pPr>
            <a:r>
              <a:rPr b="1" i="0" lang="en-US" sz="25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Primary metric</a:t>
            </a:r>
            <a:endParaRPr b="0" i="0" sz="2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457175" y="2136150"/>
            <a:ext cx="5120700" cy="25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900"/>
              <a:buFont typeface="Arial"/>
              <a:buChar char="•"/>
            </a:pPr>
            <a:r>
              <a:rPr b="0" i="0" lang="en-US" sz="19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Multiclass log loss: a proper scoring rule that punishes overconfident probabilities</a:t>
            </a:r>
            <a:endParaRPr b="0" i="0" sz="1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737373"/>
              </a:buClr>
              <a:buSzPts val="1900"/>
              <a:buFont typeface="Arial"/>
              <a:buChar char="•"/>
            </a:pPr>
            <a:r>
              <a:rPr b="0" i="0" lang="en-US" sz="19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The right lens for betting, where a calibrated probability matters more than raw accuracy</a:t>
            </a:r>
            <a:endParaRPr b="0" i="0" sz="1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737373"/>
              </a:buClr>
              <a:buSzPts val="1900"/>
              <a:buFont typeface="Arial"/>
              <a:buChar char="•"/>
            </a:pPr>
            <a:r>
              <a:rPr b="0" i="0" lang="en-US" sz="19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Accuracy alone is useless here: a 44% home-win prior gets you most of the way with no skill</a:t>
            </a:r>
            <a:endParaRPr b="0" i="0" sz="1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5852160" y="1316736"/>
            <a:ext cx="5879592" cy="1737360"/>
          </a:xfrm>
          <a:prstGeom prst="rect">
            <a:avLst/>
          </a:prstGeom>
          <a:solidFill>
            <a:srgbClr val="D9D9D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13" name="Google Shape;113;p5"/>
          <p:cNvSpPr/>
          <p:nvPr/>
        </p:nvSpPr>
        <p:spPr>
          <a:xfrm>
            <a:off x="6035040" y="1901952"/>
            <a:ext cx="1600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800"/>
              <a:buFont typeface="Arial"/>
              <a:buNone/>
            </a:pPr>
            <a:r>
              <a:rPr b="0" i="0" lang="en-US" sz="30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0.969</a:t>
            </a:r>
            <a:r>
              <a:rPr lang="en-US" sz="3000">
                <a:solidFill>
                  <a:srgbClr val="800000"/>
                </a:solidFill>
              </a:rPr>
              <a:t>3</a:t>
            </a:r>
            <a:endParaRPr b="0" i="0" sz="3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7699248" y="1426464"/>
            <a:ext cx="3840480" cy="1517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Arial"/>
              <a:buNone/>
            </a:pPr>
            <a:r>
              <a:rPr b="1" i="0" lang="en-US" sz="2000" u="non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Vig-free closing market line</a:t>
            </a:r>
            <a:endParaRPr b="0" i="0" sz="2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737373"/>
              </a:buClr>
              <a:buSzPts val="1200"/>
              <a:buFont typeface="Arial"/>
              <a:buNone/>
            </a:pPr>
            <a:r>
              <a:rPr b="0" i="0" lang="en-US" sz="16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Shin devi</a:t>
            </a:r>
            <a:r>
              <a:rPr lang="en-US" sz="1600">
                <a:solidFill>
                  <a:srgbClr val="737373"/>
                </a:solidFill>
              </a:rPr>
              <a:t>g: </a:t>
            </a:r>
            <a:r>
              <a:rPr b="0" i="0" lang="en-US" sz="16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1600">
                <a:solidFill>
                  <a:srgbClr val="737373"/>
                </a:solidFill>
              </a:rPr>
              <a:t>true odds of a bookmaker</a:t>
            </a:r>
            <a:endParaRPr b="0" i="0" sz="1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5852160" y="3200400"/>
            <a:ext cx="5879592" cy="1737360"/>
          </a:xfrm>
          <a:prstGeom prst="rect">
            <a:avLst/>
          </a:prstGeom>
          <a:solidFill>
            <a:srgbClr val="D9D9D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16" name="Google Shape;116;p5"/>
          <p:cNvSpPr/>
          <p:nvPr/>
        </p:nvSpPr>
        <p:spPr>
          <a:xfrm>
            <a:off x="6035040" y="3785616"/>
            <a:ext cx="1600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800"/>
              <a:buFont typeface="Arial"/>
              <a:buNone/>
            </a:pPr>
            <a:r>
              <a:rPr b="0" i="0" lang="en-US" sz="30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0.992</a:t>
            </a:r>
            <a:r>
              <a:rPr lang="en-US" sz="3000">
                <a:solidFill>
                  <a:srgbClr val="800000"/>
                </a:solidFill>
              </a:rPr>
              <a:t>8</a:t>
            </a:r>
            <a:endParaRPr b="0" i="0" sz="3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7699250" y="3310125"/>
            <a:ext cx="3922800" cy="15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Arial"/>
              <a:buNone/>
            </a:pPr>
            <a:r>
              <a:rPr b="1" i="0" lang="en-US" sz="2000" u="non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Dixon-Coles Poisson goals model</a:t>
            </a:r>
            <a:endParaRPr b="0" i="0" sz="2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737373"/>
              </a:buClr>
              <a:buSzPts val="1200"/>
              <a:buFont typeface="Arial"/>
              <a:buNone/>
            </a:pPr>
            <a:r>
              <a:rPr b="0" i="0" lang="en-US" sz="16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The reasonable-model control. Price-blind, and deliberately kept out of the feature set so it stays an independent</a:t>
            </a:r>
            <a:r>
              <a:rPr lang="en-US" sz="1600">
                <a:solidFill>
                  <a:srgbClr val="737373"/>
                </a:solidFill>
              </a:rPr>
              <a:t> comparison</a:t>
            </a:r>
            <a:endParaRPr b="0" i="0" sz="1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457200" y="5175504"/>
            <a:ext cx="11274552" cy="89611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19" name="Google Shape;119;p5"/>
          <p:cNvSpPr/>
          <p:nvPr/>
        </p:nvSpPr>
        <p:spPr>
          <a:xfrm>
            <a:off x="685800" y="5266944"/>
            <a:ext cx="1081735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7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Split discipline   </a:t>
            </a:r>
            <a:r>
              <a:rPr b="0" i="0" lang="en-US" sz="16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Five walk-forward evaluation folds</a:t>
            </a:r>
            <a:r>
              <a:rPr b="0" i="0" lang="en-US" sz="16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; champion selection uses the four folds shared by every candidate</a:t>
            </a:r>
            <a:r>
              <a:rPr b="0" i="0" lang="en-US" sz="16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 The 2025-26 holdout stays sealed until deployed validation.</a:t>
            </a:r>
            <a:endParaRPr b="0" i="0" sz="17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0" y="6382512"/>
            <a:ext cx="12234672" cy="475488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pic>
        <p:nvPicPr>
          <p:cNvPr id="121" name="Google Shape;12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464808"/>
            <a:ext cx="244231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5"/>
          <p:cNvSpPr/>
          <p:nvPr/>
        </p:nvSpPr>
        <p:spPr>
          <a:xfrm>
            <a:off x="481975" y="6437376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UNIVERSITY OF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CHICAGO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11622024" y="638251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/>
          <p:nvPr/>
        </p:nvSpPr>
        <p:spPr>
          <a:xfrm>
            <a:off x="457200" y="256032"/>
            <a:ext cx="1127455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System Architecture</a:t>
            </a:r>
            <a:endParaRPr b="0" i="0" sz="3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457200" y="1014984"/>
            <a:ext cx="11274552" cy="1554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1" name="Google Shape;131;p6"/>
          <p:cNvSpPr/>
          <p:nvPr/>
        </p:nvSpPr>
        <p:spPr>
          <a:xfrm>
            <a:off x="457200" y="122529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Arial"/>
              <a:buNone/>
            </a:pPr>
            <a:r>
              <a:rPr b="1" i="0" lang="en-US" sz="23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Training</a:t>
            </a:r>
            <a:endParaRPr b="0" i="0" sz="23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457200" y="1536192"/>
            <a:ext cx="1417320" cy="914400"/>
          </a:xfrm>
          <a:prstGeom prst="rect">
            <a:avLst/>
          </a:prstGeom>
          <a:solidFill>
            <a:srgbClr val="D9D9D9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3" name="Google Shape;133;p6"/>
          <p:cNvSpPr/>
          <p:nvPr/>
        </p:nvSpPr>
        <p:spPr>
          <a:xfrm>
            <a:off x="530352" y="1581912"/>
            <a:ext cx="127101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b="1" i="0" lang="en-US" u="non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Ingest</a:t>
            </a:r>
            <a:endParaRPr b="0" i="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900"/>
              <a:buFont typeface="Arial"/>
              <a:buNone/>
            </a:pPr>
            <a:r>
              <a:rPr b="0" i="0" lang="en-US" sz="13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3 sources</a:t>
            </a:r>
            <a:endParaRPr b="0" i="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1856232" y="1536192"/>
            <a:ext cx="26212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00"/>
              <a:buFont typeface="Arial"/>
              <a:buNone/>
            </a:pPr>
            <a:r>
              <a:rPr b="0" i="0" lang="en-US" sz="13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3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2100072" y="1536192"/>
            <a:ext cx="1417320" cy="914400"/>
          </a:xfrm>
          <a:prstGeom prst="rect">
            <a:avLst/>
          </a:prstGeom>
          <a:solidFill>
            <a:srgbClr val="D9D9D9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6" name="Google Shape;136;p6"/>
          <p:cNvSpPr/>
          <p:nvPr/>
        </p:nvSpPr>
        <p:spPr>
          <a:xfrm>
            <a:off x="2173224" y="1581912"/>
            <a:ext cx="127101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b="1" i="0" lang="en-US" sz="1300" u="non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Harmonize</a:t>
            </a:r>
            <a:endParaRPr b="0" i="0" sz="13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900"/>
              <a:buFont typeface="Arial"/>
              <a:buNone/>
            </a:pPr>
            <a:r>
              <a:rPr b="0" i="0" lang="en-US" sz="12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Hungarian matching</a:t>
            </a:r>
            <a:endParaRPr b="0" i="0" sz="13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3499104" y="1536192"/>
            <a:ext cx="26212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00"/>
              <a:buFont typeface="Arial"/>
              <a:buNone/>
            </a:pPr>
            <a:r>
              <a:rPr b="0" i="0" lang="en-US" sz="13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3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3742944" y="1536192"/>
            <a:ext cx="1417320" cy="914400"/>
          </a:xfrm>
          <a:prstGeom prst="rect">
            <a:avLst/>
          </a:prstGeom>
          <a:solidFill>
            <a:srgbClr val="D9D9D9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9" name="Google Shape;139;p6"/>
          <p:cNvSpPr/>
          <p:nvPr/>
        </p:nvSpPr>
        <p:spPr>
          <a:xfrm>
            <a:off x="3816096" y="1581912"/>
            <a:ext cx="127101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b="1" i="0" lang="en-US" u="non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Devig</a:t>
            </a:r>
            <a:endParaRPr b="0" i="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900"/>
              <a:buFont typeface="Arial"/>
              <a:buNone/>
            </a:pPr>
            <a:r>
              <a:rPr b="0" i="0" lang="en-US" sz="13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Shin, vig-free</a:t>
            </a:r>
            <a:endParaRPr b="0" i="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5141976" y="1536192"/>
            <a:ext cx="26212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00"/>
              <a:buFont typeface="Arial"/>
              <a:buNone/>
            </a:pPr>
            <a:r>
              <a:rPr b="0" i="0" lang="en-US" sz="13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3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5385816" y="1536192"/>
            <a:ext cx="1417320" cy="91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300">
              <a:solidFill>
                <a:srgbClr val="737373"/>
              </a:solidFill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5458918" y="1581950"/>
            <a:ext cx="1271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-US">
                <a:solidFill>
                  <a:srgbClr val="1A1A1A"/>
                </a:solidFill>
              </a:rPr>
              <a:t>Features</a:t>
            </a:r>
            <a:endParaRPr sz="1300">
              <a:solidFill>
                <a:srgbClr val="737373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900"/>
              <a:buFont typeface="Arial"/>
              <a:buNone/>
            </a:pPr>
            <a:r>
              <a:rPr lang="en-US" sz="1300">
                <a:solidFill>
                  <a:srgbClr val="737373"/>
                </a:solidFill>
              </a:rPr>
              <a:t>leakage-guarded</a:t>
            </a:r>
            <a:endParaRPr sz="1300">
              <a:solidFill>
                <a:srgbClr val="737373"/>
              </a:solidFill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6784848" y="1536192"/>
            <a:ext cx="26212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00"/>
              <a:buFont typeface="Arial"/>
              <a:buNone/>
            </a:pPr>
            <a:r>
              <a:rPr b="0" i="0" lang="en-US" sz="13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3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7028688" y="1536192"/>
            <a:ext cx="1417320" cy="914400"/>
          </a:xfrm>
          <a:prstGeom prst="rect">
            <a:avLst/>
          </a:prstGeom>
          <a:solidFill>
            <a:srgbClr val="D9D9D9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45" name="Google Shape;145;p6"/>
          <p:cNvSpPr/>
          <p:nvPr/>
        </p:nvSpPr>
        <p:spPr>
          <a:xfrm>
            <a:off x="7101840" y="1581912"/>
            <a:ext cx="127101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b="1" i="0" lang="en-US" u="non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Walk-forward</a:t>
            </a:r>
            <a:endParaRPr b="0" i="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900"/>
              <a:buFont typeface="Arial"/>
              <a:buNone/>
            </a:pPr>
            <a:r>
              <a:rPr b="0" i="0" lang="en-US" sz="13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5 eval folds</a:t>
            </a:r>
            <a:endParaRPr b="0" i="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8427720" y="1536192"/>
            <a:ext cx="26212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00"/>
              <a:buFont typeface="Arial"/>
              <a:buNone/>
            </a:pPr>
            <a:r>
              <a:rPr b="0" i="0" lang="en-US" sz="13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3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8671560" y="1536192"/>
            <a:ext cx="1417320" cy="914400"/>
          </a:xfrm>
          <a:prstGeom prst="rect">
            <a:avLst/>
          </a:prstGeom>
          <a:solidFill>
            <a:srgbClr val="D9D9D9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48" name="Google Shape;148;p6"/>
          <p:cNvSpPr/>
          <p:nvPr/>
        </p:nvSpPr>
        <p:spPr>
          <a:xfrm>
            <a:off x="8744712" y="1581912"/>
            <a:ext cx="127101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b="1" i="0" lang="en-US" u="non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Compare</a:t>
            </a:r>
            <a:endParaRPr b="0" i="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900"/>
              <a:buFont typeface="Arial"/>
              <a:buNone/>
            </a:pPr>
            <a:r>
              <a:rPr b="0" i="0" lang="en-US" sz="13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18 configs · 4 folds</a:t>
            </a:r>
            <a:endParaRPr b="0" i="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10070592" y="1536192"/>
            <a:ext cx="26212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00"/>
              <a:buFont typeface="Arial"/>
              <a:buNone/>
            </a:pPr>
            <a:r>
              <a:rPr b="0" i="0" lang="en-US" sz="13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3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10314432" y="1536192"/>
            <a:ext cx="1417320" cy="9144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51" name="Google Shape;151;p6"/>
          <p:cNvSpPr/>
          <p:nvPr/>
        </p:nvSpPr>
        <p:spPr>
          <a:xfrm>
            <a:off x="10387584" y="1581912"/>
            <a:ext cx="127101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MLflow</a:t>
            </a:r>
            <a:endParaRPr b="0" i="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900"/>
              <a:buFont typeface="Arial"/>
              <a:buNone/>
            </a:pPr>
            <a:r>
              <a:rPr b="0" i="0" lang="en-US" sz="1300" u="none" cap="non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champion </a:t>
            </a:r>
            <a:r>
              <a:rPr lang="en-US" sz="1300">
                <a:solidFill>
                  <a:srgbClr val="D9D9D9"/>
                </a:solidFill>
              </a:rPr>
              <a:t>alias</a:t>
            </a:r>
            <a:endParaRPr b="0" i="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457200" y="28163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Arial"/>
              <a:buNone/>
            </a:pPr>
            <a:r>
              <a:rPr b="1" i="0" lang="en-US" sz="23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Serving</a:t>
            </a:r>
            <a:endParaRPr b="0" i="0" sz="23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457200" y="3127248"/>
            <a:ext cx="2606040" cy="914400"/>
          </a:xfrm>
          <a:prstGeom prst="rect">
            <a:avLst/>
          </a:prstGeom>
          <a:solidFill>
            <a:srgbClr val="D9D9D9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54" name="Google Shape;154;p6"/>
          <p:cNvSpPr/>
          <p:nvPr/>
        </p:nvSpPr>
        <p:spPr>
          <a:xfrm>
            <a:off x="530352" y="3172968"/>
            <a:ext cx="245973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b="1" i="0" lang="en-US" u="non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Docker + FastAPI</a:t>
            </a:r>
            <a:endParaRPr b="0" i="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900"/>
              <a:buFont typeface="Arial"/>
              <a:buNone/>
            </a:pPr>
            <a:r>
              <a:rPr b="0" i="0" lang="en-US" sz="13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one compose command</a:t>
            </a:r>
            <a:endParaRPr b="0" i="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3044952" y="3127248"/>
            <a:ext cx="320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00"/>
              <a:buFont typeface="Arial"/>
              <a:buNone/>
            </a:pPr>
            <a:r>
              <a:rPr b="0" i="0" lang="en-US" sz="13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3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3346704" y="3127248"/>
            <a:ext cx="2606040" cy="914400"/>
          </a:xfrm>
          <a:prstGeom prst="rect">
            <a:avLst/>
          </a:prstGeom>
          <a:solidFill>
            <a:srgbClr val="D9D9D9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57" name="Google Shape;157;p6"/>
          <p:cNvSpPr/>
          <p:nvPr/>
        </p:nvSpPr>
        <p:spPr>
          <a:xfrm>
            <a:off x="3419856" y="3172968"/>
            <a:ext cx="245973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b="1" i="0" lang="en-US" u="non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Resolve alias</a:t>
            </a:r>
            <a:endParaRPr b="0" i="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900"/>
              <a:buFont typeface="Arial"/>
              <a:buNone/>
            </a:pPr>
            <a:r>
              <a:rPr b="0" i="0" lang="en-US" sz="13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models:/beating-1x2@champion</a:t>
            </a:r>
            <a:endParaRPr b="0" i="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5934456" y="3127248"/>
            <a:ext cx="320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00"/>
              <a:buFont typeface="Arial"/>
              <a:buNone/>
            </a:pPr>
            <a:r>
              <a:rPr b="0" i="0" lang="en-US" sz="13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3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6236208" y="3127248"/>
            <a:ext cx="2606040" cy="914400"/>
          </a:xfrm>
          <a:prstGeom prst="rect">
            <a:avLst/>
          </a:prstGeom>
          <a:solidFill>
            <a:srgbClr val="D9D9D9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60" name="Google Shape;160;p6"/>
          <p:cNvSpPr/>
          <p:nvPr/>
        </p:nvSpPr>
        <p:spPr>
          <a:xfrm>
            <a:off x="6309360" y="3172968"/>
            <a:ext cx="245973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b="1" i="0" lang="en-US" u="non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Predictions</a:t>
            </a:r>
            <a:endParaRPr b="0" i="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900"/>
              <a:buFont typeface="Arial"/>
              <a:buNone/>
            </a:pPr>
            <a:r>
              <a:rPr b="0" i="0" lang="en-US" sz="13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+ value flags</a:t>
            </a:r>
            <a:endParaRPr b="0" i="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8823960" y="3127248"/>
            <a:ext cx="320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00"/>
              <a:buFont typeface="Arial"/>
              <a:buNone/>
            </a:pPr>
            <a:r>
              <a:rPr b="0" i="0" lang="en-US" sz="13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3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9125712" y="3127248"/>
            <a:ext cx="2606040" cy="914400"/>
          </a:xfrm>
          <a:prstGeom prst="rect">
            <a:avLst/>
          </a:prstGeom>
          <a:solidFill>
            <a:srgbClr val="D9D9D9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63" name="Google Shape;163;p6"/>
          <p:cNvSpPr/>
          <p:nvPr/>
        </p:nvSpPr>
        <p:spPr>
          <a:xfrm>
            <a:off x="9198864" y="3172968"/>
            <a:ext cx="245973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b="1" i="0" lang="en-US" u="non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Monitoring</a:t>
            </a:r>
            <a:endParaRPr b="0" i="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900"/>
              <a:buFont typeface="Arial"/>
              <a:buNone/>
            </a:pPr>
            <a:r>
              <a:rPr b="0" i="0" lang="en-US" sz="13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HTTP holdout + alerts</a:t>
            </a:r>
            <a:endParaRPr b="0" i="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457200" y="43891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Arial"/>
              <a:buNone/>
            </a:pPr>
            <a:r>
              <a:rPr b="1" i="0" lang="en-US" sz="23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Two orchestrators, two jobs</a:t>
            </a:r>
            <a:endParaRPr b="0" i="0" sz="23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457200" y="4700016"/>
            <a:ext cx="5513832" cy="969264"/>
          </a:xfrm>
          <a:prstGeom prst="rect">
            <a:avLst/>
          </a:prstGeom>
          <a:solidFill>
            <a:srgbClr val="D9D9D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66" name="Google Shape;166;p6"/>
          <p:cNvSpPr/>
          <p:nvPr/>
        </p:nvSpPr>
        <p:spPr>
          <a:xfrm>
            <a:off x="640075" y="4773175"/>
            <a:ext cx="5401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500"/>
              <a:buFont typeface="Arial"/>
              <a:buNone/>
            </a:pPr>
            <a:r>
              <a:rPr b="1" i="0" lang="en-US" sz="18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DVC</a:t>
            </a:r>
            <a:endParaRPr b="0" i="0" sz="1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737373"/>
              </a:buClr>
              <a:buSzPts val="1200"/>
              <a:buFont typeface="Arial"/>
              <a:buNone/>
            </a:pPr>
            <a:r>
              <a:rPr b="0" i="0" lang="en-US" sz="15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Reproducible build DAG</a:t>
            </a:r>
            <a:endParaRPr b="0" i="0" sz="1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6217920" y="4700016"/>
            <a:ext cx="5513832" cy="969264"/>
          </a:xfrm>
          <a:prstGeom prst="rect">
            <a:avLst/>
          </a:prstGeom>
          <a:solidFill>
            <a:srgbClr val="D9D9D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68" name="Google Shape;168;p6"/>
          <p:cNvSpPr/>
          <p:nvPr/>
        </p:nvSpPr>
        <p:spPr>
          <a:xfrm>
            <a:off x="6400800" y="4773168"/>
            <a:ext cx="514807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500"/>
              <a:buFont typeface="Arial"/>
              <a:buNone/>
            </a:pPr>
            <a:r>
              <a:rPr b="1" i="0" lang="en-US" sz="18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Prefect</a:t>
            </a:r>
            <a:endParaRPr b="0" i="0" sz="1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737373"/>
              </a:buClr>
              <a:buSzPts val="1200"/>
              <a:buFont typeface="Arial"/>
              <a:buNone/>
            </a:pPr>
            <a:r>
              <a:rPr b="0" i="0" lang="en-US" sz="15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Scheduler and runtime: concurrent ingestion, retries, observability</a:t>
            </a:r>
            <a:endParaRPr b="0" i="0" sz="1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0" y="6382512"/>
            <a:ext cx="12234672" cy="475488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pic>
        <p:nvPicPr>
          <p:cNvPr id="170" name="Google Shape;17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464808"/>
            <a:ext cx="244231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6"/>
          <p:cNvSpPr/>
          <p:nvPr/>
        </p:nvSpPr>
        <p:spPr>
          <a:xfrm>
            <a:off x="481975" y="6437376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UNIVERSITY OF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CHICAGO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11622024" y="638251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"/>
          <p:cNvSpPr/>
          <p:nvPr/>
        </p:nvSpPr>
        <p:spPr>
          <a:xfrm>
            <a:off x="457200" y="256032"/>
            <a:ext cx="1127455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Ingestion &amp; Feature Engineering</a:t>
            </a:r>
            <a:endParaRPr b="0" i="0" sz="3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457200" y="1014984"/>
            <a:ext cx="11274552" cy="1554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80" name="Google Shape;180;p7"/>
          <p:cNvSpPr/>
          <p:nvPr/>
        </p:nvSpPr>
        <p:spPr>
          <a:xfrm>
            <a:off x="457200" y="1316736"/>
            <a:ext cx="6583680" cy="749808"/>
          </a:xfrm>
          <a:prstGeom prst="rect">
            <a:avLst/>
          </a:prstGeom>
          <a:solidFill>
            <a:srgbClr val="D9D9D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81" name="Google Shape;181;p7"/>
          <p:cNvSpPr/>
          <p:nvPr/>
        </p:nvSpPr>
        <p:spPr>
          <a:xfrm>
            <a:off x="621792" y="1463040"/>
            <a:ext cx="457200" cy="4572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82" name="Google Shape;182;p7"/>
          <p:cNvSpPr/>
          <p:nvPr/>
        </p:nvSpPr>
        <p:spPr>
          <a:xfrm>
            <a:off x="621792" y="1463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1243584" y="1389888"/>
            <a:ext cx="56327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Arial"/>
              <a:buNone/>
            </a:pPr>
            <a:r>
              <a:rPr b="1" i="0" lang="en-US" sz="15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Ingestion</a:t>
            </a:r>
            <a:endParaRPr b="0" i="0" sz="1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737373"/>
              </a:buClr>
              <a:buSzPts val="1200"/>
              <a:buFont typeface="Arial"/>
              <a:buNone/>
            </a:pPr>
            <a:r>
              <a:rPr b="0" i="0" lang="en-US" sz="13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Three third-party sources pulled concurrently with retries under Prefect, cached and throttled to be polite towards</a:t>
            </a:r>
            <a:r>
              <a:rPr lang="en-US" sz="1300">
                <a:solidFill>
                  <a:srgbClr val="737373"/>
                </a:solidFill>
              </a:rPr>
              <a:t> </a:t>
            </a:r>
            <a:r>
              <a:rPr b="0" i="0" lang="en-US" sz="13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serv</a:t>
            </a:r>
            <a:r>
              <a:rPr lang="en-US" sz="1300">
                <a:solidFill>
                  <a:srgbClr val="737373"/>
                </a:solidFill>
              </a:rPr>
              <a:t>ers providing data</a:t>
            </a:r>
            <a:endParaRPr b="0" i="0" sz="1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457200" y="2176272"/>
            <a:ext cx="6583680" cy="749808"/>
          </a:xfrm>
          <a:prstGeom prst="rect">
            <a:avLst/>
          </a:prstGeom>
          <a:solidFill>
            <a:srgbClr val="D9D9D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85" name="Google Shape;185;p7"/>
          <p:cNvSpPr/>
          <p:nvPr/>
        </p:nvSpPr>
        <p:spPr>
          <a:xfrm>
            <a:off x="621792" y="2322576"/>
            <a:ext cx="457200" cy="4572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86" name="Google Shape;186;p7"/>
          <p:cNvSpPr/>
          <p:nvPr/>
        </p:nvSpPr>
        <p:spPr>
          <a:xfrm>
            <a:off x="621792" y="232257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1243584" y="2249424"/>
            <a:ext cx="56327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Arial"/>
              <a:buNone/>
            </a:pPr>
            <a:r>
              <a:rPr b="1" i="0" lang="en-US" sz="15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Harmonization</a:t>
            </a:r>
            <a:endParaRPr b="0" i="0" sz="1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737373"/>
              </a:buClr>
              <a:buSzPts val="1200"/>
              <a:buFont typeface="Arial"/>
              <a:buNone/>
            </a:pPr>
            <a:r>
              <a:rPr b="0" i="0" lang="en-US" sz="13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Every club is spelled three way</a:t>
            </a:r>
            <a:r>
              <a:rPr lang="en-US" sz="1300">
                <a:solidFill>
                  <a:srgbClr val="737373"/>
                </a:solidFill>
              </a:rPr>
              <a:t>s so t</a:t>
            </a:r>
            <a:r>
              <a:rPr b="0" i="0" lang="en-US" sz="13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eam-name matching is solved as a global assignment with the Hungarian algorithm, giving a 99.99% join</a:t>
            </a:r>
            <a:endParaRPr b="0" i="0" sz="1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457200" y="3035808"/>
            <a:ext cx="6583680" cy="749808"/>
          </a:xfrm>
          <a:prstGeom prst="rect">
            <a:avLst/>
          </a:prstGeom>
          <a:solidFill>
            <a:srgbClr val="D9D9D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89" name="Google Shape;189;p7"/>
          <p:cNvSpPr/>
          <p:nvPr/>
        </p:nvSpPr>
        <p:spPr>
          <a:xfrm>
            <a:off x="621792" y="3182112"/>
            <a:ext cx="457200" cy="4572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90" name="Google Shape;190;p7"/>
          <p:cNvSpPr/>
          <p:nvPr/>
        </p:nvSpPr>
        <p:spPr>
          <a:xfrm>
            <a:off x="621792" y="318211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1243584" y="3108960"/>
            <a:ext cx="56327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Arial"/>
              <a:buNone/>
            </a:pPr>
            <a:r>
              <a:rPr b="1" i="0" lang="en-US" sz="15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Market devig</a:t>
            </a:r>
            <a:endParaRPr b="0" i="0" sz="1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737373"/>
              </a:buClr>
              <a:buSzPts val="1200"/>
              <a:buFont typeface="Arial"/>
              <a:buNone/>
            </a:pPr>
            <a:r>
              <a:rPr b="0" i="0" lang="en-US" sz="13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The Shin method strips the bookmaker margin, leaving vig-free market probabilities</a:t>
            </a:r>
            <a:endParaRPr b="0" i="0" sz="1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457200" y="3895344"/>
            <a:ext cx="6583680" cy="1280160"/>
          </a:xfrm>
          <a:prstGeom prst="rect">
            <a:avLst/>
          </a:prstGeom>
          <a:solidFill>
            <a:srgbClr val="D9D9D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93" name="Google Shape;193;p7"/>
          <p:cNvSpPr/>
          <p:nvPr/>
        </p:nvSpPr>
        <p:spPr>
          <a:xfrm>
            <a:off x="621792" y="4306824"/>
            <a:ext cx="457200" cy="4572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94" name="Google Shape;194;p7"/>
          <p:cNvSpPr/>
          <p:nvPr/>
        </p:nvSpPr>
        <p:spPr>
          <a:xfrm>
            <a:off x="621792" y="430682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1243584" y="3968496"/>
            <a:ext cx="5632704" cy="1133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Arial"/>
              <a:buNone/>
            </a:pPr>
            <a:r>
              <a:rPr b="1" i="0" lang="en-US" sz="15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86 features, two generations</a:t>
            </a:r>
            <a:endParaRPr b="0" i="0" sz="1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737373"/>
              </a:buClr>
              <a:buSzPts val="1150"/>
              <a:buFont typeface="Arial"/>
              <a:buNone/>
            </a:pPr>
            <a:r>
              <a:rPr b="0" i="0" lang="en-US" sz="125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Base: rolling form over 5 and 10 matches, Elo ratings, rest days, Dixon-Coles attack and defense strengths</a:t>
            </a:r>
            <a:endParaRPr b="0" i="0" sz="1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737373"/>
              </a:buClr>
              <a:buSzPts val="1150"/>
              <a:buFont typeface="Arial"/>
              <a:buNone/>
            </a:pPr>
            <a:r>
              <a:rPr b="0" i="0" lang="en-US" sz="125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Engineered: strength of schedule, Elo over-performance, home and away split form, EWMA-weighted form, fixture congestion, season points per game, promoted-team flag</a:t>
            </a:r>
            <a:endParaRPr b="0" i="0" sz="1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457200" y="5285232"/>
            <a:ext cx="6583680" cy="676656"/>
          </a:xfrm>
          <a:prstGeom prst="rect">
            <a:avLst/>
          </a:prstGeom>
          <a:solidFill>
            <a:srgbClr val="D9D9D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97" name="Google Shape;197;p7"/>
          <p:cNvSpPr/>
          <p:nvPr/>
        </p:nvSpPr>
        <p:spPr>
          <a:xfrm>
            <a:off x="658368" y="5285232"/>
            <a:ext cx="6181344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250"/>
              <a:buFont typeface="Arial"/>
              <a:buNone/>
            </a:pPr>
            <a:r>
              <a:rPr b="1" i="0" lang="en-US" sz="145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Honest result:  </a:t>
            </a:r>
            <a:r>
              <a:rPr b="0" i="0" lang="en-US" sz="1450" u="non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the engineered features left the gap to the market unchanged</a:t>
            </a:r>
            <a:endParaRPr b="0" i="0" sz="145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7315200" y="1316736"/>
            <a:ext cx="4416552" cy="4645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99" name="Google Shape;199;p7"/>
          <p:cNvSpPr/>
          <p:nvPr/>
        </p:nvSpPr>
        <p:spPr>
          <a:xfrm>
            <a:off x="7534656" y="1463040"/>
            <a:ext cx="3977640" cy="4352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9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Leakage discipline</a:t>
            </a:r>
            <a:endParaRPr b="0" i="0" sz="1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5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shift-then-roll</a:t>
            </a:r>
            <a:endParaRPr b="0" i="0" sz="1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Every rolling window is shifted by one match, so a fixture never sees itself. Only prior matches feed a prediction, and the walk-forward splits enforce it</a:t>
            </a:r>
            <a:endParaRPr b="0" i="0" sz="1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5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Mutation-tested guard</a:t>
            </a:r>
            <a:endParaRPr b="0" i="0" sz="1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 flips shift(1) to shift(0) and fails the build if the leakage tests </a:t>
            </a:r>
            <a:r>
              <a:rPr b="0" i="0" lang="en-US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stay green</a:t>
            </a:r>
            <a:endParaRPr b="0" i="0" sz="1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5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One feature code path</a:t>
            </a:r>
            <a:endParaRPr b="0" i="0" sz="1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rgbClr val="D9D9D9"/>
              </a:buClr>
              <a:buSzPts val="1300"/>
              <a:buFont typeface="Arial"/>
              <a:buNone/>
            </a:pPr>
            <a:r>
              <a:rPr lang="en-US">
                <a:solidFill>
                  <a:srgbClr val="FFFFFF"/>
                </a:solidFill>
              </a:rPr>
              <a:t>Training and serving run the same code, so there is no train/serve skew to reconcile</a:t>
            </a:r>
            <a:endParaRPr b="0" i="0" sz="1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0" y="6382512"/>
            <a:ext cx="12234672" cy="475488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pic>
        <p:nvPicPr>
          <p:cNvPr id="201" name="Google Shape;20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464808"/>
            <a:ext cx="244231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7"/>
          <p:cNvSpPr/>
          <p:nvPr/>
        </p:nvSpPr>
        <p:spPr>
          <a:xfrm>
            <a:off x="481975" y="6437376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UNIVERSITY OF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CHICAGO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11622024" y="638251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"/>
          <p:cNvSpPr/>
          <p:nvPr/>
        </p:nvSpPr>
        <p:spPr>
          <a:xfrm>
            <a:off x="457200" y="256032"/>
            <a:ext cx="1127455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Models &amp; Modeling Approach</a:t>
            </a:r>
            <a:endParaRPr b="0" i="0" sz="3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457200" y="1014984"/>
            <a:ext cx="11274552" cy="1554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11" name="Google Shape;211;p8"/>
          <p:cNvSpPr/>
          <p:nvPr/>
        </p:nvSpPr>
        <p:spPr>
          <a:xfrm>
            <a:off x="457200" y="1280160"/>
            <a:ext cx="5394960" cy="1042416"/>
          </a:xfrm>
          <a:prstGeom prst="rect">
            <a:avLst/>
          </a:prstGeom>
          <a:solidFill>
            <a:srgbClr val="D9D9D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12" name="Google Shape;212;p8"/>
          <p:cNvSpPr/>
          <p:nvPr/>
        </p:nvSpPr>
        <p:spPr>
          <a:xfrm>
            <a:off x="658368" y="1353312"/>
            <a:ext cx="4992624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500"/>
              <a:buFont typeface="Arial"/>
              <a:buNone/>
            </a:pPr>
            <a:r>
              <a:rPr b="1" i="0" lang="en-US" sz="18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market_blind</a:t>
            </a:r>
            <a:endParaRPr b="0" i="0" sz="1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737373"/>
              </a:buClr>
              <a:buSzPts val="1300"/>
              <a:buFont typeface="Arial"/>
              <a:buNone/>
            </a:pPr>
            <a:r>
              <a:rPr b="0" i="0" lang="en-US" sz="16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Features only, no odds. Can we predict outcomes from the game itself?</a:t>
            </a:r>
            <a:endParaRPr b="0" i="0" sz="1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6336792" y="1280160"/>
            <a:ext cx="5394960" cy="1042416"/>
          </a:xfrm>
          <a:prstGeom prst="rect">
            <a:avLst/>
          </a:prstGeom>
          <a:solidFill>
            <a:srgbClr val="D9D9D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14" name="Google Shape;214;p8"/>
          <p:cNvSpPr/>
          <p:nvPr/>
        </p:nvSpPr>
        <p:spPr>
          <a:xfrm>
            <a:off x="6537960" y="1353312"/>
            <a:ext cx="4992624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500"/>
              <a:buFont typeface="Arial"/>
              <a:buNone/>
            </a:pPr>
            <a:r>
              <a:rPr b="1" i="0" lang="en-US" sz="18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market_aware</a:t>
            </a:r>
            <a:endParaRPr b="0" i="0" sz="1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737373"/>
              </a:buClr>
              <a:buSzPts val="1300"/>
              <a:buFont typeface="Arial"/>
              <a:buNone/>
            </a:pPr>
            <a:r>
              <a:rPr b="0" i="0" lang="en-US" sz="16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The closing line added as a feature. Given the market’s own number, can we improve on it?</a:t>
            </a:r>
            <a:endParaRPr b="0" i="0" sz="1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457200" y="2487168"/>
            <a:ext cx="7315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600"/>
              <a:buFont typeface="Arial"/>
              <a:buNone/>
            </a:pPr>
            <a:r>
              <a:rPr b="1" i="0" lang="en-US" sz="25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Six model families</a:t>
            </a:r>
            <a:endParaRPr b="0" i="0" sz="2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457200" y="2889504"/>
            <a:ext cx="3575304" cy="1060704"/>
          </a:xfrm>
          <a:prstGeom prst="rect">
            <a:avLst/>
          </a:prstGeom>
          <a:solidFill>
            <a:srgbClr val="D9D9D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17" name="Google Shape;217;p8"/>
          <p:cNvSpPr/>
          <p:nvPr/>
        </p:nvSpPr>
        <p:spPr>
          <a:xfrm>
            <a:off x="640080" y="2980944"/>
            <a:ext cx="3209544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500"/>
              <a:buFont typeface="Arial"/>
              <a:buNone/>
            </a:pPr>
            <a:r>
              <a:rPr b="1" i="0" lang="en-US" sz="19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Logistic regression</a:t>
            </a:r>
            <a:endParaRPr b="0" i="0" sz="1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737373"/>
              </a:buClr>
              <a:buSzPts val="1200"/>
              <a:buFont typeface="Arial"/>
              <a:buNone/>
            </a:pPr>
            <a:r>
              <a:rPr b="0" i="0" lang="en-US" sz="16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Linear and interpretable</a:t>
            </a:r>
            <a:endParaRPr b="0" i="0" sz="1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4306824" y="2889504"/>
            <a:ext cx="3575304" cy="1060704"/>
          </a:xfrm>
          <a:prstGeom prst="rect">
            <a:avLst/>
          </a:prstGeom>
          <a:solidFill>
            <a:srgbClr val="D9D9D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19" name="Google Shape;219;p8"/>
          <p:cNvSpPr/>
          <p:nvPr/>
        </p:nvSpPr>
        <p:spPr>
          <a:xfrm>
            <a:off x="4489704" y="2980944"/>
            <a:ext cx="3209544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500"/>
              <a:buFont typeface="Arial"/>
              <a:buNone/>
            </a:pPr>
            <a:r>
              <a:rPr b="1" i="0" lang="en-US" sz="19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LightGBM</a:t>
            </a:r>
            <a:endParaRPr b="0" i="0" sz="1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737373"/>
              </a:buClr>
              <a:buSzPts val="1200"/>
              <a:buFont typeface="Arial"/>
              <a:buNone/>
            </a:pPr>
            <a:r>
              <a:rPr b="0" i="0" lang="en-US" sz="16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Gradient-boosted trees</a:t>
            </a:r>
            <a:endParaRPr b="0" i="0" sz="1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8156448" y="2889504"/>
            <a:ext cx="3575304" cy="1060704"/>
          </a:xfrm>
          <a:prstGeom prst="rect">
            <a:avLst/>
          </a:prstGeom>
          <a:solidFill>
            <a:srgbClr val="D9D9D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21" name="Google Shape;221;p8"/>
          <p:cNvSpPr/>
          <p:nvPr/>
        </p:nvSpPr>
        <p:spPr>
          <a:xfrm>
            <a:off x="8339328" y="2980944"/>
            <a:ext cx="3209544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500"/>
              <a:buFont typeface="Arial"/>
              <a:buNone/>
            </a:pPr>
            <a:r>
              <a:rPr b="1" i="0" lang="en-US" sz="19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XGBoost</a:t>
            </a:r>
            <a:endParaRPr b="0" i="0" sz="1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737373"/>
              </a:buClr>
              <a:buSzPts val="1200"/>
              <a:buFont typeface="Arial"/>
              <a:buNone/>
            </a:pPr>
            <a:r>
              <a:rPr b="0" i="0" lang="en-US" sz="16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Gradient-boosted trees</a:t>
            </a:r>
            <a:endParaRPr b="0" i="0" sz="1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457200" y="4041648"/>
            <a:ext cx="3575304" cy="1060704"/>
          </a:xfrm>
          <a:prstGeom prst="rect">
            <a:avLst/>
          </a:prstGeom>
          <a:solidFill>
            <a:srgbClr val="D9D9D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23" name="Google Shape;223;p8"/>
          <p:cNvSpPr/>
          <p:nvPr/>
        </p:nvSpPr>
        <p:spPr>
          <a:xfrm>
            <a:off x="640080" y="4133088"/>
            <a:ext cx="3209544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500"/>
              <a:buFont typeface="Arial"/>
              <a:buNone/>
            </a:pPr>
            <a:r>
              <a:rPr b="1" i="0" lang="en-US" sz="19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CatBoost</a:t>
            </a:r>
            <a:endParaRPr b="0" i="0" sz="1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737373"/>
              </a:buClr>
              <a:buSzPts val="1200"/>
              <a:buFont typeface="Arial"/>
              <a:buNone/>
            </a:pPr>
            <a:r>
              <a:rPr b="0" i="0" lang="en-US" sz="16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Gradient-boosted trees</a:t>
            </a:r>
            <a:endParaRPr b="0" i="0" sz="1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4306824" y="4041648"/>
            <a:ext cx="3575304" cy="1060704"/>
          </a:xfrm>
          <a:prstGeom prst="rect">
            <a:avLst/>
          </a:prstGeom>
          <a:solidFill>
            <a:srgbClr val="D9D9D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25" name="Google Shape;225;p8"/>
          <p:cNvSpPr/>
          <p:nvPr/>
        </p:nvSpPr>
        <p:spPr>
          <a:xfrm>
            <a:off x="4489704" y="4133088"/>
            <a:ext cx="3209544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500"/>
              <a:buFont typeface="Arial"/>
              <a:buNone/>
            </a:pPr>
            <a:r>
              <a:rPr b="1" i="0" lang="en-US" sz="19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MLP</a:t>
            </a:r>
            <a:endParaRPr b="0" i="0" sz="1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737373"/>
              </a:buClr>
              <a:buSzPts val="1200"/>
              <a:buFont typeface="Arial"/>
              <a:buNone/>
            </a:pPr>
            <a:r>
              <a:rPr b="0" i="0" lang="en-US" sz="16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Neural net (multilayer perceptron)</a:t>
            </a:r>
            <a:endParaRPr b="0" i="0" sz="1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8156448" y="4041648"/>
            <a:ext cx="3575304" cy="1060704"/>
          </a:xfrm>
          <a:prstGeom prst="rect">
            <a:avLst/>
          </a:prstGeom>
          <a:solidFill>
            <a:srgbClr val="D9D9D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27" name="Google Shape;227;p8"/>
          <p:cNvSpPr/>
          <p:nvPr/>
        </p:nvSpPr>
        <p:spPr>
          <a:xfrm>
            <a:off x="8339328" y="4133088"/>
            <a:ext cx="3209544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500"/>
              <a:buFont typeface="Arial"/>
              <a:buNone/>
            </a:pPr>
            <a:r>
              <a:rPr b="1" i="0" lang="en-US" sz="19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Stacking</a:t>
            </a:r>
            <a:endParaRPr b="0" i="0" sz="1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737373"/>
              </a:buClr>
              <a:buSzPts val="1200"/>
              <a:buFont typeface="Arial"/>
              <a:buNone/>
            </a:pPr>
            <a:r>
              <a:rPr b="0" i="0" lang="en-US" sz="16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Logistic meta-learner over the calibrated boosters</a:t>
            </a:r>
            <a:endParaRPr b="0" i="0" sz="1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457200" y="5266944"/>
            <a:ext cx="11274552" cy="804672"/>
          </a:xfrm>
          <a:prstGeom prst="rect">
            <a:avLst/>
          </a:prstGeom>
          <a:solidFill>
            <a:srgbClr val="D9D9D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29" name="Google Shape;229;p8"/>
          <p:cNvSpPr/>
          <p:nvPr/>
        </p:nvSpPr>
        <p:spPr>
          <a:xfrm>
            <a:off x="685800" y="5358384"/>
            <a:ext cx="1081735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300"/>
              <a:buFont typeface="Arial"/>
              <a:buNone/>
            </a:pPr>
            <a:r>
              <a:rPr b="0" i="0" lang="en-US" sz="16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Each booster also runs a hyperparameter-tuned variant, giving 9 configurations per track and 18 runs in total.</a:t>
            </a:r>
            <a:endParaRPr b="0" i="0" sz="1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b="1" i="0" lang="en-US" sz="1600" u="non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Every model is probability-calibrated: betting needs trustworthy probabilities, not just correct rankings</a:t>
            </a:r>
            <a:endParaRPr b="0" i="0" sz="1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0" y="6382512"/>
            <a:ext cx="12234672" cy="475488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pic>
        <p:nvPicPr>
          <p:cNvPr id="231" name="Google Shape;23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464808"/>
            <a:ext cx="244231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8"/>
          <p:cNvSpPr/>
          <p:nvPr/>
        </p:nvSpPr>
        <p:spPr>
          <a:xfrm>
            <a:off x="481975" y="6437376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UNIVERSITY OF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CHICAGO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11622024" y="638251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"/>
          <p:cNvSpPr/>
          <p:nvPr/>
        </p:nvSpPr>
        <p:spPr>
          <a:xfrm>
            <a:off x="457200" y="256032"/>
            <a:ext cx="1127455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Experiment Tracking &amp; Model Selection</a:t>
            </a:r>
            <a:endParaRPr b="0" i="0" sz="3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457200" y="1014984"/>
            <a:ext cx="11274552" cy="1554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41" name="Google Shape;241;p9"/>
          <p:cNvSpPr/>
          <p:nvPr/>
        </p:nvSpPr>
        <p:spPr>
          <a:xfrm>
            <a:off x="457200" y="1316725"/>
            <a:ext cx="5169900" cy="22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700"/>
              <a:buFont typeface="Arial"/>
              <a:buChar char="•"/>
            </a:pPr>
            <a:r>
              <a:rPr b="0" i="0" lang="en-US" sz="17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MLflow tracks every run’s params, metrics and artifacts. The registry holds beating-1x2 with a @champion alias and tags</a:t>
            </a:r>
            <a:endParaRPr b="0" i="0" sz="17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737373"/>
              </a:buClr>
              <a:buSzPts val="1700"/>
              <a:buFont typeface="Arial"/>
              <a:buChar char="•"/>
            </a:pPr>
            <a:r>
              <a:rPr b="0" i="0" lang="en-US" sz="17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18 candidate configurations across 2 tracks, compared on walk-forward log loss</a:t>
            </a:r>
            <a:endParaRPr b="0" i="0" sz="17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737373"/>
              </a:buClr>
              <a:buSzPts val="1700"/>
              <a:buFont typeface="Arial"/>
              <a:buChar char="•"/>
            </a:pPr>
            <a:r>
              <a:rPr b="0" i="0" lang="en-US" sz="17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Champion</a:t>
            </a:r>
            <a:r>
              <a:rPr lang="en-US" sz="1700">
                <a:solidFill>
                  <a:srgbClr val="737373"/>
                </a:solidFill>
              </a:rPr>
              <a:t>: market_aware / catboost_tuned, 86 features, MLflow @champion alias, SemVer 1.0.1</a:t>
            </a:r>
            <a:endParaRPr b="0" i="0" sz="17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685800" marR="0" rtl="0" algn="l">
              <a:spcBef>
                <a:spcPts val="800"/>
              </a:spcBef>
              <a:spcAft>
                <a:spcPts val="0"/>
              </a:spcAft>
              <a:buClr>
                <a:srgbClr val="A6A6A6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Selected at 0.9749 on four common folds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390525" y="3830736"/>
            <a:ext cx="4416600" cy="2103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43" name="Google Shape;243;p9"/>
          <p:cNvSpPr/>
          <p:nvPr/>
        </p:nvSpPr>
        <p:spPr>
          <a:xfrm>
            <a:off x="481981" y="3830726"/>
            <a:ext cx="39777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-US" sz="2000">
                <a:solidFill>
                  <a:schemeClr val="lt1"/>
                </a:solidFill>
              </a:rPr>
              <a:t>Calibration:</a:t>
            </a:r>
            <a:r>
              <a:rPr lang="en-US" sz="1800">
                <a:solidFill>
                  <a:schemeClr val="lt1"/>
                </a:solidFill>
              </a:rPr>
              <a:t> sigmoid won all 10 comparisons; isotonic emitted exact zeros (infinite log loss)</a:t>
            </a:r>
            <a:endParaRPr b="0" i="0" sz="2000" u="non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0" y="6382512"/>
            <a:ext cx="12234672" cy="475488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pic>
        <p:nvPicPr>
          <p:cNvPr id="245" name="Google Shape;24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464808"/>
            <a:ext cx="244231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9"/>
          <p:cNvSpPr/>
          <p:nvPr/>
        </p:nvSpPr>
        <p:spPr>
          <a:xfrm>
            <a:off x="481975" y="6437376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UNIVERSITY OF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CHICAGO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11622024" y="638251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8" name="Google Shape;248;p9" title="Screenshot 2026-08-17 at 12.53.16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7100" y="1316725"/>
            <a:ext cx="6478100" cy="3308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0"/>
          <p:cNvSpPr/>
          <p:nvPr/>
        </p:nvSpPr>
        <p:spPr>
          <a:xfrm>
            <a:off x="457200" y="256032"/>
            <a:ext cx="1127455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Model Results</a:t>
            </a:r>
            <a:endParaRPr b="0" i="0" sz="3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457200" y="1014984"/>
            <a:ext cx="11274552" cy="1554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56" name="Google Shape;256;p10"/>
          <p:cNvSpPr/>
          <p:nvPr/>
        </p:nvSpPr>
        <p:spPr>
          <a:xfrm>
            <a:off x="457200" y="1188725"/>
            <a:ext cx="7543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100"/>
              <a:buFont typeface="Arial"/>
              <a:buNone/>
            </a:pPr>
            <a:r>
              <a:rPr b="0" i="0" lang="en-US" sz="12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Four common walk-forward folds, market_aware track. Bar length = gap above the market line (lower is better).</a:t>
            </a:r>
            <a:endParaRPr b="0" i="0" sz="12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100"/>
              <a:buFont typeface="Arial"/>
              <a:buNone/>
            </a:pPr>
            <a:r>
              <a:rPr b="0" i="0" lang="en-US" sz="1200" u="none" cap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This equal-fold view is the protocol used to select the champion.</a:t>
            </a:r>
            <a:endParaRPr b="0" i="0" sz="12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2377440" y="1746504"/>
            <a:ext cx="20117" cy="401421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58" name="Google Shape;258;p10"/>
          <p:cNvSpPr/>
          <p:nvPr/>
        </p:nvSpPr>
        <p:spPr>
          <a:xfrm>
            <a:off x="2331720" y="5861304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b="1" i="0" lang="en-US" sz="1000" u="non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Market (vig-free close) = 0.9675</a:t>
            </a:r>
            <a:endParaRPr b="0" i="0" sz="1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457200" y="1828800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b="1" i="0" lang="en-US" sz="1000" u="non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catboost_tuned (champion)</a:t>
            </a:r>
            <a:endParaRPr b="0" i="0" sz="1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2397557" y="1828800"/>
            <a:ext cx="630149" cy="21945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61" name="Google Shape;261;p10"/>
          <p:cNvSpPr/>
          <p:nvPr/>
        </p:nvSpPr>
        <p:spPr>
          <a:xfrm>
            <a:off x="3100839" y="1828800"/>
            <a:ext cx="1783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00"/>
              <a:buFont typeface="Arial"/>
              <a:buNone/>
            </a:pPr>
            <a:r>
              <a:rPr b="1" i="0" lang="en-US" sz="1000" u="none" cap="none">
                <a:solidFill>
                  <a:srgbClr val="B8860B"/>
                </a:solidFill>
                <a:latin typeface="Arial"/>
                <a:ea typeface="Arial"/>
                <a:cs typeface="Arial"/>
                <a:sym typeface="Arial"/>
              </a:rPr>
              <a:t>0.9749   +0.0074</a:t>
            </a:r>
            <a:endParaRPr b="0" i="0" sz="1000" u="none" cap="none">
              <a:solidFill>
                <a:srgbClr val="B8860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457200" y="2226564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Arial"/>
              <a:buNone/>
            </a:pPr>
            <a:r>
              <a:rPr b="0" i="0" lang="en-US" sz="10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xgboost_tuned</a:t>
            </a:r>
            <a:endParaRPr b="0" i="0" sz="1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2397557" y="2226564"/>
            <a:ext cx="647180" cy="219456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64" name="Google Shape;264;p10"/>
          <p:cNvSpPr/>
          <p:nvPr/>
        </p:nvSpPr>
        <p:spPr>
          <a:xfrm>
            <a:off x="3117870" y="2226564"/>
            <a:ext cx="1783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Arial"/>
              <a:buNone/>
            </a:pPr>
            <a:r>
              <a:rPr b="0" i="0" lang="en-US" sz="10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0.9751   +0.0076</a:t>
            </a:r>
            <a:endParaRPr b="0" i="0" sz="1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457200" y="2624328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Arial"/>
              <a:buNone/>
            </a:pPr>
            <a:r>
              <a:rPr b="0" i="0" lang="en-US" sz="10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stacking</a:t>
            </a:r>
            <a:endParaRPr b="0" i="0" sz="1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2397557" y="2624328"/>
            <a:ext cx="885615" cy="219456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67" name="Google Shape;267;p10"/>
          <p:cNvSpPr/>
          <p:nvPr/>
        </p:nvSpPr>
        <p:spPr>
          <a:xfrm>
            <a:off x="3356305" y="2624328"/>
            <a:ext cx="1783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Arial"/>
              <a:buNone/>
            </a:pPr>
            <a:r>
              <a:rPr b="0" i="0" lang="en-US" sz="10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0.9779   +0.0104</a:t>
            </a:r>
            <a:endParaRPr b="0" i="0" sz="1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457200" y="3022092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Arial"/>
              <a:buNone/>
            </a:pPr>
            <a:r>
              <a:rPr b="0" i="0" lang="en-US" sz="10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catboost</a:t>
            </a:r>
            <a:endParaRPr b="0" i="0" sz="1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2397557" y="3022092"/>
            <a:ext cx="936708" cy="219456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70" name="Google Shape;270;p10"/>
          <p:cNvSpPr/>
          <p:nvPr/>
        </p:nvSpPr>
        <p:spPr>
          <a:xfrm>
            <a:off x="3407398" y="3022092"/>
            <a:ext cx="1783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Arial"/>
              <a:buNone/>
            </a:pPr>
            <a:r>
              <a:rPr b="0" i="0" lang="en-US" sz="10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0.9784   +0.0110</a:t>
            </a:r>
            <a:endParaRPr b="0" i="0" sz="1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457200" y="3419856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37373"/>
                </a:solidFill>
              </a:rPr>
              <a:t>logistic</a:t>
            </a:r>
            <a:endParaRPr sz="1000">
              <a:solidFill>
                <a:srgbClr val="737373"/>
              </a:solidFill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2397557" y="3419856"/>
            <a:ext cx="1490218" cy="21945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73" name="Google Shape;273;p10"/>
          <p:cNvSpPr/>
          <p:nvPr/>
        </p:nvSpPr>
        <p:spPr>
          <a:xfrm>
            <a:off x="3960908" y="3419856"/>
            <a:ext cx="1783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Arial"/>
              <a:buNone/>
            </a:pPr>
            <a:r>
              <a:rPr b="0" i="0" lang="en-US" sz="10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0.9850   +0.0175</a:t>
            </a:r>
            <a:endParaRPr b="0" i="0" sz="1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457200" y="3817620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Arial"/>
              <a:buNone/>
            </a:pPr>
            <a:r>
              <a:rPr b="0" i="0" lang="en-US" sz="10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xgboost</a:t>
            </a:r>
            <a:endParaRPr b="0" i="0" sz="1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2397557" y="3817620"/>
            <a:ext cx="1728653" cy="219456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76" name="Google Shape;276;p10"/>
          <p:cNvSpPr/>
          <p:nvPr/>
        </p:nvSpPr>
        <p:spPr>
          <a:xfrm>
            <a:off x="4199343" y="3817620"/>
            <a:ext cx="1783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Arial"/>
              <a:buNone/>
            </a:pPr>
            <a:r>
              <a:rPr b="0" i="0" lang="en-US" sz="10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0.9878   +0.0203</a:t>
            </a:r>
            <a:endParaRPr b="0" i="0" sz="1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457200" y="4215384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Arial"/>
              <a:buNone/>
            </a:pPr>
            <a:r>
              <a:rPr b="0" i="0" lang="en-US" sz="10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lightgbm_tuned</a:t>
            </a:r>
            <a:endParaRPr b="0" i="0" sz="1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2397557" y="4215384"/>
            <a:ext cx="1881932" cy="219456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79" name="Google Shape;279;p10"/>
          <p:cNvSpPr/>
          <p:nvPr/>
        </p:nvSpPr>
        <p:spPr>
          <a:xfrm>
            <a:off x="4352622" y="4215384"/>
            <a:ext cx="1783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Arial"/>
              <a:buNone/>
            </a:pPr>
            <a:r>
              <a:rPr b="0" i="0" lang="en-US" sz="10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0.9896   +0.0221</a:t>
            </a:r>
            <a:endParaRPr b="0" i="0" sz="1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457200" y="4613148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Arial"/>
              <a:buNone/>
            </a:pPr>
            <a:r>
              <a:rPr b="0" i="0" lang="en-US" sz="10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Dixon-Coles baseline</a:t>
            </a:r>
            <a:endParaRPr b="0" i="0" sz="1000" u="none" cap="none">
              <a:solidFill>
                <a:srgbClr val="8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2397557" y="4613148"/>
            <a:ext cx="1992634" cy="219456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82" name="Google Shape;282;p10"/>
          <p:cNvSpPr/>
          <p:nvPr/>
        </p:nvSpPr>
        <p:spPr>
          <a:xfrm>
            <a:off x="4463324" y="4613148"/>
            <a:ext cx="1783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Arial"/>
              <a:buNone/>
            </a:pPr>
            <a:r>
              <a:rPr b="0" i="0" lang="en-US" sz="10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0.9908   +0.0234</a:t>
            </a:r>
            <a:endParaRPr b="0" i="0" sz="1000" u="none" cap="none">
              <a:solidFill>
                <a:srgbClr val="8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457200" y="5010912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Arial"/>
              <a:buNone/>
            </a:pPr>
            <a:r>
              <a:rPr b="0" i="0" lang="en-US" sz="10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mlp (neural net)</a:t>
            </a:r>
            <a:endParaRPr b="0" i="0" sz="1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2397557" y="5010912"/>
            <a:ext cx="2333255" cy="219456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85" name="Google Shape;285;p10"/>
          <p:cNvSpPr/>
          <p:nvPr/>
        </p:nvSpPr>
        <p:spPr>
          <a:xfrm>
            <a:off x="4803945" y="5010912"/>
            <a:ext cx="1783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Arial"/>
              <a:buNone/>
            </a:pPr>
            <a:r>
              <a:rPr b="0" i="0" lang="en-US" sz="10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0.9949   +0.0274</a:t>
            </a:r>
            <a:endParaRPr b="0" i="0" sz="1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457200" y="5408676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Arial"/>
              <a:buNone/>
            </a:pPr>
            <a:r>
              <a:rPr b="0" i="0" lang="en-US" sz="10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lightgbm</a:t>
            </a:r>
            <a:endParaRPr b="0" i="0" sz="1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2397557" y="5408676"/>
            <a:ext cx="2690908" cy="219456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88" name="Google Shape;288;p10"/>
          <p:cNvSpPr/>
          <p:nvPr/>
        </p:nvSpPr>
        <p:spPr>
          <a:xfrm>
            <a:off x="5161598" y="5408676"/>
            <a:ext cx="1783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Arial"/>
              <a:buNone/>
            </a:pPr>
            <a:r>
              <a:rPr b="0" i="0" lang="en-US" sz="10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0.9990   +0.0316</a:t>
            </a:r>
            <a:endParaRPr b="0" i="0" sz="1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7818120" y="1517904"/>
            <a:ext cx="3913632" cy="1298448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90" name="Google Shape;290;p10"/>
          <p:cNvSpPr/>
          <p:nvPr/>
        </p:nvSpPr>
        <p:spPr>
          <a:xfrm>
            <a:off x="8001000" y="1609344"/>
            <a:ext cx="3547872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5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market leads every aggregate view</a:t>
            </a:r>
            <a:endParaRPr b="0" i="0" sz="1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0" i="0" lang="en-US" sz="135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Every full fold, every league aggregate, both tracks</a:t>
            </a:r>
            <a:r>
              <a:rPr b="0" i="0" lang="en-US" sz="135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 The smallest gap is the champion’s +0.0074.</a:t>
            </a:r>
            <a:endParaRPr b="0" i="0" sz="1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7818120" y="2999232"/>
            <a:ext cx="3913632" cy="1298448"/>
          </a:xfrm>
          <a:prstGeom prst="rect">
            <a:avLst/>
          </a:prstGeom>
          <a:solidFill>
            <a:srgbClr val="D9D9D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92" name="Google Shape;292;p10"/>
          <p:cNvSpPr/>
          <p:nvPr/>
        </p:nvSpPr>
        <p:spPr>
          <a:xfrm>
            <a:off x="8001000" y="3090672"/>
            <a:ext cx="3547872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00"/>
              <a:buFont typeface="Arial"/>
              <a:buNone/>
            </a:pPr>
            <a:r>
              <a:rPr b="1" i="0" lang="en-US" sz="15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market_aware narrows,</a:t>
            </a:r>
            <a:r>
              <a:rPr b="1" lang="en-US" sz="1500">
                <a:solidFill>
                  <a:srgbClr val="800000"/>
                </a:solidFill>
              </a:rPr>
              <a:t> </a:t>
            </a:r>
            <a:r>
              <a:rPr b="1" i="0" lang="en-US" sz="15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but cannot close,</a:t>
            </a:r>
            <a:r>
              <a:rPr b="1" lang="en-US" sz="1500">
                <a:solidFill>
                  <a:srgbClr val="800000"/>
                </a:solidFill>
              </a:rPr>
              <a:t> </a:t>
            </a:r>
            <a:r>
              <a:rPr b="1" i="0" lang="en-US" sz="15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gap</a:t>
            </a:r>
            <a:endParaRPr b="0" i="0" sz="1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737373"/>
              </a:buClr>
              <a:buSzPts val="1150"/>
              <a:buFont typeface="Arial"/>
              <a:buNone/>
            </a:pPr>
            <a:r>
              <a:rPr b="0" i="0" lang="en-US" sz="135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Adding the closing line improves ML sharply, yet the best model still trails it</a:t>
            </a:r>
            <a:endParaRPr b="0" i="0" sz="1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7818120" y="4480560"/>
            <a:ext cx="3913632" cy="1298448"/>
          </a:xfrm>
          <a:prstGeom prst="rect">
            <a:avLst/>
          </a:prstGeom>
          <a:solidFill>
            <a:srgbClr val="D9D9D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94" name="Google Shape;294;p10"/>
          <p:cNvSpPr/>
          <p:nvPr/>
        </p:nvSpPr>
        <p:spPr>
          <a:xfrm>
            <a:off x="8001000" y="4572000"/>
            <a:ext cx="3547872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00"/>
              <a:buFont typeface="Arial"/>
              <a:buNone/>
            </a:pPr>
            <a:r>
              <a:rPr b="1" i="0" lang="en-US" sz="15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Seven beat Dixon-Coles</a:t>
            </a:r>
            <a:endParaRPr b="0" i="0" sz="1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737373"/>
              </a:buClr>
              <a:buSzPts val="1150"/>
              <a:buFont typeface="Arial"/>
              <a:buNone/>
            </a:pPr>
            <a:r>
              <a:rPr b="0" i="0" lang="en-US" sz="135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Seven of nine configurations land between the market and the price-blind Poisson baseline; only two score worse.</a:t>
            </a:r>
            <a:endParaRPr b="0" i="0" sz="1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0" y="6382512"/>
            <a:ext cx="12234672" cy="475488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pic>
        <p:nvPicPr>
          <p:cNvPr id="296" name="Google Shape;29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464808"/>
            <a:ext cx="244231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0"/>
          <p:cNvSpPr/>
          <p:nvPr/>
        </p:nvSpPr>
        <p:spPr>
          <a:xfrm>
            <a:off x="481975" y="6437376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UNIVERSITY OF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CHICAGO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11622024" y="638251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1"/>
          <p:cNvSpPr/>
          <p:nvPr/>
        </p:nvSpPr>
        <p:spPr>
          <a:xfrm>
            <a:off x="457200" y="256032"/>
            <a:ext cx="1127455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Value-Bet Backtest</a:t>
            </a:r>
            <a:endParaRPr b="0" i="0" sz="3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457200" y="1014984"/>
            <a:ext cx="11274552" cy="1554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06" name="Google Shape;306;p11"/>
          <p:cNvSpPr/>
          <p:nvPr/>
        </p:nvSpPr>
        <p:spPr>
          <a:xfrm>
            <a:off x="457200" y="1517904"/>
            <a:ext cx="4480560" cy="1316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7200"/>
              <a:buFont typeface="Arial"/>
              <a:buNone/>
            </a:pPr>
            <a:r>
              <a:rPr b="0" i="0" lang="en-US" sz="72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-1.6%</a:t>
            </a:r>
            <a:endParaRPr b="0" i="0" sz="72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457200" y="2852928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500"/>
              <a:buFont typeface="Arial"/>
              <a:buNone/>
            </a:pPr>
            <a:r>
              <a:rPr b="0" i="0" lang="en-US" sz="17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flat ROI: champion, walk-forward</a:t>
            </a:r>
            <a:endParaRPr b="0" i="0" sz="17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457200" y="3218688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Arial"/>
              <a:buNone/>
            </a:pPr>
            <a:r>
              <a:rPr b="1" i="0" lang="en-US" sz="1800" u="none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95% bootstrap CI  [-10.0%, +7.8%]</a:t>
            </a:r>
            <a:endParaRPr b="0" i="0" sz="1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457200" y="3803904"/>
            <a:ext cx="4480560" cy="603504"/>
          </a:xfrm>
          <a:prstGeom prst="rect">
            <a:avLst/>
          </a:prstGeom>
          <a:solidFill>
            <a:srgbClr val="D9D9D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10" name="Google Shape;310;p11"/>
          <p:cNvSpPr/>
          <p:nvPr/>
        </p:nvSpPr>
        <p:spPr>
          <a:xfrm>
            <a:off x="621792" y="3803904"/>
            <a:ext cx="14630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800"/>
              <a:buFont typeface="Arial"/>
              <a:buNone/>
            </a:pPr>
            <a:r>
              <a:rPr b="0" i="0" lang="en-US" sz="20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2,429</a:t>
            </a:r>
            <a:endParaRPr b="0" i="0" sz="2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2103120" y="3803904"/>
            <a:ext cx="26517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300"/>
              <a:buFont typeface="Arial"/>
              <a:buNone/>
            </a:pPr>
            <a:r>
              <a:rPr b="0" i="0" lang="en-US" sz="16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bets placed</a:t>
            </a:r>
            <a:endParaRPr b="0" i="0" sz="1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457200" y="4517136"/>
            <a:ext cx="4480560" cy="603504"/>
          </a:xfrm>
          <a:prstGeom prst="rect">
            <a:avLst/>
          </a:prstGeom>
          <a:solidFill>
            <a:srgbClr val="D9D9D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13" name="Google Shape;313;p11"/>
          <p:cNvSpPr/>
          <p:nvPr/>
        </p:nvSpPr>
        <p:spPr>
          <a:xfrm>
            <a:off x="621792" y="4517136"/>
            <a:ext cx="14630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800"/>
              <a:buFont typeface="Arial"/>
              <a:buNone/>
            </a:pPr>
            <a:r>
              <a:rPr b="0" i="0" lang="en-US" sz="20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31.2%</a:t>
            </a:r>
            <a:endParaRPr b="0" i="0" sz="2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2103120" y="4517136"/>
            <a:ext cx="26517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300"/>
              <a:buFont typeface="Arial"/>
              <a:buNone/>
            </a:pPr>
            <a:r>
              <a:rPr b="0" i="0" lang="en-US" sz="16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strike rate</a:t>
            </a:r>
            <a:endParaRPr b="0" i="0" sz="1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457200" y="5230368"/>
            <a:ext cx="4480560" cy="603504"/>
          </a:xfrm>
          <a:prstGeom prst="rect">
            <a:avLst/>
          </a:prstGeom>
          <a:solidFill>
            <a:srgbClr val="D9D9D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16" name="Google Shape;316;p11"/>
          <p:cNvSpPr/>
          <p:nvPr/>
        </p:nvSpPr>
        <p:spPr>
          <a:xfrm>
            <a:off x="621792" y="5230368"/>
            <a:ext cx="14630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800"/>
              <a:buFont typeface="Arial"/>
              <a:buNone/>
            </a:pPr>
            <a:r>
              <a:rPr b="0" i="0" lang="en-US" sz="20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-3.4%</a:t>
            </a:r>
            <a:endParaRPr b="0" i="0" sz="2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2103120" y="5230368"/>
            <a:ext cx="26517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300"/>
              <a:buFont typeface="Arial"/>
              <a:buNone/>
            </a:pPr>
            <a:r>
              <a:rPr b="0" i="0" lang="en-US" sz="16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mean CLV</a:t>
            </a:r>
            <a:endParaRPr b="0" i="0" sz="1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5349240" y="1444752"/>
            <a:ext cx="6382512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737373"/>
                </a:solidFill>
              </a:rPr>
              <a:t>With this few bets at mean odds near 6, the ROI number carries a huge error bar</a:t>
            </a:r>
            <a:endParaRPr b="0" i="0" sz="2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737373"/>
              </a:buClr>
              <a:buSzPts val="2000"/>
              <a:buFont typeface="Arial"/>
              <a:buChar char="•"/>
            </a:pPr>
            <a:r>
              <a:rPr b="0" i="0" lang="en-US" sz="20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No configuration is profitable</a:t>
            </a:r>
            <a:r>
              <a:rPr lang="en-US" sz="2000">
                <a:solidFill>
                  <a:srgbClr val="737373"/>
                </a:solidFill>
              </a:rPr>
              <a:t>: </a:t>
            </a:r>
            <a:r>
              <a:rPr b="0" i="0" lang="en-US" sz="20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Across the 0.02</a:t>
            </a:r>
            <a:r>
              <a:rPr lang="en-US" sz="2000">
                <a:solidFill>
                  <a:srgbClr val="737373"/>
                </a:solidFill>
              </a:rPr>
              <a:t>-</a:t>
            </a:r>
            <a:r>
              <a:rPr b="0" i="0" lang="en-US" sz="20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0.20 threshold sweep, not one produces an ROI whose 95% CI excludes zero</a:t>
            </a:r>
            <a:endParaRPr b="0" i="0" sz="2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737373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737373"/>
                </a:solidFill>
              </a:rPr>
              <a:t>O</a:t>
            </a:r>
            <a:r>
              <a:rPr b="0" i="0" lang="en-US" sz="20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nly 23</a:t>
            </a:r>
            <a:r>
              <a:rPr lang="en-US" sz="2000">
                <a:solidFill>
                  <a:srgbClr val="737373"/>
                </a:solidFill>
              </a:rPr>
              <a:t>-</a:t>
            </a:r>
            <a:r>
              <a:rPr b="0" i="0" lang="en-US" sz="20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46% of selections beat the close</a:t>
            </a:r>
            <a:endParaRPr b="0" i="0" sz="2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5349240" y="4206240"/>
            <a:ext cx="6382512" cy="155448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20" name="Google Shape;320;p11"/>
          <p:cNvSpPr/>
          <p:nvPr/>
        </p:nvSpPr>
        <p:spPr>
          <a:xfrm>
            <a:off x="5577840" y="4315968"/>
            <a:ext cx="5943600" cy="1335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6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trap we avoided</a:t>
            </a:r>
            <a:endParaRPr b="0" i="0" sz="1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5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Best point estimate across every model and threshold: +0.03% ROI, from the champion on a relative-edge rule, worth +0.4 units on 1,319 bets. Its CI is [-14.9%, +15.5%]. That is pure noise, and reporting it as a win would be noise-mining.</a:t>
            </a:r>
            <a:endParaRPr b="0" i="0" sz="1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0" y="6382512"/>
            <a:ext cx="12234672" cy="475488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pic>
        <p:nvPicPr>
          <p:cNvPr id="322" name="Google Shape;32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464808"/>
            <a:ext cx="244231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11"/>
          <p:cNvSpPr/>
          <p:nvPr/>
        </p:nvSpPr>
        <p:spPr>
          <a:xfrm>
            <a:off x="481975" y="6437376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UNIVERSITY OF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CHICAGO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11622024" y="638251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2"/>
          <p:cNvSpPr/>
          <p:nvPr/>
        </p:nvSpPr>
        <p:spPr>
          <a:xfrm>
            <a:off x="457200" y="256032"/>
            <a:ext cx="1127455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Deployment: Containerized API</a:t>
            </a:r>
            <a:endParaRPr b="0" i="0" sz="3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457200" y="1014984"/>
            <a:ext cx="11274552" cy="1554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32" name="Google Shape;332;p12"/>
          <p:cNvSpPr/>
          <p:nvPr/>
        </p:nvSpPr>
        <p:spPr>
          <a:xfrm>
            <a:off x="457200" y="1371600"/>
            <a:ext cx="50292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737373"/>
                </a:solidFill>
              </a:rPr>
              <a:t>docker compose up --build starts three services: the API on :8000/docs, the monitoring dashboard on :8501, and the MLflow UI on :5001</a:t>
            </a:r>
            <a:endParaRPr b="0" i="0" sz="1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737373"/>
                </a:solidFill>
              </a:rPr>
              <a:t>The model is swappable by alias. Replacing it is a re-registration plus a restart, with zero changes to serving code</a:t>
            </a:r>
            <a:endParaRPr sz="1800">
              <a:solidFill>
                <a:srgbClr val="737373"/>
              </a:solidFill>
            </a:endParaRPr>
          </a:p>
          <a:p>
            <a:pPr indent="-3556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737373"/>
                </a:solidFill>
              </a:rPr>
              <a:t>GET /health reports the loaded model version, its SemVer and the @champion alias</a:t>
            </a:r>
            <a:endParaRPr b="0" i="0" sz="1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457200" y="4591405"/>
            <a:ext cx="5029200" cy="14172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34" name="Google Shape;334;p12"/>
          <p:cNvSpPr/>
          <p:nvPr/>
        </p:nvSpPr>
        <p:spPr>
          <a:xfrm>
            <a:off x="658368" y="4682845"/>
            <a:ext cx="46269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7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Live prices are not closing prices</a:t>
            </a:r>
            <a:endParaRPr b="0" i="0" sz="17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6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Upcoming fixtures are scored against current, softer odds, so live value flags fire more readily than the backtest does</a:t>
            </a:r>
            <a:endParaRPr b="0" i="0" sz="17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0" y="6382512"/>
            <a:ext cx="12234672" cy="475488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pic>
        <p:nvPicPr>
          <p:cNvPr id="336" name="Google Shape;33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464808"/>
            <a:ext cx="244231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12"/>
          <p:cNvSpPr/>
          <p:nvPr/>
        </p:nvSpPr>
        <p:spPr>
          <a:xfrm>
            <a:off x="481975" y="6437376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UNIVERSITY OF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CHICAGO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11622024" y="638251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9" name="Google Shape;339;p12" title="Screenshot 2026-08-17 at 12.54.15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9625" y="1574225"/>
            <a:ext cx="7102377" cy="627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12" title="Screenshot 2026-08-17 at 12.54.53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26100" y="2834487"/>
            <a:ext cx="6400799" cy="2456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3"/>
          <p:cNvSpPr/>
          <p:nvPr/>
        </p:nvSpPr>
        <p:spPr>
          <a:xfrm>
            <a:off x="457200" y="256032"/>
            <a:ext cx="1127455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Production Monitoring</a:t>
            </a:r>
            <a:endParaRPr b="0" i="0" sz="3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457200" y="1014984"/>
            <a:ext cx="11274552" cy="1554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48" name="Google Shape;348;p13"/>
          <p:cNvSpPr/>
          <p:nvPr/>
        </p:nvSpPr>
        <p:spPr>
          <a:xfrm>
            <a:off x="457200" y="1371600"/>
            <a:ext cx="6675000" cy="3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000"/>
              <a:buFont typeface="Arial"/>
              <a:buChar char="•"/>
            </a:pPr>
            <a:r>
              <a:rPr b="0" i="0" lang="en-US" sz="20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Stack: custom KS and PSI statistics (version-proof) plus Evidently HTML reports for each season from 2020 to 2025</a:t>
            </a:r>
            <a:endParaRPr b="0" i="0" sz="2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737373"/>
              </a:buClr>
              <a:buSzPts val="2000"/>
              <a:buFont typeface="Arial"/>
              <a:buChar char="•"/>
            </a:pPr>
            <a:r>
              <a:rPr b="0" i="0" lang="en-US" sz="20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Reference window is 2018-19 and 2019-20 only. A baseline has to predate the shift you want to detect</a:t>
            </a:r>
            <a:endParaRPr b="0" i="0" sz="2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737373"/>
              </a:buClr>
              <a:buSzPts val="2000"/>
              <a:buFont typeface="Arial"/>
              <a:buChar char="•"/>
            </a:pPr>
            <a:r>
              <a:rPr b="0" i="0" lang="en-US" sz="20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Thresholds: KS alpha = 0.01, PSI = 0.20, across 54 monitored features</a:t>
            </a:r>
            <a:endParaRPr b="0" i="0" sz="2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737373"/>
              </a:buClr>
              <a:buSzPts val="2000"/>
              <a:buFont typeface="Arial"/>
              <a:buChar char="•"/>
            </a:pPr>
            <a:r>
              <a:rPr b="0" i="0" lang="en-US" sz="20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Recent seasons flag 2 to 6 of the 54 features, consistent with roster and schedule churn. Calibration decay is tracked as gap-to-market, so a hard season for everyone does not false-alarm as model decay</a:t>
            </a:r>
            <a:endParaRPr b="0" i="0" sz="2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7452360" y="1371600"/>
            <a:ext cx="4279392" cy="420624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50" name="Google Shape;350;p13"/>
          <p:cNvSpPr/>
          <p:nvPr/>
        </p:nvSpPr>
        <p:spPr>
          <a:xfrm>
            <a:off x="7680960" y="1517904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Real detected drift: the 2020-21 COVID season</a:t>
            </a:r>
            <a:endParaRPr b="0" i="0" sz="1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7680960" y="2212848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0" i="0" lang="en-US" sz="26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 &lt; 0.0001</a:t>
            </a:r>
            <a:endParaRPr b="0" i="0" sz="2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7680960" y="2633472"/>
            <a:ext cx="38404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Font typeface="Arial"/>
              <a:buNone/>
            </a:pPr>
            <a:r>
              <a:rPr b="0" i="0" lang="en-US" sz="1500" u="none" cap="non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target drift against the pre-COVID reference</a:t>
            </a:r>
            <a:endParaRPr b="0" i="0" sz="1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7680960" y="3182112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0" i="0" lang="en-US" sz="26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39.8%</a:t>
            </a:r>
            <a:endParaRPr b="0" i="0" sz="2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7680960" y="3602736"/>
            <a:ext cx="38404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Font typeface="Arial"/>
              <a:buNone/>
            </a:pPr>
            <a:r>
              <a:rPr b="0" i="0" lang="en-US" sz="1500" u="none" cap="non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home-win rate, down from 44 to 45% either side</a:t>
            </a:r>
            <a:endParaRPr b="0" i="0" sz="1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3"/>
          <p:cNvSpPr/>
          <p:nvPr/>
        </p:nvSpPr>
        <p:spPr>
          <a:xfrm>
            <a:off x="7680960" y="4151376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0" i="0" lang="en-US" sz="26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+0.095</a:t>
            </a:r>
            <a:endParaRPr b="0" i="0" sz="2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3"/>
          <p:cNvSpPr/>
          <p:nvPr/>
        </p:nvSpPr>
        <p:spPr>
          <a:xfrm>
            <a:off x="7680960" y="4572000"/>
            <a:ext cx="38404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Font typeface="Arial"/>
              <a:buNone/>
            </a:pPr>
            <a:r>
              <a:rPr b="0" i="0" lang="en-US" sz="1500" u="none" cap="non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worst calibration gap vs market (market_blind / logistic, 2020)</a:t>
            </a:r>
            <a:endParaRPr b="0" i="0" sz="1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3"/>
          <p:cNvSpPr/>
          <p:nvPr/>
        </p:nvSpPr>
        <p:spPr>
          <a:xfrm>
            <a:off x="0" y="6382512"/>
            <a:ext cx="12234672" cy="475488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pic>
        <p:nvPicPr>
          <p:cNvPr id="358" name="Google Shape;35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464808"/>
            <a:ext cx="244231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13"/>
          <p:cNvSpPr/>
          <p:nvPr/>
        </p:nvSpPr>
        <p:spPr>
          <a:xfrm>
            <a:off x="481975" y="6437376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UNIVERSITY OF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CHICAGO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3"/>
          <p:cNvSpPr/>
          <p:nvPr/>
        </p:nvSpPr>
        <p:spPr>
          <a:xfrm>
            <a:off x="11622024" y="638251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4"/>
          <p:cNvSpPr/>
          <p:nvPr/>
        </p:nvSpPr>
        <p:spPr>
          <a:xfrm>
            <a:off x="457200" y="256032"/>
            <a:ext cx="1127455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Drift Simulation &amp; Anomaly Verification</a:t>
            </a:r>
            <a:endParaRPr b="0" i="0" sz="3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457200" y="1014984"/>
            <a:ext cx="11274552" cy="1554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68" name="Google Shape;368;p14"/>
          <p:cNvSpPr/>
          <p:nvPr/>
        </p:nvSpPr>
        <p:spPr>
          <a:xfrm>
            <a:off x="457200" y="1280160"/>
            <a:ext cx="11274552" cy="658368"/>
          </a:xfrm>
          <a:prstGeom prst="rect">
            <a:avLst/>
          </a:prstGeom>
          <a:solidFill>
            <a:srgbClr val="D9D9D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69" name="Google Shape;369;p14"/>
          <p:cNvSpPr/>
          <p:nvPr/>
        </p:nvSpPr>
        <p:spPr>
          <a:xfrm>
            <a:off x="658368" y="1280160"/>
            <a:ext cx="10872216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00"/>
              <a:buFont typeface="Arial"/>
              <a:buNone/>
            </a:pPr>
            <a:r>
              <a:rPr b="1" i="0" lang="en-US" sz="15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Baseline first: clean 2025-26 holdout, 1,727 rows, log loss 0.9853 vs market 0.9784, scored through HTTP /predict. Faults run only after the baseline passes</a:t>
            </a:r>
            <a:endParaRPr b="0" i="0" sz="15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0" name="Google Shape;370;p14"/>
          <p:cNvGraphicFramePr/>
          <p:nvPr/>
        </p:nvGraphicFramePr>
        <p:xfrm>
          <a:off x="457200" y="21396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{0743D6BD-7D85-4B46-9572-FA2B7AA6E5CD}</a:tableStyleId>
              </a:tblPr>
              <a:tblGrid>
                <a:gridCol w="1783075"/>
                <a:gridCol w="2788925"/>
                <a:gridCol w="2788925"/>
              </a:tblGrid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Injected fault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Corruption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What caught it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out_of_bounds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37373"/>
                        </a:buClr>
                        <a:buSzPts val="11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73737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Every feature pushed 5 to 15x past its range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37373"/>
                        </a:buClr>
                        <a:buSzPts val="11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73737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84/86 features drift; prediction PSI 10.71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swapped_columns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37373"/>
                        </a:buClr>
                        <a:buSzPts val="11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73737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Home and away swapped, market price flipped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37373"/>
                        </a:buClr>
                        <a:buSzPts val="11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73737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 loss +0.395; prediction PSI 0.36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schema_break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37373"/>
                        </a:buClr>
                        <a:buSzPts val="11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73737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 xG feature family dropped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37373"/>
                        </a:buClr>
                        <a:buSzPts val="11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73737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 missing features; log loss +0.001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1" name="Google Shape;371;p14"/>
          <p:cNvSpPr/>
          <p:nvPr/>
        </p:nvSpPr>
        <p:spPr>
          <a:xfrm>
            <a:off x="457200" y="4809744"/>
            <a:ext cx="11274552" cy="1133856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72" name="Google Shape;372;p14"/>
          <p:cNvSpPr/>
          <p:nvPr/>
        </p:nvSpPr>
        <p:spPr>
          <a:xfrm>
            <a:off x="685800" y="4919472"/>
            <a:ext cx="108173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7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One detector is never enough</a:t>
            </a:r>
            <a:endParaRPr b="0" i="0" sz="17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5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Input drift catches extreme values; prediction and performance checks expose the column swap; schema validation catches missing xG. The batch validation suite combines every signal before declaring a pass.</a:t>
            </a:r>
            <a:endParaRPr b="0" i="0" sz="17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4"/>
          <p:cNvSpPr/>
          <p:nvPr/>
        </p:nvSpPr>
        <p:spPr>
          <a:xfrm>
            <a:off x="0" y="6382512"/>
            <a:ext cx="12234672" cy="475488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pic>
        <p:nvPicPr>
          <p:cNvPr id="374" name="Google Shape;37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464808"/>
            <a:ext cx="244231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14"/>
          <p:cNvSpPr/>
          <p:nvPr/>
        </p:nvSpPr>
        <p:spPr>
          <a:xfrm>
            <a:off x="481975" y="6437376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UNIVERSITY OF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CHICAGO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4"/>
          <p:cNvSpPr/>
          <p:nvPr/>
        </p:nvSpPr>
        <p:spPr>
          <a:xfrm>
            <a:off x="11622024" y="638251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7" name="Google Shape;377;p14" title="Screenshot 2026-08-17 at 1.00.19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28100" y="2090928"/>
            <a:ext cx="2532108" cy="2566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5"/>
          <p:cNvSpPr/>
          <p:nvPr/>
        </p:nvSpPr>
        <p:spPr>
          <a:xfrm>
            <a:off x="457200" y="256032"/>
            <a:ext cx="1127455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Conclusions</a:t>
            </a:r>
            <a:endParaRPr b="0" i="0" sz="3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5"/>
          <p:cNvSpPr/>
          <p:nvPr/>
        </p:nvSpPr>
        <p:spPr>
          <a:xfrm>
            <a:off x="457200" y="1014984"/>
            <a:ext cx="11274552" cy="1554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85" name="Google Shape;385;p15"/>
          <p:cNvSpPr/>
          <p:nvPr/>
        </p:nvSpPr>
        <p:spPr>
          <a:xfrm>
            <a:off x="457200" y="1335024"/>
            <a:ext cx="11274552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000"/>
              <a:buFont typeface="Arial"/>
              <a:buChar char="•"/>
            </a:pPr>
            <a:r>
              <a:rPr b="0" i="0" lang="en-US" sz="20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The negative result is the deliverable</a:t>
            </a:r>
            <a:endParaRPr b="0" i="0" sz="2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1" marL="685800" marR="0" rtl="0" algn="l">
              <a:spcBef>
                <a:spcPts val="700"/>
              </a:spcBef>
              <a:spcAft>
                <a:spcPts val="0"/>
              </a:spcAft>
              <a:buClr>
                <a:srgbClr val="A6A6A6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No model beats the market in any aggregate fold, league or track comparison: six families across nine configurations, three tuned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1" marL="685800" marR="0" rtl="0" algn="l">
              <a:spcBef>
                <a:spcPts val="700"/>
              </a:spcBef>
              <a:spcAft>
                <a:spcPts val="0"/>
              </a:spcAft>
              <a:buClr>
                <a:srgbClr val="A6A6A6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On four common folds, tuned CatBoost scores 0.9749 and Dixon-Coles 0.9908; both trail the market at 0.9675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1" marL="685800" marR="0" rtl="0" algn="l">
              <a:spcBef>
                <a:spcPts val="700"/>
              </a:spcBef>
              <a:spcAft>
                <a:spcPts val="0"/>
              </a:spcAft>
              <a:buClr>
                <a:srgbClr val="A6A6A6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On the deployed 2025-26 holdout, CatBoost scores 0.9853 vs market 0.9784 — a stable +0.0069 gap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1" marL="685800" marR="0" rtl="0" algn="l">
              <a:spcBef>
                <a:spcPts val="700"/>
              </a:spcBef>
              <a:spcAft>
                <a:spcPts val="0"/>
              </a:spcAft>
              <a:buClr>
                <a:srgbClr val="A6A6A6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No value threshold yields a profit whose CI excludes zero, and CLV is negative throughout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737373"/>
              </a:buClr>
              <a:buSzPts val="2000"/>
              <a:buFont typeface="Arial"/>
              <a:buChar char="•"/>
            </a:pPr>
            <a:r>
              <a:rPr b="0" i="0" lang="en-US" sz="20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Interpretation: public pre-kickoff data improves a price-blind baseline but adds no reliable edge beyond the closing market</a:t>
            </a:r>
            <a:endParaRPr b="0" i="0" sz="2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737373"/>
              </a:buClr>
              <a:buSzPts val="2000"/>
              <a:buFont typeface="Arial"/>
              <a:buChar char="•"/>
            </a:pPr>
            <a:r>
              <a:rPr b="0" i="0" lang="en-US" sz="20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What we delivered: a reproducible, leakage-proof, versioned, deployed and monitored pipeline that establishes a negative result credibly</a:t>
            </a:r>
            <a:endParaRPr b="0" i="0" sz="2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5"/>
          <p:cNvSpPr/>
          <p:nvPr/>
        </p:nvSpPr>
        <p:spPr>
          <a:xfrm>
            <a:off x="457200" y="5029200"/>
            <a:ext cx="11274552" cy="969264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87" name="Google Shape;387;p15"/>
          <p:cNvSpPr/>
          <p:nvPr/>
        </p:nvSpPr>
        <p:spPr>
          <a:xfrm>
            <a:off x="685800" y="5102352"/>
            <a:ext cx="1081735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6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Why the engineering matters more than the answer</a:t>
            </a:r>
            <a:endParaRPr b="0" i="0" sz="1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pipeline that let us fool ourselves into a fake edge would be worse than useless</a:t>
            </a:r>
            <a:r>
              <a:rPr lang="en-US">
                <a:solidFill>
                  <a:srgbClr val="FFFFFF"/>
                </a:solidFill>
              </a:rPr>
              <a:t>. </a:t>
            </a:r>
            <a:r>
              <a:rPr b="0" i="0" lang="en-US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value here is that we can trust the “no”: walk-forward splits, an HTTP-scored sealed holdout, a market baseline as leakage tripwire, and bootstrap CIs on every economic claim</a:t>
            </a:r>
            <a:endParaRPr b="0" i="0" sz="1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5"/>
          <p:cNvSpPr/>
          <p:nvPr/>
        </p:nvSpPr>
        <p:spPr>
          <a:xfrm>
            <a:off x="0" y="6382512"/>
            <a:ext cx="12234672" cy="475488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pic>
        <p:nvPicPr>
          <p:cNvPr id="389" name="Google Shape;38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464808"/>
            <a:ext cx="244231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15"/>
          <p:cNvSpPr/>
          <p:nvPr/>
        </p:nvSpPr>
        <p:spPr>
          <a:xfrm>
            <a:off x="481975" y="6437376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UNIVERSITY OF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CHICAGO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5"/>
          <p:cNvSpPr/>
          <p:nvPr/>
        </p:nvSpPr>
        <p:spPr>
          <a:xfrm>
            <a:off x="11622024" y="638251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6"/>
          <p:cNvSpPr/>
          <p:nvPr/>
        </p:nvSpPr>
        <p:spPr>
          <a:xfrm>
            <a:off x="457200" y="256032"/>
            <a:ext cx="1127455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Limitations &amp; Future Work</a:t>
            </a:r>
            <a:endParaRPr b="0" i="0" sz="36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6"/>
          <p:cNvSpPr/>
          <p:nvPr/>
        </p:nvSpPr>
        <p:spPr>
          <a:xfrm>
            <a:off x="457200" y="1014984"/>
            <a:ext cx="11274552" cy="1554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99" name="Google Shape;399;p16"/>
          <p:cNvSpPr/>
          <p:nvPr/>
        </p:nvSpPr>
        <p:spPr>
          <a:xfrm>
            <a:off x="457200" y="1316736"/>
            <a:ext cx="53949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200"/>
              <a:buFont typeface="Arial"/>
              <a:buNone/>
            </a:pPr>
            <a:r>
              <a:rPr b="1" i="0" lang="en-US" sz="27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Limitations</a:t>
            </a:r>
            <a:endParaRPr b="0" i="0" sz="27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6"/>
          <p:cNvSpPr/>
          <p:nvPr/>
        </p:nvSpPr>
        <p:spPr>
          <a:xfrm>
            <a:off x="457225" y="2005275"/>
            <a:ext cx="55947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737373"/>
                </a:solidFill>
              </a:rPr>
              <a:t>Longshot bias: at a 0.05 absolute edge the rule flags 74-89% of fixtures at mean odds above 4.7</a:t>
            </a:r>
            <a:endParaRPr sz="2000">
              <a:solidFill>
                <a:srgbClr val="737373"/>
              </a:solidFill>
            </a:endParaRPr>
          </a:p>
          <a:p>
            <a:pPr indent="-37465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737373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737373"/>
                </a:solidFill>
              </a:rPr>
              <a:t>2020-21 is a genuine distribution shift </a:t>
            </a:r>
            <a:r>
              <a:rPr lang="en-US" sz="2000">
                <a:solidFill>
                  <a:srgbClr val="737373"/>
                </a:solidFill>
              </a:rPr>
              <a:t>– n</a:t>
            </a:r>
            <a:r>
              <a:rPr lang="en-US" sz="2000">
                <a:solidFill>
                  <a:srgbClr val="737373"/>
                </a:solidFill>
              </a:rPr>
              <a:t>o honest tuning fixes it</a:t>
            </a:r>
            <a:endParaRPr sz="2000">
              <a:solidFill>
                <a:srgbClr val="737373"/>
              </a:solidFill>
            </a:endParaRPr>
          </a:p>
          <a:p>
            <a:pPr indent="-37465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737373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737373"/>
                </a:solidFill>
              </a:rPr>
              <a:t>CLV caveat: value is flagged against closing-derived probability, so this is not a clean bet-at-open simulation</a:t>
            </a:r>
            <a:endParaRPr sz="2000">
              <a:solidFill>
                <a:srgbClr val="737373"/>
              </a:solidFill>
            </a:endParaRPr>
          </a:p>
          <a:p>
            <a:pPr indent="-37465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737373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737373"/>
                </a:solidFill>
              </a:rPr>
              <a:t>Understat is scraped, with no documented API</a:t>
            </a:r>
            <a:endParaRPr sz="2000">
              <a:solidFill>
                <a:srgbClr val="737373"/>
              </a:solidFill>
            </a:endParaRPr>
          </a:p>
          <a:p>
            <a:pPr indent="-37465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737373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737373"/>
                </a:solidFill>
              </a:rPr>
              <a:t>Cut from scope: historical injury data (no free feed) and prediction markets as a historical training source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6"/>
          <p:cNvSpPr/>
          <p:nvPr/>
        </p:nvSpPr>
        <p:spPr>
          <a:xfrm>
            <a:off x="6336792" y="1316736"/>
            <a:ext cx="53949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200"/>
              <a:buFont typeface="Arial"/>
              <a:buNone/>
            </a:pPr>
            <a:r>
              <a:rPr b="1" i="0" lang="en-US" sz="2700" u="non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Future work</a:t>
            </a:r>
            <a:endParaRPr b="0" i="0" sz="27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6"/>
          <p:cNvSpPr/>
          <p:nvPr/>
        </p:nvSpPr>
        <p:spPr>
          <a:xfrm>
            <a:off x="6336817" y="2005263"/>
            <a:ext cx="53949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000"/>
              <a:buFont typeface="Arial"/>
              <a:buChar char="•"/>
            </a:pPr>
            <a:r>
              <a:rPr b="0" i="0" lang="en-US" sz="20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Hosted deployment with a scheduled Prefect server</a:t>
            </a:r>
            <a:endParaRPr b="0" i="0" sz="2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737373"/>
              </a:buClr>
              <a:buSzPts val="2000"/>
              <a:buChar char="•"/>
            </a:pPr>
            <a:r>
              <a:rPr lang="en-US" sz="2000">
                <a:solidFill>
                  <a:srgbClr val="737373"/>
                </a:solidFill>
              </a:rPr>
              <a:t>Train on more data</a:t>
            </a:r>
            <a:endParaRPr sz="2000">
              <a:solidFill>
                <a:srgbClr val="737373"/>
              </a:solidFill>
            </a:endParaRPr>
          </a:p>
          <a:p>
            <a:pPr indent="-355600" lvl="1" marL="914400" marR="0" rtl="0" algn="l">
              <a:spcBef>
                <a:spcPts val="900"/>
              </a:spcBef>
              <a:spcAft>
                <a:spcPts val="0"/>
              </a:spcAft>
              <a:buClr>
                <a:srgbClr val="737373"/>
              </a:buClr>
              <a:buSzPts val="2000"/>
              <a:buChar char="○"/>
            </a:pPr>
            <a:r>
              <a:rPr lang="en-US" sz="2000">
                <a:solidFill>
                  <a:srgbClr val="737373"/>
                </a:solidFill>
              </a:rPr>
              <a:t>Historical injury data </a:t>
            </a:r>
            <a:endParaRPr sz="2000">
              <a:solidFill>
                <a:srgbClr val="737373"/>
              </a:solidFill>
            </a:endParaRPr>
          </a:p>
          <a:p>
            <a:pPr indent="-355600" lvl="1" marL="914400" marR="0" rtl="0" algn="l">
              <a:spcBef>
                <a:spcPts val="900"/>
              </a:spcBef>
              <a:spcAft>
                <a:spcPts val="0"/>
              </a:spcAft>
              <a:buClr>
                <a:srgbClr val="737373"/>
              </a:buClr>
              <a:buSzPts val="2000"/>
              <a:buChar char="○"/>
            </a:pPr>
            <a:r>
              <a:rPr lang="en-US" sz="2000">
                <a:solidFill>
                  <a:srgbClr val="737373"/>
                </a:solidFill>
              </a:rPr>
              <a:t>Prediction-market prices as a model input (Kalshi, Polymarket)</a:t>
            </a:r>
            <a:endParaRPr sz="2000">
              <a:solidFill>
                <a:srgbClr val="737373"/>
              </a:solidFill>
            </a:endParaRPr>
          </a:p>
          <a:p>
            <a:pPr indent="-37465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737373"/>
              </a:buClr>
              <a:buSzPts val="2000"/>
              <a:buFont typeface="Arial"/>
              <a:buChar char="•"/>
            </a:pPr>
            <a:r>
              <a:rPr b="0" i="0" lang="en-US" sz="2000" u="non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Automated release promotion and SemVer bumps from CI</a:t>
            </a:r>
            <a:endParaRPr b="0" i="0" sz="2000" u="none" cap="none">
              <a:solidFill>
                <a:srgbClr val="73737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737373"/>
              </a:solidFill>
            </a:endParaRPr>
          </a:p>
        </p:txBody>
      </p:sp>
      <p:sp>
        <p:nvSpPr>
          <p:cNvPr id="403" name="Google Shape;403;p16"/>
          <p:cNvSpPr/>
          <p:nvPr/>
        </p:nvSpPr>
        <p:spPr>
          <a:xfrm>
            <a:off x="0" y="6382512"/>
            <a:ext cx="12234672" cy="475488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pic>
        <p:nvPicPr>
          <p:cNvPr id="404" name="Google Shape;40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464808"/>
            <a:ext cx="244231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16"/>
          <p:cNvSpPr/>
          <p:nvPr/>
        </p:nvSpPr>
        <p:spPr>
          <a:xfrm>
            <a:off x="481975" y="6437376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UNIVERSITY OF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CHICAGO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6"/>
          <p:cNvSpPr/>
          <p:nvPr/>
        </p:nvSpPr>
        <p:spPr>
          <a:xfrm>
            <a:off x="11622024" y="638251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00000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7"/>
          <p:cNvSpPr/>
          <p:nvPr/>
        </p:nvSpPr>
        <p:spPr>
          <a:xfrm>
            <a:off x="8227543" y="0"/>
            <a:ext cx="4022354" cy="6382512"/>
          </a:xfrm>
          <a:prstGeom prst="rect">
            <a:avLst/>
          </a:prstGeom>
          <a:solidFill>
            <a:srgbClr val="5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pic>
        <p:nvPicPr>
          <p:cNvPr id="413" name="Google Shape;413;p17"/>
          <p:cNvPicPr preferRelativeResize="0"/>
          <p:nvPr/>
        </p:nvPicPr>
        <p:blipFill rotWithShape="1">
          <a:blip r:embed="rId3">
            <a:alphaModFix amt="14000"/>
          </a:blip>
          <a:srcRect b="0" l="0" r="0" t="0"/>
          <a:stretch/>
        </p:blipFill>
        <p:spPr>
          <a:xfrm>
            <a:off x="8926083" y="1563624"/>
            <a:ext cx="2557241" cy="3255264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17"/>
          <p:cNvSpPr/>
          <p:nvPr/>
        </p:nvSpPr>
        <p:spPr>
          <a:xfrm>
            <a:off x="502920" y="1371600"/>
            <a:ext cx="7315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"/>
              <a:buNone/>
            </a:pPr>
            <a:r>
              <a:rPr b="0" i="0" lang="en-US" sz="54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Questions?</a:t>
            </a:r>
            <a:endParaRPr b="0" i="0" sz="54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7"/>
          <p:cNvSpPr/>
          <p:nvPr/>
        </p:nvSpPr>
        <p:spPr>
          <a:xfrm>
            <a:off x="502920" y="2487168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000"/>
              <a:buFont typeface="Arial"/>
              <a:buNone/>
            </a:pPr>
            <a:r>
              <a:rPr b="0" i="0" lang="en-US" sz="2000" u="sng" cap="non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github.com/arenmizuno/beating-1X2</a:t>
            </a:r>
            <a:endParaRPr b="0" i="0" sz="20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7"/>
          <p:cNvSpPr/>
          <p:nvPr/>
        </p:nvSpPr>
        <p:spPr>
          <a:xfrm>
            <a:off x="0" y="6382512"/>
            <a:ext cx="12234672" cy="475488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pic>
        <p:nvPicPr>
          <p:cNvPr id="417" name="Google Shape;41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464808"/>
            <a:ext cx="244231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17"/>
          <p:cNvSpPr/>
          <p:nvPr/>
        </p:nvSpPr>
        <p:spPr>
          <a:xfrm>
            <a:off x="481975" y="6437376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UNIVERSITY OF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CHICAGO</a:t>
            </a:r>
            <a:endParaRPr b="0" i="0" sz="8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7"/>
          <p:cNvSpPr/>
          <p:nvPr/>
        </p:nvSpPr>
        <p:spPr>
          <a:xfrm>
            <a:off x="11622024" y="638251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0" i="0" sz="900" u="non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
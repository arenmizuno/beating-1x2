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216c241964423b" /><Relationship Type="http://schemas.openxmlformats.org/officeDocument/2006/relationships/extended-properties" Target="/docProps/app.xml" Id="R25d49d12d8594391" /><Relationship Type="http://schemas.openxmlformats.org/officeDocument/2006/relationships/officeDocument" Target="/ppt/presentation.xml" Id="R8e7fd34795f044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74a88df8af4b76"/>
  </p:sldMasterIdLst>
  <p:notesMasterIdLst>
    <p:notesMasterId xmlns:r="http://schemas.openxmlformats.org/officeDocument/2006/relationships" r:id="Ra70046b6d0f4460a"/>
  </p:notesMasterIdLst>
  <p:sldIdLst>
    <p:sldId xmlns:r="http://schemas.openxmlformats.org/officeDocument/2006/relationships" id="256" r:id="R9a96abf3e30c42aa"/>
    <p:sldId xmlns:r="http://schemas.openxmlformats.org/officeDocument/2006/relationships" id="257" r:id="R78e52814a82547cb"/>
    <p:sldId xmlns:r="http://schemas.openxmlformats.org/officeDocument/2006/relationships" id="258" r:id="R0dbd8d7f6d6d4e47"/>
    <p:sldId xmlns:r="http://schemas.openxmlformats.org/officeDocument/2006/relationships" id="259" r:id="Re5c5674a333d4812"/>
    <p:sldId xmlns:r="http://schemas.openxmlformats.org/officeDocument/2006/relationships" id="260" r:id="Ra5d2b63cf6014869"/>
    <p:sldId xmlns:r="http://schemas.openxmlformats.org/officeDocument/2006/relationships" id="261" r:id="R39015a9690ef4165"/>
    <p:sldId xmlns:r="http://schemas.openxmlformats.org/officeDocument/2006/relationships" id="262" r:id="Rbafed718447340b1"/>
    <p:sldId xmlns:r="http://schemas.openxmlformats.org/officeDocument/2006/relationships" id="263" r:id="Ree177e5275ef443a"/>
    <p:sldId xmlns:r="http://schemas.openxmlformats.org/officeDocument/2006/relationships" id="264" r:id="R7b86fea707854bac"/>
    <p:sldId xmlns:r="http://schemas.openxmlformats.org/officeDocument/2006/relationships" id="265" r:id="Rb73070237da149ff"/>
    <p:sldId xmlns:r="http://schemas.openxmlformats.org/officeDocument/2006/relationships" id="266" r:id="R66b0dc789d1d4f0e"/>
    <p:sldId xmlns:r="http://schemas.openxmlformats.org/officeDocument/2006/relationships" id="267" r:id="Rb6696f6829ce4dcf"/>
    <p:sldId xmlns:r="http://schemas.openxmlformats.org/officeDocument/2006/relationships" id="268" r:id="R3897ca850c1d434d"/>
    <p:sldId xmlns:r="http://schemas.openxmlformats.org/officeDocument/2006/relationships" id="269" r:id="R0ec06ae69c5e42ea"/>
    <p:sldId xmlns:r="http://schemas.openxmlformats.org/officeDocument/2006/relationships" id="270" r:id="Rd0044d3f56134d9f"/>
    <p:sldId xmlns:r="http://schemas.openxmlformats.org/officeDocument/2006/relationships" id="271" r:id="R6e1de71924d04917"/>
    <p:sldId xmlns:r="http://schemas.openxmlformats.org/officeDocument/2006/relationships" id="272" r:id="Rf91e75233bfc46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B3A0B536-37AF-435A-9EB2-2F26B4121502}">
  <a:tblStyle styleId="{B3A0B536-37AF-435A-9EB2-2F26B412150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3c71dcb68141ce" /><Relationship Type="http://schemas.openxmlformats.org/officeDocument/2006/relationships/slideMaster" Target="/ppt/slideMasters/slideMaster1.xml" Id="R7074a88df8af4b76" /><Relationship Type="http://schemas.openxmlformats.org/officeDocument/2006/relationships/notesMaster" Target="/ppt/notesMasters/notesMaster1.xml" Id="Ra70046b6d0f4460a" /><Relationship Type="http://schemas.openxmlformats.org/officeDocument/2006/relationships/presProps" Target="/ppt/presProps.xml" Id="R4df73ac222b84be4" /><Relationship Type="http://schemas.openxmlformats.org/officeDocument/2006/relationships/tableStyles" Target="/ppt/tableStyles.xml" Id="R90be3fddec1b49ba" /><Relationship Type="http://schemas.openxmlformats.org/officeDocument/2006/relationships/slide" Target="/ppt/slides/slide1.xml" Id="R9a96abf3e30c42aa" /><Relationship Type="http://schemas.openxmlformats.org/officeDocument/2006/relationships/slide" Target="/ppt/slides/slide2.xml" Id="R78e52814a82547cb" /><Relationship Type="http://schemas.openxmlformats.org/officeDocument/2006/relationships/slide" Target="/ppt/slides/slide3.xml" Id="R0dbd8d7f6d6d4e47" /><Relationship Type="http://schemas.openxmlformats.org/officeDocument/2006/relationships/slide" Target="/ppt/slides/slide4.xml" Id="Re5c5674a333d4812" /><Relationship Type="http://schemas.openxmlformats.org/officeDocument/2006/relationships/slide" Target="/ppt/slides/slide5.xml" Id="Ra5d2b63cf6014869" /><Relationship Type="http://schemas.openxmlformats.org/officeDocument/2006/relationships/slide" Target="/ppt/slides/slide6.xml" Id="R39015a9690ef4165" /><Relationship Type="http://schemas.openxmlformats.org/officeDocument/2006/relationships/slide" Target="/ppt/slides/slide7.xml" Id="Rbafed718447340b1" /><Relationship Type="http://schemas.openxmlformats.org/officeDocument/2006/relationships/slide" Target="/ppt/slides/slide8.xml" Id="Ree177e5275ef443a" /><Relationship Type="http://schemas.openxmlformats.org/officeDocument/2006/relationships/slide" Target="/ppt/slides/slide9.xml" Id="R7b86fea707854bac" /><Relationship Type="http://schemas.openxmlformats.org/officeDocument/2006/relationships/slide" Target="/ppt/slides/slide10.xml" Id="Rb73070237da149ff" /><Relationship Type="http://schemas.openxmlformats.org/officeDocument/2006/relationships/slide" Target="/ppt/slides/slide11.xml" Id="R66b0dc789d1d4f0e" /><Relationship Type="http://schemas.openxmlformats.org/officeDocument/2006/relationships/slide" Target="/ppt/slides/slide12.xml" Id="Rb6696f6829ce4dcf" /><Relationship Type="http://schemas.openxmlformats.org/officeDocument/2006/relationships/slide" Target="/ppt/slides/slide13.xml" Id="R3897ca850c1d434d" /><Relationship Type="http://schemas.openxmlformats.org/officeDocument/2006/relationships/slide" Target="/ppt/slides/slide14.xml" Id="R0ec06ae69c5e42ea" /><Relationship Type="http://schemas.openxmlformats.org/officeDocument/2006/relationships/slide" Target="/ppt/slides/slide15.xml" Id="Rd0044d3f56134d9f" /><Relationship Type="http://schemas.openxmlformats.org/officeDocument/2006/relationships/slide" Target="/ppt/slides/slide16.xml" Id="R6e1de71924d04917" /><Relationship Type="http://schemas.openxmlformats.org/officeDocument/2006/relationships/slide" Target="/ppt/slides/slide17.xml" Id="Rf91e75233bfc46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2a7b09242642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68dcbdd4ab4b9d" /><Relationship Type="http://schemas.openxmlformats.org/officeDocument/2006/relationships/notesMaster" Target="/ppt/notesMasters/notesMaster1.xml" Id="Re8b0fa3d86554b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da65e678b143f1" /><Relationship Type="http://schemas.openxmlformats.org/officeDocument/2006/relationships/notesMaster" Target="/ppt/notesMasters/notesMaster1.xml" Id="R8e35fcbc9f2e4d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702efb72034bae" /><Relationship Type="http://schemas.openxmlformats.org/officeDocument/2006/relationships/notesMaster" Target="/ppt/notesMasters/notesMaster1.xml" Id="Re640f92ed88545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7df69667b846d0" /><Relationship Type="http://schemas.openxmlformats.org/officeDocument/2006/relationships/notesMaster" Target="/ppt/notesMasters/notesMaster1.xml" Id="R5b0336dc30b846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0cfadc08a24cb3" /><Relationship Type="http://schemas.openxmlformats.org/officeDocument/2006/relationships/notesMaster" Target="/ppt/notesMasters/notesMaster1.xml" Id="Rcb0c1ad51d0e4d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ef34bf96b74d7f" /><Relationship Type="http://schemas.openxmlformats.org/officeDocument/2006/relationships/notesMaster" Target="/ppt/notesMasters/notesMaster1.xml" Id="R74d81947d66748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f1383c12fb4d97" /><Relationship Type="http://schemas.openxmlformats.org/officeDocument/2006/relationships/notesMaster" Target="/ppt/notesMasters/notesMaster1.xml" Id="R04d96e2de02049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957972ba7742d9" /><Relationship Type="http://schemas.openxmlformats.org/officeDocument/2006/relationships/notesMaster" Target="/ppt/notesMasters/notesMaster1.xml" Id="R32d08765ee7e43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b52b25f59941d9" /><Relationship Type="http://schemas.openxmlformats.org/officeDocument/2006/relationships/notesMaster" Target="/ppt/notesMasters/notesMaster1.xml" Id="Rc945c9dddf1740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3470983ca145dd" /><Relationship Type="http://schemas.openxmlformats.org/officeDocument/2006/relationships/notesMaster" Target="/ppt/notesMasters/notesMaster1.xml" Id="R1b872be3de8f49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5cfeed83c6498c" /><Relationship Type="http://schemas.openxmlformats.org/officeDocument/2006/relationships/notesMaster" Target="/ppt/notesMasters/notesMaster1.xml" Id="R0608416d92cd44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b2df3123fd4b8d" /><Relationship Type="http://schemas.openxmlformats.org/officeDocument/2006/relationships/notesMaster" Target="/ppt/notesMasters/notesMaster1.xml" Id="R194d6defbbd142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89a09acf944b70" /><Relationship Type="http://schemas.openxmlformats.org/officeDocument/2006/relationships/notesMaster" Target="/ppt/notesMasters/notesMaster1.xml" Id="R5cb87b887bcb4c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1d3fc914e1491b" /><Relationship Type="http://schemas.openxmlformats.org/officeDocument/2006/relationships/notesMaster" Target="/ppt/notesMasters/notesMaster1.xml" Id="Rfa20d675a7b747a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63a369ec4564345" /><Relationship Type="http://schemas.openxmlformats.org/officeDocument/2006/relationships/notesMaster" Target="/ppt/notesMasters/notesMaster1.xml" Id="Rddefe9d6e63e4f9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de7c2455eef48b9" /><Relationship Type="http://schemas.openxmlformats.org/officeDocument/2006/relationships/notesMaster" Target="/ppt/notesMasters/notesMaster1.xml" Id="R086874870138410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925be5c08d4585" /><Relationship Type="http://schemas.openxmlformats.org/officeDocument/2006/relationships/notesMaster" Target="/ppt/notesMasters/notesMaster1.xml" Id="Rd9accd89b8a34c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repository: https://github.com/arenmizuno/beating-1X2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UChicago branding inherited from the user-provided source deck.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Team portraits and biographies inherited from the user-provided source deck.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README.md, sections Problem framing and evaluation tracks.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football-data.co.uk: https://www.football-data.co.uk/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Understat: https://understat.com/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ClubElo: http://clubelo.com/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reports/summary.md.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reports/summary.md and reports/model_vs_market.csv.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src/splits.py and reports/champion.json for fold protocol.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dvc.yaml, flows.py, src/api.py, src/train.py, and README.md.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src/features.py, src/harmonize.py, src/market.py, and tests/test_features.py.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params.yaml and src/train.py.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reports/champion.json and local MLflow registry at http://127.0.0.1:5000/#/models/beating-1x2.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reports/champion.json and reports/model_vs_market.csv; values normalized to wf_2021 through wf_2024.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reports/value_backtest.csv and reports/value_backtest.md.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src/api.py and src/predict.py; screenshot captured from http://127.0.0.1:8000/docs.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reports/drift/drift_metrics.json and reports/drift/calibration_decay.csv.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reports/drift/stress_test.json and reports/drift/stress_test.html; all scenarios scored through HTTP /predict.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reports/champion.json, reports/summary.md, reports/value_backtest.csv, and reports/drift/stress_test.json.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README.md, params.yaml, and reports/drift/drift_metrics.json.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repository: https://github.com/arenmizuno/beating-1X2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Verified locally: 98 tests passed; dvc status reported all stages up to date.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9a86820a194a9b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240d8159ba433c" /><Relationship Type="http://schemas.openxmlformats.org/officeDocument/2006/relationships/slideLayout" Target="/ppt/slideLayouts/slideLayout1.xml" Id="R669f12b961834e1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9f12b961834e1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d810faa624be7" /><Relationship Type="http://schemas.openxmlformats.org/officeDocument/2006/relationships/image" Target="/ppt/media/image.png" Id="R9e7079d546154b14" /><Relationship Type="http://schemas.openxmlformats.org/officeDocument/2006/relationships/notesSlide" Target="/ppt/notesSlides/notesSlide1.xml" Id="R411f5d5e3b9a48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a7a4cac2a46ad" /><Relationship Type="http://schemas.openxmlformats.org/officeDocument/2006/relationships/image" Target="/ppt/media/image.png" Id="R5146e06ea67748f6" /><Relationship Type="http://schemas.openxmlformats.org/officeDocument/2006/relationships/image" Target="/ppt/media/image.jpeg" Id="R591528e99fbc402e" /><Relationship Type="http://schemas.openxmlformats.org/officeDocument/2006/relationships/image" Target="/ppt/media/image2.jpeg" Id="R60e08a4ca777461b" /><Relationship Type="http://schemas.openxmlformats.org/officeDocument/2006/relationships/image" Target="/ppt/media/image2.png" Id="Rcac426f5aa144de6" /><Relationship Type="http://schemas.openxmlformats.org/officeDocument/2006/relationships/image" Target="/ppt/media/image3.png" Id="Rc75aad94a5c14e35" /><Relationship Type="http://schemas.openxmlformats.org/officeDocument/2006/relationships/notesSlide" Target="/ppt/notesSlides/notesSlide2.xml" Id="Rc188f0ebfda345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9ef34d58a419e" /><Relationship Type="http://schemas.openxmlformats.org/officeDocument/2006/relationships/image" Target="/ppt/media/image.png" Id="R78b0648fb84b4167" /><Relationship Type="http://schemas.openxmlformats.org/officeDocument/2006/relationships/notesSlide" Target="/ppt/notesSlides/notesSlide3.xml" Id="R1ba773cf15684a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29d5a5e9a4e00" /><Relationship Type="http://schemas.openxmlformats.org/officeDocument/2006/relationships/image" Target="/ppt/media/image.png" Id="R47ed03bda40644ca" /><Relationship Type="http://schemas.openxmlformats.org/officeDocument/2006/relationships/notesSlide" Target="/ppt/notesSlides/notesSlide4.xml" Id="R4caa6b932e5e42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32c1e4022440e" /><Relationship Type="http://schemas.openxmlformats.org/officeDocument/2006/relationships/image" Target="/ppt/media/image.png" Id="Rabe6b563e6ce488a" /><Relationship Type="http://schemas.openxmlformats.org/officeDocument/2006/relationships/notesSlide" Target="/ppt/notesSlides/notesSlide5.xml" Id="R2f42b3b2132348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b7fc2b2624833" /><Relationship Type="http://schemas.openxmlformats.org/officeDocument/2006/relationships/image" Target="/ppt/media/image.png" Id="Rd0b4679dc0c54420" /><Relationship Type="http://schemas.openxmlformats.org/officeDocument/2006/relationships/notesSlide" Target="/ppt/notesSlides/notesSlide6.xml" Id="R3c1169de3fc049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b4eafdf4e4cc2" /><Relationship Type="http://schemas.openxmlformats.org/officeDocument/2006/relationships/image" Target="/ppt/media/image.png" Id="R1401c9cbc6ec4c1e" /><Relationship Type="http://schemas.openxmlformats.org/officeDocument/2006/relationships/notesSlide" Target="/ppt/notesSlides/notesSlide7.xml" Id="R3c483b18914245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0543a6e2546bc" /><Relationship Type="http://schemas.openxmlformats.org/officeDocument/2006/relationships/image" Target="/ppt/media/image.png" Id="R12327a1bbec24dbb" /><Relationship Type="http://schemas.openxmlformats.org/officeDocument/2006/relationships/notesSlide" Target="/ppt/notesSlides/notesSlide8.xml" Id="Re749381e586747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5a327ad794514" /><Relationship Type="http://schemas.openxmlformats.org/officeDocument/2006/relationships/image" Target="/ppt/media/image.png" Id="R92fa1576220e4650" /><Relationship Type="http://schemas.openxmlformats.org/officeDocument/2006/relationships/image" Target="/ppt/media/image3.jpeg" Id="Rf2c24e09771e451a" /><Relationship Type="http://schemas.openxmlformats.org/officeDocument/2006/relationships/notesSlide" Target="/ppt/notesSlides/notesSlide9.xml" Id="Rffac445ee6f44d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f9cb3a39c4cca" /><Relationship Type="http://schemas.openxmlformats.org/officeDocument/2006/relationships/image" Target="/ppt/media/image.png" Id="R52b97b983ea34ad6" /><Relationship Type="http://schemas.openxmlformats.org/officeDocument/2006/relationships/notesSlide" Target="/ppt/notesSlides/notesSlide10.xml" Id="Re186c871d0424d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1776ee96141f0" /><Relationship Type="http://schemas.openxmlformats.org/officeDocument/2006/relationships/image" Target="/ppt/media/image.png" Id="R4aaaed28d0c74b1a" /><Relationship Type="http://schemas.openxmlformats.org/officeDocument/2006/relationships/notesSlide" Target="/ppt/notesSlides/notesSlide11.xml" Id="Ra487b18594114a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c05af9ef54ecb" /><Relationship Type="http://schemas.openxmlformats.org/officeDocument/2006/relationships/image" Target="/ppt/media/image.png" Id="Rdda2d0b6ee8d4c6f" /><Relationship Type="http://schemas.openxmlformats.org/officeDocument/2006/relationships/image" Target="/ppt/media/image4.jpeg" Id="Rcaa2cbf0b0584b5c" /><Relationship Type="http://schemas.openxmlformats.org/officeDocument/2006/relationships/notesSlide" Target="/ppt/notesSlides/notesSlide12.xml" Id="R60b4500870a24dc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9790505c44a97" /><Relationship Type="http://schemas.openxmlformats.org/officeDocument/2006/relationships/image" Target="/ppt/media/image.png" Id="R96104dc196c84ed7" /><Relationship Type="http://schemas.openxmlformats.org/officeDocument/2006/relationships/notesSlide" Target="/ppt/notesSlides/notesSlide13.xml" Id="Rd5ec6374ca84422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bb7b58f1b4927" /><Relationship Type="http://schemas.openxmlformats.org/officeDocument/2006/relationships/image" Target="/ppt/media/image.png" Id="R12b3a3214e274a06" /><Relationship Type="http://schemas.openxmlformats.org/officeDocument/2006/relationships/image" Target="/ppt/media/image5.jpeg" Id="R05dfd2c5161948c2" /><Relationship Type="http://schemas.openxmlformats.org/officeDocument/2006/relationships/notesSlide" Target="/ppt/notesSlides/notesSlide14.xml" Id="R525d70c80d1941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c139ecfe740c5" /><Relationship Type="http://schemas.openxmlformats.org/officeDocument/2006/relationships/image" Target="/ppt/media/image.png" Id="Rc1bbde1b15184589" /><Relationship Type="http://schemas.openxmlformats.org/officeDocument/2006/relationships/notesSlide" Target="/ppt/notesSlides/notesSlide15.xml" Id="R77926c84e8d8496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16e648d3a471d" /><Relationship Type="http://schemas.openxmlformats.org/officeDocument/2006/relationships/image" Target="/ppt/media/image.png" Id="Rb37361d262eb42c2" /><Relationship Type="http://schemas.openxmlformats.org/officeDocument/2006/relationships/notesSlide" Target="/ppt/notesSlides/notesSlide16.xml" Id="R0bb01550ac674fa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712af3e444508" /><Relationship Type="http://schemas.openxmlformats.org/officeDocument/2006/relationships/image" Target="/ppt/media/image.png" Id="R7abf1371f5b34b90" /><Relationship Type="http://schemas.openxmlformats.org/officeDocument/2006/relationships/notesSlide" Target="/ppt/notesSlides/notesSlide17.xml" Id="R58169a6369d24a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1">
            <a:extLst xmlns:a="http://schemas.openxmlformats.org/drawingml/2006/main">
              <a:ext uri="{FF2B5EF4-FFF2-40B4-BE49-F238E27FC236}">
                <a16:creationId xmlns:a16="http://schemas.microsoft.com/office/drawing/2014/main" id="{A77A674D-6B83-460F-A2A3-754CBFC3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7800929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5400"/>
              <a:buFont typeface="Arial"/>
              <a:buNone/>
            </a:pPr>
            <a:r>
              <a:rPr sz="54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Beating the 1X2</a:t>
            </a:r>
            <a:endParaRPr sz="5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1">
            <a:extLst xmlns:a="http://schemas.openxmlformats.org/drawingml/2006/main">
              <a:ext uri="{FF2B5EF4-FFF2-40B4-BE49-F238E27FC236}">
                <a16:creationId xmlns:a16="http://schemas.microsoft.com/office/drawing/2014/main" id="{02D4B73B-97ED-4274-8501-337DA78A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80360"/>
            <a:ext cx="755715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200"/>
              <a:buFont typeface="Arial"/>
              <a:buNone/>
            </a:pPr>
            <a:r>
              <a:rPr sz="22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Can machine learning beat football’s closing market?</a:t>
            </a:r>
            <a:endParaRPr sz="2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1">
            <a:extLst xmlns:a="http://schemas.openxmlformats.org/drawingml/2006/main">
              <a:ext uri="{FF2B5EF4-FFF2-40B4-BE49-F238E27FC236}">
                <a16:creationId xmlns:a16="http://schemas.microsoft.com/office/drawing/2014/main" id="{3A918751-A1FA-4D8D-84EC-025C354A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0"/>
            <a:ext cx="20116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>
            <a:extLst xmlns:a="http://schemas.openxmlformats.org/drawingml/2006/main">
              <a:ext uri="{FF2B5EF4-FFF2-40B4-BE49-F238E27FC236}">
                <a16:creationId xmlns:a16="http://schemas.microsoft.com/office/drawing/2014/main" id="{1DB45AC0-8A3E-4B4C-AB67-48908786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86200"/>
            <a:ext cx="755715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ADSP 32021: MLOps Final Project  ·  Professor Abado  ·  Summer 2026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1A1A1A"/>
                </a:solidFill>
                <a:latin typeface="Arial"/>
                <a:ea typeface="Arial"/>
                <a:cs typeface="Arial"/>
              </a:rPr>
              <a:t>Aren Mizuno  ·  Nick Dhaliwal  ·  Arthur Acker  ·  Nick Mikhail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github.com/arenmizuno/beating-1X2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1">
            <a:extLst xmlns:a="http://schemas.openxmlformats.org/drawingml/2006/main">
              <a:ext uri="{FF2B5EF4-FFF2-40B4-BE49-F238E27FC236}">
                <a16:creationId xmlns:a16="http://schemas.microsoft.com/office/drawing/2014/main" id="{AC8F5523-4230-4945-BEBE-39B1BA2C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2512"/>
            <a:ext cx="1223467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" name="Google Shape;21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e7079d546154b1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6304" y="6464808"/>
            <a:ext cx="244231" cy="3108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" name="Google Shape;22;p1">
            <a:extLst xmlns:a="http://schemas.openxmlformats.org/drawingml/2006/main">
              <a:ext uri="{FF2B5EF4-FFF2-40B4-BE49-F238E27FC236}">
                <a16:creationId xmlns:a16="http://schemas.microsoft.com/office/drawing/2014/main" id="{F72A7F90-420F-4F3C-BD6B-64F90897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75" y="6437376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UNIVERSITY OF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CHICAGO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00775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2">
            <a:extLst xmlns:a="http://schemas.openxmlformats.org/drawingml/2006/main">
              <a:ext uri="{FF2B5EF4-FFF2-40B4-BE49-F238E27FC236}">
                <a16:creationId xmlns:a16="http://schemas.microsoft.com/office/drawing/2014/main" id="{9B092FFD-8472-424E-88EC-8C6D6764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12745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sz="36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Meet the Team</a:t>
            </a:r>
            <a:endParaRPr sz="3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2">
            <a:extLst xmlns:a="http://schemas.openxmlformats.org/drawingml/2006/main">
              <a:ext uri="{FF2B5EF4-FFF2-40B4-BE49-F238E27FC236}">
                <a16:creationId xmlns:a16="http://schemas.microsoft.com/office/drawing/2014/main" id="{CE6E09B1-E14E-4192-BC7C-F603BBA1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4984"/>
            <a:ext cx="11274552" cy="155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>
            <a:extLst xmlns:a="http://schemas.openxmlformats.org/drawingml/2006/main">
              <a:ext uri="{FF2B5EF4-FFF2-40B4-BE49-F238E27FC236}">
                <a16:creationId xmlns:a16="http://schemas.microsoft.com/office/drawing/2014/main" id="{4CB08B68-1C82-4DCF-AAE2-988B8E5D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2512"/>
            <a:ext cx="1223467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31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46e06ea67748f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6304" y="6464808"/>
            <a:ext cx="244231" cy="3108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" name="Google Shape;32;p2">
            <a:extLst xmlns:a="http://schemas.openxmlformats.org/drawingml/2006/main">
              <a:ext uri="{FF2B5EF4-FFF2-40B4-BE49-F238E27FC236}">
                <a16:creationId xmlns:a16="http://schemas.microsoft.com/office/drawing/2014/main" id="{32C67392-09B5-45B2-B2F7-C5EFB591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75" y="6437376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UNIVERSITY OF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CHICAGO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Google Shape;33;p2">
            <a:extLst xmlns:a="http://schemas.openxmlformats.org/drawingml/2006/main">
              <a:ext uri="{FF2B5EF4-FFF2-40B4-BE49-F238E27FC236}">
                <a16:creationId xmlns:a16="http://schemas.microsoft.com/office/drawing/2014/main" id="{A6302D4B-30C2-447E-ADAE-3ACB632A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4" y="6382512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2">
            <a:extLst xmlns:a="http://schemas.openxmlformats.org/drawingml/2006/main">
              <a:ext uri="{FF2B5EF4-FFF2-40B4-BE49-F238E27FC236}">
                <a16:creationId xmlns:a16="http://schemas.microsoft.com/office/drawing/2014/main" id="{7A93473A-7486-4606-81AF-D4C85686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51" y="2913251"/>
            <a:ext cx="26334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Aren Mizuno</a:t>
            </a:r>
            <a:endParaRPr sz="1600" b="0" i="0" u="non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Google Shape;35;p2">
            <a:extLst xmlns:a="http://schemas.openxmlformats.org/drawingml/2006/main">
              <a:ext uri="{FF2B5EF4-FFF2-40B4-BE49-F238E27FC236}">
                <a16:creationId xmlns:a16="http://schemas.microsoft.com/office/drawing/2014/main" id="{587DB3FE-896B-41C0-99A4-7779C22E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67" y="3333875"/>
            <a:ext cx="2377500" cy="1993500"/>
          </a:xfrm>
          <a:prstGeom xmlns:a="http://schemas.openxmlformats.org/drawingml/2006/main" prst="roundRect">
            <a:avLst>
              <a:gd name="adj" fmla="val 275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9525" cmpd="sng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>
            <a:extLst xmlns:a="http://schemas.openxmlformats.org/drawingml/2006/main">
              <a:ext uri="{FF2B5EF4-FFF2-40B4-BE49-F238E27FC236}">
                <a16:creationId xmlns:a16="http://schemas.microsoft.com/office/drawing/2014/main" id="{0C0AA75E-D95A-4BF5-865F-C7320BA8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72" y="3461891"/>
            <a:ext cx="2084700" cy="173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50"/>
              <a:buFont typeface="Arial"/>
              <a:buChar char="•"/>
            </a:pPr>
            <a:r>
              <a:rPr sz="105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MS Applied Data Science, UChicago</a:t>
            </a:r>
            <a:endParaRPr sz="1050" b="0" i="0" u="non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737373"/>
              </a:buClr>
              <a:buSzPts val="1050"/>
              <a:buFont typeface="Arial"/>
              <a:buChar char="•"/>
            </a:pPr>
            <a:r>
              <a:rPr sz="105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BA Data Science &amp; Business Economics, UChicago</a:t>
            </a:r>
            <a:endParaRPr sz="1050" b="0" i="0" u="non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737373"/>
              </a:buClr>
              <a:buSzPts val="1050"/>
              <a:buFont typeface="Arial"/>
              <a:buChar char="•"/>
            </a:pPr>
            <a:r>
              <a:rPr sz="105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Data Science Intern, Actelligent</a:t>
            </a:r>
            <a:endParaRPr sz="1050" b="0" i="0" u="non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737373"/>
              </a:buClr>
              <a:buSzPts val="1050"/>
              <a:buFont typeface="Arial"/>
              <a:buChar char="•"/>
            </a:pPr>
            <a:r>
              <a:rPr sz="105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Data Science Intern, Morningstar</a:t>
            </a:r>
            <a:endParaRPr sz="1050" b="0" i="0" u="non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Google Shape;37;p2">
            <a:extLst xmlns:a="http://schemas.openxmlformats.org/drawingml/2006/main">
              <a:ext uri="{FF2B5EF4-FFF2-40B4-BE49-F238E27FC236}">
                <a16:creationId xmlns:a16="http://schemas.microsoft.com/office/drawing/2014/main" id="{523520ED-93F7-4F40-AB51-4D6EFD69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36" y="2913251"/>
            <a:ext cx="26334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None/>
            </a:pPr>
            <a:r>
              <a:rPr sz="1600">
                <a:solidFill>
                  <a:srgbClr val="800000"/>
                </a:solidFill>
              </a:rPr>
              <a:t>Arthur Acker</a:t>
            </a:r>
            <a:endParaRPr sz="1600" b="0" i="0" u="non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Google Shape;38;p2">
            <a:extLst xmlns:a="http://schemas.openxmlformats.org/drawingml/2006/main">
              <a:ext uri="{FF2B5EF4-FFF2-40B4-BE49-F238E27FC236}">
                <a16:creationId xmlns:a16="http://schemas.microsoft.com/office/drawing/2014/main" id="{D05AD214-42D2-4044-8850-5A363D1D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52" y="3333875"/>
            <a:ext cx="2377500" cy="1993500"/>
          </a:xfrm>
          <a:prstGeom xmlns:a="http://schemas.openxmlformats.org/drawingml/2006/main" prst="roundRect">
            <a:avLst>
              <a:gd name="adj" fmla="val 275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9525" cmpd="sng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>
            <a:extLst xmlns:a="http://schemas.openxmlformats.org/drawingml/2006/main">
              <a:ext uri="{FF2B5EF4-FFF2-40B4-BE49-F238E27FC236}">
                <a16:creationId xmlns:a16="http://schemas.microsoft.com/office/drawing/2014/main" id="{008A4B90-1699-457B-AFC7-D2903D87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156" y="3461891"/>
            <a:ext cx="2084700" cy="173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50"/>
              <a:buFont typeface="Arial"/>
              <a:buChar char="•"/>
            </a:pPr>
            <a:r>
              <a:rPr sz="105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MS Applied Data Science, UChicago</a:t>
            </a:r>
            <a:endParaRPr sz="1050" b="0" i="0" u="non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737373"/>
              </a:buClr>
              <a:buSzPts val="1050"/>
              <a:buFont typeface="Arial"/>
              <a:buChar char="•"/>
            </a:pPr>
            <a:r>
              <a:rPr sz="105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BS Data Science, UChicago</a:t>
            </a:r>
            <a:endParaRPr sz="1050" b="0" i="0" u="non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737373"/>
              </a:buClr>
              <a:buSzPts val="1050"/>
              <a:buFont typeface="Arial"/>
              <a:buChar char="•"/>
            </a:pPr>
            <a:r>
              <a:rPr sz="105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Data Science Project Manager, CharacTour</a:t>
            </a:r>
            <a:endParaRPr sz="1050" b="0" i="0" u="non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737373"/>
              </a:buClr>
              <a:buSzPts val="1050"/>
              <a:buFont typeface="Arial"/>
              <a:buChar char="•"/>
            </a:pPr>
            <a:r>
              <a:rPr sz="105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Data Science Team Member, Internet Equity Initiative</a:t>
            </a:r>
            <a:endParaRPr sz="1050" b="0" i="0" u="non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Google Shape;40;p2">
            <a:extLst xmlns:a="http://schemas.openxmlformats.org/drawingml/2006/main">
              <a:ext uri="{FF2B5EF4-FFF2-40B4-BE49-F238E27FC236}">
                <a16:creationId xmlns:a16="http://schemas.microsoft.com/office/drawing/2014/main" id="{40E96FB9-9623-4BC7-BED5-39D68697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20" y="2913251"/>
            <a:ext cx="26334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None/>
            </a:pPr>
            <a:r>
              <a:rPr sz="1600">
                <a:solidFill>
                  <a:srgbClr val="800000"/>
                </a:solidFill>
              </a:rPr>
              <a:t>Nick Mikhail</a:t>
            </a:r>
            <a:endParaRPr sz="1600" b="0" i="0" u="non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2">
            <a:extLst xmlns:a="http://schemas.openxmlformats.org/drawingml/2006/main">
              <a:ext uri="{FF2B5EF4-FFF2-40B4-BE49-F238E27FC236}">
                <a16:creationId xmlns:a16="http://schemas.microsoft.com/office/drawing/2014/main" id="{29F2E285-EE1C-43A5-97DC-E54209AF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36" y="3333875"/>
            <a:ext cx="2377500" cy="1993500"/>
          </a:xfrm>
          <a:prstGeom xmlns:a="http://schemas.openxmlformats.org/drawingml/2006/main" prst="roundRect">
            <a:avLst>
              <a:gd name="adj" fmla="val 275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9525" cmpd="sng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>
            <a:extLst xmlns:a="http://schemas.openxmlformats.org/drawingml/2006/main">
              <a:ext uri="{FF2B5EF4-FFF2-40B4-BE49-F238E27FC236}">
                <a16:creationId xmlns:a16="http://schemas.microsoft.com/office/drawing/2014/main" id="{E9CB8049-949F-4DE7-8205-AB1BBF3D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39" y="3461891"/>
            <a:ext cx="2084700" cy="173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50"/>
              <a:buFont typeface="Arial"/>
              <a:buChar char="•"/>
            </a:pPr>
            <a:r>
              <a:rPr sz="105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MS Applied Data Science, UChicago</a:t>
            </a:r>
            <a:endParaRPr sz="1050" b="0" i="0" u="none" cap="none">
              <a:solidFill>
                <a:srgbClr val="73737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50"/>
              <a:buChar char="•"/>
            </a:pPr>
            <a:r>
              <a:rPr sz="1050">
                <a:solidFill>
                  <a:srgbClr val="737373"/>
                </a:solidFill>
              </a:rPr>
              <a:t>BA Psychology &amp; Minor in Data Science, UChicago</a:t>
            </a:r>
            <a:endParaRPr sz="1050">
              <a:solidFill>
                <a:srgbClr val="737373"/>
              </a:solidFill>
            </a:endParaRPr>
          </a:p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50"/>
              <a:buChar char="•"/>
            </a:pPr>
            <a:r>
              <a:rPr sz="1050">
                <a:solidFill>
                  <a:srgbClr val="737373"/>
                </a:solidFill>
              </a:rPr>
              <a:t>Research Assistant, Social-Human AI Interactions and Impressions Lab</a:t>
            </a:r>
            <a:endParaRPr sz="1050">
              <a:solidFill>
                <a:srgbClr val="737373"/>
              </a:solidFill>
            </a:endParaRPr>
          </a:p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50"/>
              <a:buChar char="•"/>
            </a:pPr>
            <a:r>
              <a:rPr sz="1050">
                <a:solidFill>
                  <a:srgbClr val="737373"/>
                </a:solidFill>
              </a:rPr>
              <a:t>Research Assistant, UChicago Light Lab</a:t>
            </a:r>
            <a:endParaRPr sz="1050">
              <a:solidFill>
                <a:srgbClr val="737373"/>
              </a:solidFill>
            </a:endParaRPr>
          </a:p>
        </p:txBody>
      </p:sp>
      <p:sp>
        <p:nvSpPr>
          <p:cNvPr id="43" name="Google Shape;43;p2">
            <a:extLst xmlns:a="http://schemas.openxmlformats.org/drawingml/2006/main">
              <a:ext uri="{FF2B5EF4-FFF2-40B4-BE49-F238E27FC236}">
                <a16:creationId xmlns:a16="http://schemas.microsoft.com/office/drawing/2014/main" id="{A82D3FB0-CEFE-4BAC-93A0-A352AB34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04" y="2913251"/>
            <a:ext cx="26334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Nick Dhaliwal</a:t>
            </a:r>
            <a:endParaRPr sz="1600" b="0" i="0" u="non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2">
            <a:extLst xmlns:a="http://schemas.openxmlformats.org/drawingml/2006/main">
              <a:ext uri="{FF2B5EF4-FFF2-40B4-BE49-F238E27FC236}">
                <a16:creationId xmlns:a16="http://schemas.microsoft.com/office/drawing/2014/main" id="{CF4922EE-74AC-455A-AE1D-76B518EC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20" y="3333875"/>
            <a:ext cx="2377500" cy="1993500"/>
          </a:xfrm>
          <a:prstGeom xmlns:a="http://schemas.openxmlformats.org/drawingml/2006/main" prst="roundRect">
            <a:avLst>
              <a:gd name="adj" fmla="val 275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9525" cmpd="sng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>
            <a:extLst xmlns:a="http://schemas.openxmlformats.org/drawingml/2006/main">
              <a:ext uri="{FF2B5EF4-FFF2-40B4-BE49-F238E27FC236}">
                <a16:creationId xmlns:a16="http://schemas.microsoft.com/office/drawing/2014/main" id="{AA4860C1-1283-4650-9DE0-5496FEEC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24" y="3461891"/>
            <a:ext cx="2084700" cy="173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50"/>
              <a:buFont typeface="Arial"/>
              <a:buChar char="•"/>
            </a:pPr>
            <a:r>
              <a:rPr sz="105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MS Applied Data Science, UChicago</a:t>
            </a:r>
            <a:endParaRPr sz="1050" b="0" i="0" u="none" cap="none">
              <a:solidFill>
                <a:srgbClr val="73737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50"/>
              <a:buChar char="•"/>
            </a:pPr>
            <a:r>
              <a:rPr sz="1050">
                <a:solidFill>
                  <a:srgbClr val="737373"/>
                </a:solidFill>
              </a:rPr>
              <a:t>BA Economics; Legal Studies, UC Berkeley</a:t>
            </a:r>
            <a:endParaRPr sz="1050">
              <a:solidFill>
                <a:srgbClr val="737373"/>
              </a:solidFill>
            </a:endParaRPr>
          </a:p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50"/>
              <a:buChar char="•"/>
            </a:pPr>
            <a:r>
              <a:rPr sz="1050">
                <a:solidFill>
                  <a:srgbClr val="737373"/>
                </a:solidFill>
              </a:rPr>
              <a:t>Asset Pricing Research, Economics Department, UC Berkeley</a:t>
            </a:r>
            <a:endParaRPr sz="1050">
              <a:solidFill>
                <a:srgbClr val="737373"/>
              </a:solidFill>
            </a:endParaRPr>
          </a:p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50"/>
              <a:buChar char="•"/>
            </a:pPr>
            <a:r>
              <a:rPr sz="1050">
                <a:solidFill>
                  <a:srgbClr val="737373"/>
                </a:solidFill>
              </a:rPr>
              <a:t>Business and Operations Analyst, Grocery Chain</a:t>
            </a:r>
            <a:endParaRPr sz="1050">
              <a:solidFill>
                <a:srgbClr val="737373"/>
              </a:solidFill>
            </a:endParaRPr>
          </a:p>
        </p:txBody>
      </p:sp>
      <p:sp>
        <p:nvSpPr>
          <p:cNvPr id="46" name="Google Shape;46;p2">
            <a:extLst xmlns:a="http://schemas.openxmlformats.org/drawingml/2006/main">
              <a:ext uri="{FF2B5EF4-FFF2-40B4-BE49-F238E27FC236}">
                <a16:creationId xmlns:a16="http://schemas.microsoft.com/office/drawing/2014/main" id="{1CE14E5F-5CED-4D52-B713-FDBD04D9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981" y="1399998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47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91528e99fbc402e">
            <a:alphaModFix/>
          </a:blip>
          <a:srcRect xmlns:a="http://schemas.openxmlformats.org/drawingml/2006/main" l="-1409" t="-1419" r="-1419" b="-1409"/>
          <a:stretch xmlns:a="http://schemas.openxmlformats.org/drawingml/2006/main"/>
        </p:blipFill>
        <p:spPr>
          <a:xfrm xmlns:a="http://schemas.openxmlformats.org/drawingml/2006/main">
            <a:off x="1005888" y="1294825"/>
            <a:ext cx="1645800" cy="1645800"/>
          </a:xfrm>
          <a:prstGeom xmlns:a="http://schemas.openxmlformats.org/drawingml/2006/main" prst="ellipse">
            <a:avLst/>
          </a:prstGeom>
          <a:ln xmlns:a="http://schemas.openxmlformats.org/drawingml/2006/main">
            <a:noFill/>
          </a:ln>
        </p:spPr>
      </p:pic>
      <p:pic>
        <p:nvPicPr>
          <p:cNvPr id="72" name="Google Shape;48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0e08a4ca777461b">
            <a:alphaModFix/>
          </a:blip>
          <a:srcRect xmlns:a="http://schemas.openxmlformats.org/drawingml/2006/main" l="0" t="60" r="0" b="60"/>
          <a:stretch xmlns:a="http://schemas.openxmlformats.org/drawingml/2006/main"/>
        </p:blipFill>
        <p:spPr>
          <a:xfrm xmlns:a="http://schemas.openxmlformats.org/drawingml/2006/main">
            <a:off x="6752525" y="1434900"/>
            <a:ext cx="1496400" cy="1494600"/>
          </a:xfrm>
          <a:prstGeom xmlns:a="http://schemas.openxmlformats.org/drawingml/2006/main" prst="ellipse">
            <a:avLst/>
          </a:prstGeom>
          <a:ln xmlns:a="http://schemas.openxmlformats.org/drawingml/2006/main">
            <a:noFill/>
          </a:ln>
        </p:spPr>
      </p:pic>
      <p:pic>
        <p:nvPicPr>
          <p:cNvPr id="73" name="Google Shape;49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426f5aa144de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11163" y="1452000"/>
            <a:ext cx="1460400" cy="1460400"/>
          </a:xfrm>
          <a:prstGeom xmlns:a="http://schemas.openxmlformats.org/drawingml/2006/main" prst="ellipse">
            <a:avLst/>
          </a:prstGeom>
          <a:ln xmlns:a="http://schemas.openxmlformats.org/drawingml/2006/main">
            <a:noFill/>
          </a:ln>
        </p:spPr>
      </p:pic>
      <p:pic>
        <p:nvPicPr>
          <p:cNvPr id="74" name="Google Shape;50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75aad94a5c14e35">
            <a:alphaModFix/>
          </a:blip>
          <a:srcRect xmlns:a="http://schemas.openxmlformats.org/drawingml/2006/main" l="0" t="3568" r="0" b="0"/>
          <a:stretch xmlns:a="http://schemas.openxmlformats.org/drawingml/2006/main"/>
        </p:blipFill>
        <p:spPr>
          <a:xfrm xmlns:a="http://schemas.openxmlformats.org/drawingml/2006/main">
            <a:off x="9629875" y="1417250"/>
            <a:ext cx="1460400" cy="1441200"/>
          </a:xfrm>
          <a:prstGeom xmlns:a="http://schemas.openxmlformats.org/drawingml/2006/main" prst="ellipse">
            <a:avLst/>
          </a:prstGeom>
          <a:ln xmlns:a="http://schemas.openxmlformats.org/drawingml/2006/main" w="9525" cap="flat" cmpd="sng">
            <a:solidFill>
              <a:srgbClr val="A6A6A6"/>
            </a:solidFill>
            <a:prstDash val="solid"/>
            <a:round/>
          </a:ln>
        </p:spPr>
      </p:pic>
    </p:spTree>
    <p:extLst>
      <p:ext uri="{BB962C8B-B14F-4D97-AF65-F5344CB8AC3E}">
        <p14:creationId xmlns:p14="http://schemas.microsoft.com/office/powerpoint/2010/main" val="14312621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Google Shape;56;p3">
            <a:extLst xmlns:a="http://schemas.openxmlformats.org/drawingml/2006/main">
              <a:ext uri="{FF2B5EF4-FFF2-40B4-BE49-F238E27FC236}">
                <a16:creationId xmlns:a16="http://schemas.microsoft.com/office/drawing/2014/main" id="{35AE2875-26B4-4F11-A3F4-9F8562FA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12745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sz="36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Problem Statement</a:t>
            </a:r>
            <a:endParaRPr sz="3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Google Shape;57;p3">
            <a:extLst xmlns:a="http://schemas.openxmlformats.org/drawingml/2006/main">
              <a:ext uri="{FF2B5EF4-FFF2-40B4-BE49-F238E27FC236}">
                <a16:creationId xmlns:a16="http://schemas.microsoft.com/office/drawing/2014/main" id="{273F36BD-5EB3-4795-A5F4-0941C605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4984"/>
            <a:ext cx="11274552" cy="155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>
            <a:extLst xmlns:a="http://schemas.openxmlformats.org/drawingml/2006/main">
              <a:ext uri="{FF2B5EF4-FFF2-40B4-BE49-F238E27FC236}">
                <a16:creationId xmlns:a16="http://schemas.microsoft.com/office/drawing/2014/main" id="{A4F3B2B0-CBAE-4635-9E9D-A48F604D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0160"/>
            <a:ext cx="112745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>
            <a:extLst xmlns:a="http://schemas.openxmlformats.org/drawingml/2006/main">
              <a:ext uri="{FF2B5EF4-FFF2-40B4-BE49-F238E27FC236}">
                <a16:creationId xmlns:a16="http://schemas.microsoft.com/office/drawing/2014/main" id="{1B8E7A2A-5B37-4C96-B933-1355A1A7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371600"/>
            <a:ext cx="10762488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Font typeface="Arial"/>
              <a:buNone/>
            </a:pPr>
            <a:r>
              <a:rPr sz="1200" b="1" i="0" u="none" cap="none">
                <a:solidFill>
                  <a:srgbClr val="D9D9D9"/>
                </a:solidFill>
                <a:latin typeface="Arial"/>
                <a:ea typeface="Arial"/>
                <a:cs typeface="Arial"/>
              </a:rPr>
              <a:t>Research question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sz="2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Can public pre-kickoff signals beat the closing line—or improve it when the market is included as an input?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3">
            <a:extLst xmlns:a="http://schemas.openxmlformats.org/drawingml/2006/main">
              <a:ext uri="{FF2B5EF4-FFF2-40B4-BE49-F238E27FC236}">
                <a16:creationId xmlns:a16="http://schemas.microsoft.com/office/drawing/2014/main" id="{7535B6AF-288C-456D-959F-B2B3C5F8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3744"/>
            <a:ext cx="5394960" cy="1572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>
            <a:extLst xmlns:a="http://schemas.openxmlformats.org/drawingml/2006/main">
              <a:ext uri="{FF2B5EF4-FFF2-40B4-BE49-F238E27FC236}">
                <a16:creationId xmlns:a16="http://schemas.microsoft.com/office/drawing/2014/main" id="{0226807C-F830-4331-B81C-273CEE4A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615184"/>
            <a:ext cx="4992624" cy="1389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The task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Two-track classification of Home / Draw / Away using only information available before kickoff.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3">
            <a:extLst xmlns:a="http://schemas.openxmlformats.org/drawingml/2006/main">
              <a:ext uri="{FF2B5EF4-FFF2-40B4-BE49-F238E27FC236}">
                <a16:creationId xmlns:a16="http://schemas.microsoft.com/office/drawing/2014/main" id="{6337156F-C3D5-408E-98AE-38F3F176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523744"/>
            <a:ext cx="5394960" cy="1572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>
            <a:extLst xmlns:a="http://schemas.openxmlformats.org/drawingml/2006/main">
              <a:ext uri="{FF2B5EF4-FFF2-40B4-BE49-F238E27FC236}">
                <a16:creationId xmlns:a16="http://schemas.microsoft.com/office/drawing/2014/main" id="{55CACFAE-951B-4E71-84CB-54A6DDA2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615184"/>
            <a:ext cx="4992624" cy="1389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The value bet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Flag a wager where model probability exceeds the market-implied probability by more than a threshold.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3">
            <a:extLst xmlns:a="http://schemas.openxmlformats.org/drawingml/2006/main">
              <a:ext uri="{FF2B5EF4-FFF2-40B4-BE49-F238E27FC236}">
                <a16:creationId xmlns:a16="http://schemas.microsoft.com/office/drawing/2014/main" id="{C59A15B5-A585-45DD-ACC4-75950B34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4528"/>
            <a:ext cx="5394960" cy="1572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>
            <a:extLst xmlns:a="http://schemas.openxmlformats.org/drawingml/2006/main">
              <a:ext uri="{FF2B5EF4-FFF2-40B4-BE49-F238E27FC236}">
                <a16:creationId xmlns:a16="http://schemas.microsoft.com/office/drawing/2014/main" id="{ADA80A78-700F-4BD7-9382-D2FE9519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315968"/>
            <a:ext cx="4992624" cy="1389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What “beating the market” means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A lower probabilistic log loss than the vig-free closing line: a genuine informational edge, not just better accuracy.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Google Shape;66;p3">
            <a:extLst xmlns:a="http://schemas.openxmlformats.org/drawingml/2006/main">
              <a:ext uri="{FF2B5EF4-FFF2-40B4-BE49-F238E27FC236}">
                <a16:creationId xmlns:a16="http://schemas.microsoft.com/office/drawing/2014/main" id="{16E9F5BE-B360-4D3A-8D11-8720A01B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4224528"/>
            <a:ext cx="5394960" cy="1572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>
            <a:extLst xmlns:a="http://schemas.openxmlformats.org/drawingml/2006/main">
              <a:ext uri="{FF2B5EF4-FFF2-40B4-BE49-F238E27FC236}">
                <a16:creationId xmlns:a16="http://schemas.microsoft.com/office/drawing/2014/main" id="{777E4520-4BD1-402B-B169-7E6AEAF5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4992624" cy="1389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Why it is hard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The closing line aggregates the sharpest money, so beating it is the standard test of market efficiency.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Google Shape;68;p3">
            <a:extLst xmlns:a="http://schemas.openxmlformats.org/drawingml/2006/main">
              <a:ext uri="{FF2B5EF4-FFF2-40B4-BE49-F238E27FC236}">
                <a16:creationId xmlns:a16="http://schemas.microsoft.com/office/drawing/2014/main" id="{F1F6A8A1-6000-4A4C-BB07-6A5ECB3B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2512"/>
            <a:ext cx="1223467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69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8b0648fb84b41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6304" y="6464808"/>
            <a:ext cx="244231" cy="3108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3">
            <a:extLst xmlns:a="http://schemas.openxmlformats.org/drawingml/2006/main">
              <a:ext uri="{FF2B5EF4-FFF2-40B4-BE49-F238E27FC236}">
                <a16:creationId xmlns:a16="http://schemas.microsoft.com/office/drawing/2014/main" id="{CA84FA56-6E2F-4323-BCEC-B498BBA7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75" y="6437376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UNIVERSITY OF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CHICAGO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" name="Google Shape;71;p3">
            <a:extLst xmlns:a="http://schemas.openxmlformats.org/drawingml/2006/main">
              <a:ext uri="{FF2B5EF4-FFF2-40B4-BE49-F238E27FC236}">
                <a16:creationId xmlns:a16="http://schemas.microsoft.com/office/drawing/2014/main" id="{35EAD356-C378-4146-B8C9-6C4C0219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4" y="6382512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150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p4">
            <a:extLst xmlns:a="http://schemas.openxmlformats.org/drawingml/2006/main">
              <a:ext uri="{FF2B5EF4-FFF2-40B4-BE49-F238E27FC236}">
                <a16:creationId xmlns:a16="http://schemas.microsoft.com/office/drawing/2014/main" id="{C621E8A8-04CD-4817-8132-D9822302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12745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sz="36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Data &amp; EDA</a:t>
            </a:r>
            <a:endParaRPr sz="3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4">
            <a:extLst xmlns:a="http://schemas.openxmlformats.org/drawingml/2006/main">
              <a:ext uri="{FF2B5EF4-FFF2-40B4-BE49-F238E27FC236}">
                <a16:creationId xmlns:a16="http://schemas.microsoft.com/office/drawing/2014/main" id="{2A00B1DA-4548-470C-960A-584883DE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4984"/>
            <a:ext cx="11274552" cy="155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>
            <a:extLst xmlns:a="http://schemas.openxmlformats.org/drawingml/2006/main">
              <a:ext uri="{FF2B5EF4-FFF2-40B4-BE49-F238E27FC236}">
                <a16:creationId xmlns:a16="http://schemas.microsoft.com/office/drawing/2014/main" id="{6146EA6D-69EA-409C-A14E-5AD59B72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8448"/>
            <a:ext cx="35204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>
            <a:extLst xmlns:a="http://schemas.openxmlformats.org/drawingml/2006/main">
              <a:ext uri="{FF2B5EF4-FFF2-40B4-BE49-F238E27FC236}">
                <a16:creationId xmlns:a16="http://schemas.microsoft.com/office/drawing/2014/main" id="{2E1FC54F-F223-44E0-BD46-C7030FB4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53312"/>
            <a:ext cx="146304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000"/>
              <a:buFont typeface="Arial"/>
              <a:buNone/>
            </a:pPr>
            <a:r>
              <a:rPr sz="30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14,285</a:t>
            </a:r>
            <a:endParaRPr sz="3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81;p4">
            <a:extLst xmlns:a="http://schemas.openxmlformats.org/drawingml/2006/main">
              <a:ext uri="{FF2B5EF4-FFF2-40B4-BE49-F238E27FC236}">
                <a16:creationId xmlns:a16="http://schemas.microsoft.com/office/drawing/2014/main" id="{3A573F4E-D03E-4D47-9A77-A9ACA963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353312"/>
            <a:ext cx="1709928" cy="804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matches ingested, 2018-19 to 2025-26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" name="Google Shape;82;p4">
            <a:extLst xmlns:a="http://schemas.openxmlformats.org/drawingml/2006/main">
              <a:ext uri="{FF2B5EF4-FFF2-40B4-BE49-F238E27FC236}">
                <a16:creationId xmlns:a16="http://schemas.microsoft.com/office/drawing/2014/main" id="{311FB531-AD38-48DE-9336-A8F0CDF8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298448"/>
            <a:ext cx="35204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>
            <a:extLst xmlns:a="http://schemas.openxmlformats.org/drawingml/2006/main">
              <a:ext uri="{FF2B5EF4-FFF2-40B4-BE49-F238E27FC236}">
                <a16:creationId xmlns:a16="http://schemas.microsoft.com/office/drawing/2014/main" id="{2B56D54E-13EC-4BAE-AAC4-95F73636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1353312"/>
            <a:ext cx="146304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000"/>
              <a:buFont typeface="Arial"/>
              <a:buNone/>
            </a:pPr>
            <a:r>
              <a:rPr sz="30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13,786</a:t>
            </a:r>
            <a:endParaRPr sz="3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" name="Google Shape;84;p4">
            <a:extLst xmlns:a="http://schemas.openxmlformats.org/drawingml/2006/main">
              <a:ext uri="{FF2B5EF4-FFF2-40B4-BE49-F238E27FC236}">
                <a16:creationId xmlns:a16="http://schemas.microsoft.com/office/drawing/2014/main" id="{050E13DD-73E1-495A-8FE3-39F55B86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3312"/>
            <a:ext cx="1709928" cy="804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usable once both sides need prior history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" name="Google Shape;85;p4">
            <a:extLst xmlns:a="http://schemas.openxmlformats.org/drawingml/2006/main">
              <a:ext uri="{FF2B5EF4-FFF2-40B4-BE49-F238E27FC236}">
                <a16:creationId xmlns:a16="http://schemas.microsoft.com/office/drawing/2014/main" id="{DCC2B6DE-8B97-4F45-A663-E94F06F5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298448"/>
            <a:ext cx="35204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>
            <a:extLst xmlns:a="http://schemas.openxmlformats.org/drawingml/2006/main">
              <a:ext uri="{FF2B5EF4-FFF2-40B4-BE49-F238E27FC236}">
                <a16:creationId xmlns:a16="http://schemas.microsoft.com/office/drawing/2014/main" id="{A7F0700B-4ACD-446D-9446-48BFEB35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353312"/>
            <a:ext cx="146304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000"/>
              <a:buFont typeface="Arial"/>
              <a:buNone/>
            </a:pPr>
            <a:r>
              <a:rPr sz="30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99.99%</a:t>
            </a:r>
            <a:endParaRPr sz="3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4">
            <a:extLst xmlns:a="http://schemas.openxmlformats.org/drawingml/2006/main">
              <a:ext uri="{FF2B5EF4-FFF2-40B4-BE49-F238E27FC236}">
                <a16:creationId xmlns:a16="http://schemas.microsoft.com/office/drawing/2014/main" id="{6B80EC21-7C81-4F97-9A2A-79F3A6A6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353312"/>
            <a:ext cx="1709928" cy="804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cross-source join rate (14,284 / 14,285)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Google Shape;88;p4">
            <a:extLst xmlns:a="http://schemas.openxmlformats.org/drawingml/2006/main">
              <a:ext uri="{FF2B5EF4-FFF2-40B4-BE49-F238E27FC236}">
                <a16:creationId xmlns:a16="http://schemas.microsoft.com/office/drawing/2014/main" id="{A7A93EE6-2B7B-4797-847B-574A29DA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95728"/>
            <a:ext cx="53949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sz="20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Three sources, one row per match</a:t>
            </a:r>
            <a:endParaRPr sz="2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4">
            <a:extLst xmlns:a="http://schemas.openxmlformats.org/drawingml/2006/main">
              <a:ext uri="{FF2B5EF4-FFF2-40B4-BE49-F238E27FC236}">
                <a16:creationId xmlns:a16="http://schemas.microsoft.com/office/drawing/2014/main" id="{F6CB9245-816C-45F4-9A5D-86F64C5D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5394960" cy="219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500"/>
              <a:buFont typeface="Arial"/>
              <a:buChar char="•"/>
            </a:pPr>
            <a:r>
              <a:rPr sz="15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football-data.co.uk: closing odds and results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1500"/>
              <a:buFont typeface="Arial"/>
              <a:buChar char="•"/>
            </a:pPr>
            <a:r>
              <a:rPr sz="15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Understat: shot-level expected goals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1500"/>
              <a:buFont typeface="Arial"/>
              <a:buChar char="•"/>
            </a:pPr>
            <a:r>
              <a:rPr sz="15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ClubElo: team strength ratings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1500"/>
              <a:buFont typeface="Arial"/>
              <a:buChar char="•"/>
            </a:pPr>
            <a:r>
              <a:rPr sz="15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Top-5 European leagues: EPL, La Liga, Bundesliga, Serie A, Ligue 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4">
            <a:extLst xmlns:a="http://schemas.openxmlformats.org/drawingml/2006/main">
              <a:ext uri="{FF2B5EF4-FFF2-40B4-BE49-F238E27FC236}">
                <a16:creationId xmlns:a16="http://schemas.microsoft.com/office/drawing/2014/main" id="{BF531DC1-F4E4-4A79-ADEF-FB3F0530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395728"/>
            <a:ext cx="5394960" cy="2615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>
            <a:extLst xmlns:a="http://schemas.openxmlformats.org/drawingml/2006/main">
              <a:ext uri="{FF2B5EF4-FFF2-40B4-BE49-F238E27FC236}">
                <a16:creationId xmlns:a16="http://schemas.microsoft.com/office/drawing/2014/main" id="{AD77DF17-C9F2-4903-8C5C-B95E7DE6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523744"/>
            <a:ext cx="4992624" cy="2359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EDA highlight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Home advantage is persistent: the home-win rate holds at 44 to 45% in every season except 2020-21, when it fell to 39.8% with empty stadiums.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800"/>
              </a:spcBef>
              <a:spcAft>
                <a:spcPts val="0"/>
              </a:spcAft>
              <a:buClr>
                <a:srgbClr val="D9D9D9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rgbClr val="D9D9D9"/>
                </a:solidFill>
                <a:latin typeface="Arial"/>
                <a:ea typeface="Arial"/>
                <a:cs typeface="Arial"/>
              </a:rPr>
              <a:t>That dip is not noise. It returns on the monitoring slide as target drift at p &lt; 0.0001, measured against a pre-COVID reference window.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4">
            <a:extLst xmlns:a="http://schemas.openxmlformats.org/drawingml/2006/main">
              <a:ext uri="{FF2B5EF4-FFF2-40B4-BE49-F238E27FC236}">
                <a16:creationId xmlns:a16="http://schemas.microsoft.com/office/drawing/2014/main" id="{001E375F-17C4-4579-A670-A8067D82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0368"/>
            <a:ext cx="27432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Class balance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4">
            <a:extLst xmlns:a="http://schemas.openxmlformats.org/drawingml/2006/main">
              <a:ext uri="{FF2B5EF4-FFF2-40B4-BE49-F238E27FC236}">
                <a16:creationId xmlns:a16="http://schemas.microsoft.com/office/drawing/2014/main" id="{78162B59-0866-44A0-AFD3-A64FDF72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4688"/>
            <a:ext cx="4960803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>
            <a:extLst xmlns:a="http://schemas.openxmlformats.org/drawingml/2006/main">
              <a:ext uri="{FF2B5EF4-FFF2-40B4-BE49-F238E27FC236}">
                <a16:creationId xmlns:a16="http://schemas.microsoft.com/office/drawing/2014/main" id="{E4FE189E-CF82-4411-99D9-67F8B928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4688"/>
            <a:ext cx="4960803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Home win  44%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4">
            <a:extLst xmlns:a="http://schemas.openxmlformats.org/drawingml/2006/main">
              <a:ext uri="{FF2B5EF4-FFF2-40B4-BE49-F238E27FC236}">
                <a16:creationId xmlns:a16="http://schemas.microsoft.com/office/drawing/2014/main" id="{26D5FFE7-40BF-4947-BBBD-3E1B3917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003" y="5504688"/>
            <a:ext cx="2931384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>
            <a:extLst xmlns:a="http://schemas.openxmlformats.org/drawingml/2006/main">
              <a:ext uri="{FF2B5EF4-FFF2-40B4-BE49-F238E27FC236}">
                <a16:creationId xmlns:a16="http://schemas.microsoft.com/office/drawing/2014/main" id="{368E99D4-F216-44A2-A318-F6E33DB1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003" y="5504688"/>
            <a:ext cx="2931384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rgbClr val="1A1A1A"/>
                </a:solidFill>
                <a:latin typeface="Arial"/>
                <a:ea typeface="Arial"/>
                <a:cs typeface="Arial"/>
              </a:rPr>
              <a:t>Draw  26%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4">
            <a:extLst xmlns:a="http://schemas.openxmlformats.org/drawingml/2006/main">
              <a:ext uri="{FF2B5EF4-FFF2-40B4-BE49-F238E27FC236}">
                <a16:creationId xmlns:a16="http://schemas.microsoft.com/office/drawing/2014/main" id="{86205509-7B41-48FF-81F8-0707C507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9386" y="5504688"/>
            <a:ext cx="3382366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>
            <a:extLst xmlns:a="http://schemas.openxmlformats.org/drawingml/2006/main">
              <a:ext uri="{FF2B5EF4-FFF2-40B4-BE49-F238E27FC236}">
                <a16:creationId xmlns:a16="http://schemas.microsoft.com/office/drawing/2014/main" id="{A4FA89B5-8C2F-4E9B-BACF-BF7F5D97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9386" y="5504688"/>
            <a:ext cx="338236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Away win  30%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" name="Google Shape;99;p4">
            <a:extLst xmlns:a="http://schemas.openxmlformats.org/drawingml/2006/main">
              <a:ext uri="{FF2B5EF4-FFF2-40B4-BE49-F238E27FC236}">
                <a16:creationId xmlns:a16="http://schemas.microsoft.com/office/drawing/2014/main" id="{7506A2D8-AF84-471A-B1D8-BB05D524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2512"/>
            <a:ext cx="1223467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00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7ed03bda40644c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6304" y="6464808"/>
            <a:ext cx="244231" cy="3108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1" name="Google Shape;101;p4">
            <a:extLst xmlns:a="http://schemas.openxmlformats.org/drawingml/2006/main">
              <a:ext uri="{FF2B5EF4-FFF2-40B4-BE49-F238E27FC236}">
                <a16:creationId xmlns:a16="http://schemas.microsoft.com/office/drawing/2014/main" id="{6E23FD4C-E3C7-42C7-B5B6-B63DCCC8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75" y="6437376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UNIVERSITY OF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CHICAGO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" name="Google Shape;102;p4">
            <a:extLst xmlns:a="http://schemas.openxmlformats.org/drawingml/2006/main">
              <a:ext uri="{FF2B5EF4-FFF2-40B4-BE49-F238E27FC236}">
                <a16:creationId xmlns:a16="http://schemas.microsoft.com/office/drawing/2014/main" id="{4F96226C-C7D9-455D-B915-E09A11C1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4" y="6382512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0864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Google Shape;108;p5">
            <a:extLst xmlns:a="http://schemas.openxmlformats.org/drawingml/2006/main">
              <a:ext uri="{FF2B5EF4-FFF2-40B4-BE49-F238E27FC236}">
                <a16:creationId xmlns:a16="http://schemas.microsoft.com/office/drawing/2014/main" id="{4C7034B0-EC8D-460E-B6E2-9ECC5499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12745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sz="36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Evaluation Metric &amp; Two Baselines</a:t>
            </a:r>
            <a:endParaRPr sz="3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5">
            <a:extLst xmlns:a="http://schemas.openxmlformats.org/drawingml/2006/main">
              <a:ext uri="{FF2B5EF4-FFF2-40B4-BE49-F238E27FC236}">
                <a16:creationId xmlns:a16="http://schemas.microsoft.com/office/drawing/2014/main" id="{10BA9229-FD56-47B8-9044-7AF97FF2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4984"/>
            <a:ext cx="11274552" cy="155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>
            <a:extLst xmlns:a="http://schemas.openxmlformats.org/drawingml/2006/main">
              <a:ext uri="{FF2B5EF4-FFF2-40B4-BE49-F238E27FC236}">
                <a16:creationId xmlns:a16="http://schemas.microsoft.com/office/drawing/2014/main" id="{6669F454-66C9-4323-9EB7-CF3ED1A5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6736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None/>
            </a:pPr>
            <a:r>
              <a:rPr sz="20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Primary metric</a:t>
            </a:r>
            <a:endParaRPr sz="2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5">
            <a:extLst xmlns:a="http://schemas.openxmlformats.org/drawingml/2006/main">
              <a:ext uri="{FF2B5EF4-FFF2-40B4-BE49-F238E27FC236}">
                <a16:creationId xmlns:a16="http://schemas.microsoft.com/office/drawing/2014/main" id="{7BFC5616-706A-4AD2-BD46-4C7B3A9F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3936"/>
            <a:ext cx="512064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500"/>
              <a:buFont typeface="Arial"/>
              <a:buChar char="•"/>
            </a:pPr>
            <a:r>
              <a:rPr sz="15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Multiclass log loss: a proper scoring rule that punishes overconfident probabilities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1500"/>
              <a:buFont typeface="Arial"/>
              <a:buChar char="•"/>
            </a:pPr>
            <a:r>
              <a:rPr sz="15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The right lens for betting, where a calibrated probability matters more than raw accuracy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1500"/>
              <a:buFont typeface="Arial"/>
              <a:buChar char="•"/>
            </a:pPr>
            <a:r>
              <a:rPr sz="15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Secondary: Brier score, ECE for calibration, accuracy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1500"/>
              <a:buFont typeface="Arial"/>
              <a:buChar char="•"/>
            </a:pPr>
            <a:r>
              <a:rPr sz="15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Accuracy alone is useless here: a 44% home-win prior gets you most of the way with no skill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5">
            <a:extLst xmlns:a="http://schemas.openxmlformats.org/drawingml/2006/main">
              <a:ext uri="{FF2B5EF4-FFF2-40B4-BE49-F238E27FC236}">
                <a16:creationId xmlns:a16="http://schemas.microsoft.com/office/drawing/2014/main" id="{F049E487-1EE8-4791-AB2F-21BF33BD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316736"/>
            <a:ext cx="5879592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>
            <a:extLst xmlns:a="http://schemas.openxmlformats.org/drawingml/2006/main">
              <a:ext uri="{FF2B5EF4-FFF2-40B4-BE49-F238E27FC236}">
                <a16:creationId xmlns:a16="http://schemas.microsoft.com/office/drawing/2014/main" id="{47EED1A2-EBA2-49A4-A6B7-5249C3CC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01952"/>
            <a:ext cx="16002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Arial"/>
              <a:buNone/>
            </a:pPr>
            <a:r>
              <a:rPr sz="28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0.9691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5">
            <a:extLst xmlns:a="http://schemas.openxmlformats.org/drawingml/2006/main">
              <a:ext uri="{FF2B5EF4-FFF2-40B4-BE49-F238E27FC236}">
                <a16:creationId xmlns:a16="http://schemas.microsoft.com/office/drawing/2014/main" id="{57EF47D2-196F-4A83-91F7-939AFD1F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1426464"/>
            <a:ext cx="3840480" cy="1517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1A1A1A"/>
                </a:solidFill>
                <a:latin typeface="Arial"/>
                <a:ea typeface="Arial"/>
                <a:cs typeface="Arial"/>
              </a:rPr>
              <a:t>Vig-free closing market line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Shin devig. The bar to clear: the sharpest public probability there is. Doubles as a leakage tripwire, since a sharp line lands near 0.95 to 1.02.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5">
            <a:extLst xmlns:a="http://schemas.openxmlformats.org/drawingml/2006/main">
              <a:ext uri="{FF2B5EF4-FFF2-40B4-BE49-F238E27FC236}">
                <a16:creationId xmlns:a16="http://schemas.microsoft.com/office/drawing/2014/main" id="{C880F07A-EBA0-4B68-9FD2-162C9B58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200400"/>
            <a:ext cx="5879592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>
            <a:extLst xmlns:a="http://schemas.openxmlformats.org/drawingml/2006/main">
              <a:ext uri="{FF2B5EF4-FFF2-40B4-BE49-F238E27FC236}">
                <a16:creationId xmlns:a16="http://schemas.microsoft.com/office/drawing/2014/main" id="{F7EFA5EA-8A5C-4327-8836-1D9F326D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785616"/>
            <a:ext cx="16002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Arial"/>
              <a:buNone/>
            </a:pPr>
            <a:r>
              <a:rPr sz="28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0.9926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p5">
            <a:extLst xmlns:a="http://schemas.openxmlformats.org/drawingml/2006/main">
              <a:ext uri="{FF2B5EF4-FFF2-40B4-BE49-F238E27FC236}">
                <a16:creationId xmlns:a16="http://schemas.microsoft.com/office/drawing/2014/main" id="{EDB7326C-7148-4D51-BC2B-5B94A9FD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3310128"/>
            <a:ext cx="3840480" cy="1517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1A1A1A"/>
                </a:solidFill>
                <a:latin typeface="Arial"/>
                <a:ea typeface="Arial"/>
                <a:cs typeface="Arial"/>
              </a:rPr>
              <a:t>Dixon-Coles Poisson goals model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The reasonable-model control. Price-blind, and deliberately kept out of the feature set so it stays an independent yardstick.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5">
            <a:extLst xmlns:a="http://schemas.openxmlformats.org/drawingml/2006/main">
              <a:ext uri="{FF2B5EF4-FFF2-40B4-BE49-F238E27FC236}">
                <a16:creationId xmlns:a16="http://schemas.microsoft.com/office/drawing/2014/main" id="{DC5F8197-5A58-4A81-A691-81BF9DF5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75504"/>
            <a:ext cx="11274552" cy="896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>
            <a:extLst xmlns:a="http://schemas.openxmlformats.org/drawingml/2006/main">
              <a:ext uri="{FF2B5EF4-FFF2-40B4-BE49-F238E27FC236}">
                <a16:creationId xmlns:a16="http://schemas.microsoft.com/office/drawing/2014/main" id="{AB0B2A73-84E9-44C8-BAB7-3AD51699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6944"/>
            <a:ext cx="10817352" cy="71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Split discipline   </a:t>
            </a:r>
            <a:r>
              <a: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Five walk-forward evaluation folds; champion selection uses the four folds shared by every candidate. The 2025-26 holdout stays sealed until deployed validation.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" name="Google Shape;120;p5">
            <a:extLst xmlns:a="http://schemas.openxmlformats.org/drawingml/2006/main">
              <a:ext uri="{FF2B5EF4-FFF2-40B4-BE49-F238E27FC236}">
                <a16:creationId xmlns:a16="http://schemas.microsoft.com/office/drawing/2014/main" id="{5414CFC0-40BA-4E52-B395-019E573E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2512"/>
            <a:ext cx="1223467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21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be6b563e6ce488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6304" y="6464808"/>
            <a:ext cx="244231" cy="3108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2" name="Google Shape;122;p5">
            <a:extLst xmlns:a="http://schemas.openxmlformats.org/drawingml/2006/main">
              <a:ext uri="{FF2B5EF4-FFF2-40B4-BE49-F238E27FC236}">
                <a16:creationId xmlns:a16="http://schemas.microsoft.com/office/drawing/2014/main" id="{BA3928D8-1D3F-4863-9D8A-B49FEDC7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75" y="6437376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UNIVERSITY OF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CHICAGO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3" name="Google Shape;123;p5">
            <a:extLst xmlns:a="http://schemas.openxmlformats.org/drawingml/2006/main">
              <a:ext uri="{FF2B5EF4-FFF2-40B4-BE49-F238E27FC236}">
                <a16:creationId xmlns:a16="http://schemas.microsoft.com/office/drawing/2014/main" id="{03909E96-65C2-40D0-BBF5-C5B46A2A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4" y="6382512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30670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Google Shape;129;p6">
            <a:extLst xmlns:a="http://schemas.openxmlformats.org/drawingml/2006/main">
              <a:ext uri="{FF2B5EF4-FFF2-40B4-BE49-F238E27FC236}">
                <a16:creationId xmlns:a16="http://schemas.microsoft.com/office/drawing/2014/main" id="{42E03A93-5312-47E4-BBF7-D83090DF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12745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sz="36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System Architecture</a:t>
            </a:r>
            <a:endParaRPr sz="3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" name="Google Shape;130;p6">
            <a:extLst xmlns:a="http://schemas.openxmlformats.org/drawingml/2006/main">
              <a:ext uri="{FF2B5EF4-FFF2-40B4-BE49-F238E27FC236}">
                <a16:creationId xmlns:a16="http://schemas.microsoft.com/office/drawing/2014/main" id="{57DE61CE-FDD9-4994-9AD6-E1990895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4984"/>
            <a:ext cx="11274552" cy="155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>
            <a:extLst xmlns:a="http://schemas.openxmlformats.org/drawingml/2006/main">
              <a:ext uri="{FF2B5EF4-FFF2-40B4-BE49-F238E27FC236}">
                <a16:creationId xmlns:a16="http://schemas.microsoft.com/office/drawing/2014/main" id="{3DDF64E8-02EB-4F0C-ACA2-B432DDE8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25296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Training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2" name="Google Shape;132;p6">
            <a:extLst xmlns:a="http://schemas.openxmlformats.org/drawingml/2006/main">
              <a:ext uri="{FF2B5EF4-FFF2-40B4-BE49-F238E27FC236}">
                <a16:creationId xmlns:a16="http://schemas.microsoft.com/office/drawing/2014/main" id="{E9A1BD06-66C3-4AC8-AACD-4E5710CF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6192"/>
            <a:ext cx="14173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5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>
            <a:extLst xmlns:a="http://schemas.openxmlformats.org/drawingml/2006/main">
              <a:ext uri="{FF2B5EF4-FFF2-40B4-BE49-F238E27FC236}">
                <a16:creationId xmlns:a16="http://schemas.microsoft.com/office/drawing/2014/main" id="{4EF2D346-C743-4D6C-BE21-E691AE04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581912"/>
            <a:ext cx="1271016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1A1A1A"/>
                </a:solidFill>
                <a:latin typeface="Arial"/>
                <a:ea typeface="Arial"/>
                <a:cs typeface="Arial"/>
              </a:rPr>
              <a:t>Ingest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3 sources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4" name="Google Shape;134;p6">
            <a:extLst xmlns:a="http://schemas.openxmlformats.org/drawingml/2006/main">
              <a:ext uri="{FF2B5EF4-FFF2-40B4-BE49-F238E27FC236}">
                <a16:creationId xmlns:a16="http://schemas.microsoft.com/office/drawing/2014/main" id="{4D02AE76-1612-48ED-B448-AE4AE312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232" y="1536192"/>
            <a:ext cx="26212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→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" name="Google Shape;135;p6">
            <a:extLst xmlns:a="http://schemas.openxmlformats.org/drawingml/2006/main">
              <a:ext uri="{FF2B5EF4-FFF2-40B4-BE49-F238E27FC236}">
                <a16:creationId xmlns:a16="http://schemas.microsoft.com/office/drawing/2014/main" id="{9D68092D-9215-4898-9E90-0ED51D85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072" y="1536192"/>
            <a:ext cx="14173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5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>
            <a:extLst xmlns:a="http://schemas.openxmlformats.org/drawingml/2006/main">
              <a:ext uri="{FF2B5EF4-FFF2-40B4-BE49-F238E27FC236}">
                <a16:creationId xmlns:a16="http://schemas.microsoft.com/office/drawing/2014/main" id="{32630640-D4BD-45D6-81CE-12707856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224" y="1581912"/>
            <a:ext cx="1271016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1A1A1A"/>
                </a:solidFill>
                <a:latin typeface="Arial"/>
                <a:ea typeface="Arial"/>
                <a:cs typeface="Arial"/>
              </a:rPr>
              <a:t>Harmonize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Hungarian matching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" name="Google Shape;137;p6">
            <a:extLst xmlns:a="http://schemas.openxmlformats.org/drawingml/2006/main">
              <a:ext uri="{FF2B5EF4-FFF2-40B4-BE49-F238E27FC236}">
                <a16:creationId xmlns:a16="http://schemas.microsoft.com/office/drawing/2014/main" id="{F7FDE770-8A3E-47F7-A302-34769940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1536192"/>
            <a:ext cx="26212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→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8" name="Google Shape;138;p6">
            <a:extLst xmlns:a="http://schemas.openxmlformats.org/drawingml/2006/main">
              <a:ext uri="{FF2B5EF4-FFF2-40B4-BE49-F238E27FC236}">
                <a16:creationId xmlns:a16="http://schemas.microsoft.com/office/drawing/2014/main" id="{571AC8AB-BB77-48AC-BF93-CAED1479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1536192"/>
            <a:ext cx="14173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5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>
            <a:extLst xmlns:a="http://schemas.openxmlformats.org/drawingml/2006/main">
              <a:ext uri="{FF2B5EF4-FFF2-40B4-BE49-F238E27FC236}">
                <a16:creationId xmlns:a16="http://schemas.microsoft.com/office/drawing/2014/main" id="{427DD030-4933-4528-AD5A-573B823C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096" y="1581912"/>
            <a:ext cx="1271016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1A1A1A"/>
                </a:solidFill>
                <a:latin typeface="Arial"/>
                <a:ea typeface="Arial"/>
                <a:cs typeface="Arial"/>
              </a:rPr>
              <a:t>Devig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Shin, vig-free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" name="Google Shape;140;p6">
            <a:extLst xmlns:a="http://schemas.openxmlformats.org/drawingml/2006/main">
              <a:ext uri="{FF2B5EF4-FFF2-40B4-BE49-F238E27FC236}">
                <a16:creationId xmlns:a16="http://schemas.microsoft.com/office/drawing/2014/main" id="{592BCDCA-6C22-42AA-AB2F-8B0147B9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976" y="1536192"/>
            <a:ext cx="26212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→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1" name="Google Shape;141;p6">
            <a:extLst xmlns:a="http://schemas.openxmlformats.org/drawingml/2006/main">
              <a:ext uri="{FF2B5EF4-FFF2-40B4-BE49-F238E27FC236}">
                <a16:creationId xmlns:a16="http://schemas.microsoft.com/office/drawing/2014/main" id="{D963108C-6ADF-4CA9-ACDC-E26A0C04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816" y="1536192"/>
            <a:ext cx="14173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>
            <a:extLst xmlns:a="http://schemas.openxmlformats.org/drawingml/2006/main">
              <a:ext uri="{FF2B5EF4-FFF2-40B4-BE49-F238E27FC236}">
                <a16:creationId xmlns:a16="http://schemas.microsoft.com/office/drawing/2014/main" id="{3333747E-5F98-41E4-A7B9-157AAB5F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1581912"/>
            <a:ext cx="1271016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Features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D9D9D9"/>
                </a:solidFill>
                <a:latin typeface="Arial"/>
                <a:ea typeface="Arial"/>
                <a:cs typeface="Arial"/>
              </a:rPr>
              <a:t>leakage-guarded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" name="Google Shape;143;p6">
            <a:extLst xmlns:a="http://schemas.openxmlformats.org/drawingml/2006/main">
              <a:ext uri="{FF2B5EF4-FFF2-40B4-BE49-F238E27FC236}">
                <a16:creationId xmlns:a16="http://schemas.microsoft.com/office/drawing/2014/main" id="{1AF98317-6FB5-49AC-BAB5-2D7592A0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1536192"/>
            <a:ext cx="26212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→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" name="Google Shape;144;p6">
            <a:extLst xmlns:a="http://schemas.openxmlformats.org/drawingml/2006/main">
              <a:ext uri="{FF2B5EF4-FFF2-40B4-BE49-F238E27FC236}">
                <a16:creationId xmlns:a16="http://schemas.microsoft.com/office/drawing/2014/main" id="{2CF2D4D4-5270-43D7-986B-385FA0B8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8688" y="1536192"/>
            <a:ext cx="14173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5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>
            <a:extLst xmlns:a="http://schemas.openxmlformats.org/drawingml/2006/main">
              <a:ext uri="{FF2B5EF4-FFF2-40B4-BE49-F238E27FC236}">
                <a16:creationId xmlns:a16="http://schemas.microsoft.com/office/drawing/2014/main" id="{FE449E90-9200-49C4-B0D3-E5A01380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1840" y="1581912"/>
            <a:ext cx="1271016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1A1A1A"/>
                </a:solidFill>
                <a:latin typeface="Arial"/>
                <a:ea typeface="Arial"/>
                <a:cs typeface="Arial"/>
              </a:rPr>
              <a:t>Walk-forward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5 eval folds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6" name="Google Shape;146;p6">
            <a:extLst xmlns:a="http://schemas.openxmlformats.org/drawingml/2006/main">
              <a:ext uri="{FF2B5EF4-FFF2-40B4-BE49-F238E27FC236}">
                <a16:creationId xmlns:a16="http://schemas.microsoft.com/office/drawing/2014/main" id="{A834531D-D85D-4F3D-BA0D-B7D98780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720" y="1536192"/>
            <a:ext cx="26212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→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7" name="Google Shape;147;p6">
            <a:extLst xmlns:a="http://schemas.openxmlformats.org/drawingml/2006/main">
              <a:ext uri="{FF2B5EF4-FFF2-40B4-BE49-F238E27FC236}">
                <a16:creationId xmlns:a16="http://schemas.microsoft.com/office/drawing/2014/main" id="{E9D426F1-998F-4AA1-A8D0-28EB2D46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1560" y="1536192"/>
            <a:ext cx="14173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5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>
            <a:extLst xmlns:a="http://schemas.openxmlformats.org/drawingml/2006/main">
              <a:ext uri="{FF2B5EF4-FFF2-40B4-BE49-F238E27FC236}">
                <a16:creationId xmlns:a16="http://schemas.microsoft.com/office/drawing/2014/main" id="{FDEFDBE3-1398-47D5-869E-92988091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4712" y="1581912"/>
            <a:ext cx="1271016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1A1A1A"/>
                </a:solidFill>
                <a:latin typeface="Arial"/>
                <a:ea typeface="Arial"/>
                <a:cs typeface="Arial"/>
              </a:rPr>
              <a:t>Compare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18 configs · 4 folds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9" name="Google Shape;149;p6">
            <a:extLst xmlns:a="http://schemas.openxmlformats.org/drawingml/2006/main">
              <a:ext uri="{FF2B5EF4-FFF2-40B4-BE49-F238E27FC236}">
                <a16:creationId xmlns:a16="http://schemas.microsoft.com/office/drawing/2014/main" id="{5AEF61C1-4FCB-443B-A1B3-3011C5A2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0592" y="1536192"/>
            <a:ext cx="26212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→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0" name="Google Shape;150;p6">
            <a:extLst xmlns:a="http://schemas.openxmlformats.org/drawingml/2006/main">
              <a:ext uri="{FF2B5EF4-FFF2-40B4-BE49-F238E27FC236}">
                <a16:creationId xmlns:a16="http://schemas.microsoft.com/office/drawing/2014/main" id="{1355C3B9-AADC-4516-AEF5-488F1C2E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1536192"/>
            <a:ext cx="14173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>
            <a:extLst xmlns:a="http://schemas.openxmlformats.org/drawingml/2006/main">
              <a:ext uri="{FF2B5EF4-FFF2-40B4-BE49-F238E27FC236}">
                <a16:creationId xmlns:a16="http://schemas.microsoft.com/office/drawing/2014/main" id="{1F1FF758-AD89-45B2-9834-E0B9E302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1581912"/>
            <a:ext cx="1271016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MLflow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D9D9D9"/>
                </a:solidFill>
                <a:latin typeface="Arial"/>
                <a:ea typeface="Arial"/>
                <a:cs typeface="Arial"/>
              </a:rPr>
              <a:t>champion · SemVer 1.0.0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" name="Google Shape;152;p6">
            <a:extLst xmlns:a="http://schemas.openxmlformats.org/drawingml/2006/main">
              <a:ext uri="{FF2B5EF4-FFF2-40B4-BE49-F238E27FC236}">
                <a16:creationId xmlns:a16="http://schemas.microsoft.com/office/drawing/2014/main" id="{0F819FC3-83F0-4FEB-871A-C8CAFBA4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6352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Serving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" name="Google Shape;153;p6">
            <a:extLst xmlns:a="http://schemas.openxmlformats.org/drawingml/2006/main">
              <a:ext uri="{FF2B5EF4-FFF2-40B4-BE49-F238E27FC236}">
                <a16:creationId xmlns:a16="http://schemas.microsoft.com/office/drawing/2014/main" id="{D809CC03-6996-43D6-ADE2-E536462F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27248"/>
            <a:ext cx="26060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5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>
            <a:extLst xmlns:a="http://schemas.openxmlformats.org/drawingml/2006/main">
              <a:ext uri="{FF2B5EF4-FFF2-40B4-BE49-F238E27FC236}">
                <a16:creationId xmlns:a16="http://schemas.microsoft.com/office/drawing/2014/main" id="{D8F32997-1E2A-4436-A43E-62994F17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172968"/>
            <a:ext cx="2459736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1A1A1A"/>
                </a:solidFill>
                <a:latin typeface="Arial"/>
                <a:ea typeface="Arial"/>
                <a:cs typeface="Arial"/>
              </a:rPr>
              <a:t>Docker + FastAPI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one compose command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5" name="Google Shape;155;p6">
            <a:extLst xmlns:a="http://schemas.openxmlformats.org/drawingml/2006/main">
              <a:ext uri="{FF2B5EF4-FFF2-40B4-BE49-F238E27FC236}">
                <a16:creationId xmlns:a16="http://schemas.microsoft.com/office/drawing/2014/main" id="{C008FC0A-8187-4C79-B2F6-2BD693E4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3127248"/>
            <a:ext cx="32004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→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6" name="Google Shape;156;p6">
            <a:extLst xmlns:a="http://schemas.openxmlformats.org/drawingml/2006/main">
              <a:ext uri="{FF2B5EF4-FFF2-40B4-BE49-F238E27FC236}">
                <a16:creationId xmlns:a16="http://schemas.microsoft.com/office/drawing/2014/main" id="{3D1B234F-22D7-4FB9-9F35-0BE17B70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3127248"/>
            <a:ext cx="26060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5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>
            <a:extLst xmlns:a="http://schemas.openxmlformats.org/drawingml/2006/main">
              <a:ext uri="{FF2B5EF4-FFF2-40B4-BE49-F238E27FC236}">
                <a16:creationId xmlns:a16="http://schemas.microsoft.com/office/drawing/2014/main" id="{846218EC-FCA9-414C-B830-892F24C5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3172968"/>
            <a:ext cx="2459736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1A1A1A"/>
                </a:solidFill>
                <a:latin typeface="Arial"/>
                <a:ea typeface="Arial"/>
                <a:cs typeface="Arial"/>
              </a:rPr>
              <a:t>Resolve alias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models:/beating-1x2@champion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" name="Google Shape;158;p6">
            <a:extLst xmlns:a="http://schemas.openxmlformats.org/drawingml/2006/main">
              <a:ext uri="{FF2B5EF4-FFF2-40B4-BE49-F238E27FC236}">
                <a16:creationId xmlns:a16="http://schemas.microsoft.com/office/drawing/2014/main" id="{6E9DB1C4-0892-4605-AC5D-7B8FC664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3127248"/>
            <a:ext cx="32004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→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9" name="Google Shape;159;p6">
            <a:extLst xmlns:a="http://schemas.openxmlformats.org/drawingml/2006/main">
              <a:ext uri="{FF2B5EF4-FFF2-40B4-BE49-F238E27FC236}">
                <a16:creationId xmlns:a16="http://schemas.microsoft.com/office/drawing/2014/main" id="{5A89EA0A-F452-49EE-ABD3-B1432D48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127248"/>
            <a:ext cx="26060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5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>
            <a:extLst xmlns:a="http://schemas.openxmlformats.org/drawingml/2006/main">
              <a:ext uri="{FF2B5EF4-FFF2-40B4-BE49-F238E27FC236}">
                <a16:creationId xmlns:a16="http://schemas.microsoft.com/office/drawing/2014/main" id="{923F9022-26FD-4DA3-9003-68D22927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172968"/>
            <a:ext cx="2459736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1A1A1A"/>
                </a:solidFill>
                <a:latin typeface="Arial"/>
                <a:ea typeface="Arial"/>
                <a:cs typeface="Arial"/>
              </a:rPr>
              <a:t>Predictions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+ value flags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1" name="Google Shape;161;p6">
            <a:extLst xmlns:a="http://schemas.openxmlformats.org/drawingml/2006/main">
              <a:ext uri="{FF2B5EF4-FFF2-40B4-BE49-F238E27FC236}">
                <a16:creationId xmlns:a16="http://schemas.microsoft.com/office/drawing/2014/main" id="{638AEDE6-AD23-445A-9B91-E85C4CB3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3127248"/>
            <a:ext cx="32004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→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" name="Google Shape;162;p6">
            <a:extLst xmlns:a="http://schemas.openxmlformats.org/drawingml/2006/main">
              <a:ext uri="{FF2B5EF4-FFF2-40B4-BE49-F238E27FC236}">
                <a16:creationId xmlns:a16="http://schemas.microsoft.com/office/drawing/2014/main" id="{9CB6AAA9-AD31-45A3-838C-9E829CD5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3127248"/>
            <a:ext cx="26060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5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>
            <a:extLst xmlns:a="http://schemas.openxmlformats.org/drawingml/2006/main">
              <a:ext uri="{FF2B5EF4-FFF2-40B4-BE49-F238E27FC236}">
                <a16:creationId xmlns:a16="http://schemas.microsoft.com/office/drawing/2014/main" id="{F31D80C7-6C9E-4AA7-8F90-9AB6E664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3172968"/>
            <a:ext cx="2459736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1A1A1A"/>
                </a:solidFill>
                <a:latin typeface="Arial"/>
                <a:ea typeface="Arial"/>
                <a:cs typeface="Arial"/>
              </a:rPr>
              <a:t>Monitoring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HTTP holdout + alerts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4" name="Google Shape;164;p6">
            <a:extLst xmlns:a="http://schemas.openxmlformats.org/drawingml/2006/main">
              <a:ext uri="{FF2B5EF4-FFF2-40B4-BE49-F238E27FC236}">
                <a16:creationId xmlns:a16="http://schemas.microsoft.com/office/drawing/2014/main" id="{A85CA9D5-0923-4939-B738-4EB27FA9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91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Two orchestrators, two jobs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5" name="Google Shape;165;p6">
            <a:extLst xmlns:a="http://schemas.openxmlformats.org/drawingml/2006/main">
              <a:ext uri="{FF2B5EF4-FFF2-40B4-BE49-F238E27FC236}">
                <a16:creationId xmlns:a16="http://schemas.microsoft.com/office/drawing/2014/main" id="{3BA31329-3572-4A1B-91D2-85553344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0016"/>
            <a:ext cx="551383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>
            <a:extLst xmlns:a="http://schemas.openxmlformats.org/drawingml/2006/main">
              <a:ext uri="{FF2B5EF4-FFF2-40B4-BE49-F238E27FC236}">
                <a16:creationId xmlns:a16="http://schemas.microsoft.com/office/drawing/2014/main" id="{F7548AD9-8EFE-4D6F-AEC4-34F51D66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73168"/>
            <a:ext cx="5148072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DVC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Reproducible build DAG. dvc repro rebuilds only what changed.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7" name="Google Shape;167;p6">
            <a:extLst xmlns:a="http://schemas.openxmlformats.org/drawingml/2006/main">
              <a:ext uri="{FF2B5EF4-FFF2-40B4-BE49-F238E27FC236}">
                <a16:creationId xmlns:a16="http://schemas.microsoft.com/office/drawing/2014/main" id="{EF6684D7-4D55-4C51-97CA-1324AD93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700016"/>
            <a:ext cx="551383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>
            <a:extLst xmlns:a="http://schemas.openxmlformats.org/drawingml/2006/main">
              <a:ext uri="{FF2B5EF4-FFF2-40B4-BE49-F238E27FC236}">
                <a16:creationId xmlns:a16="http://schemas.microsoft.com/office/drawing/2014/main" id="{BC84D858-189C-4C72-93A2-A1A1C7FC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73168"/>
            <a:ext cx="5148072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Prefect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Scheduler and runtime: concurrent ingestion, retries, observability.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9" name="Google Shape;169;p6">
            <a:extLst xmlns:a="http://schemas.openxmlformats.org/drawingml/2006/main">
              <a:ext uri="{FF2B5EF4-FFF2-40B4-BE49-F238E27FC236}">
                <a16:creationId xmlns:a16="http://schemas.microsoft.com/office/drawing/2014/main" id="{7EBB58AC-F1FA-4A2F-ADCC-6FF96651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7296"/>
            <a:ext cx="11274552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Later slides zoom into each subsystem: data and features, models, selection, results, deployment, monitoring.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0" name="Google Shape;170;p6">
            <a:extLst xmlns:a="http://schemas.openxmlformats.org/drawingml/2006/main">
              <a:ext uri="{FF2B5EF4-FFF2-40B4-BE49-F238E27FC236}">
                <a16:creationId xmlns:a16="http://schemas.microsoft.com/office/drawing/2014/main" id="{10800A88-16EF-4801-8C3C-7ADBF66E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2512"/>
            <a:ext cx="1223467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171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0b4679dc0c5442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6304" y="6464808"/>
            <a:ext cx="244231" cy="3108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2" name="Google Shape;172;p6">
            <a:extLst xmlns:a="http://schemas.openxmlformats.org/drawingml/2006/main">
              <a:ext uri="{FF2B5EF4-FFF2-40B4-BE49-F238E27FC236}">
                <a16:creationId xmlns:a16="http://schemas.microsoft.com/office/drawing/2014/main" id="{AD37B57C-D722-4700-BBEF-54896F65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75" y="6437376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UNIVERSITY OF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CHICAGO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3" name="Google Shape;173;p6">
            <a:extLst xmlns:a="http://schemas.openxmlformats.org/drawingml/2006/main">
              <a:ext uri="{FF2B5EF4-FFF2-40B4-BE49-F238E27FC236}">
                <a16:creationId xmlns:a16="http://schemas.microsoft.com/office/drawing/2014/main" id="{52FD4A53-E9E0-4FA1-8FD3-5B1FEDED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4" y="6382512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9181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" name="Google Shape;179;p7">
            <a:extLst xmlns:a="http://schemas.openxmlformats.org/drawingml/2006/main">
              <a:ext uri="{FF2B5EF4-FFF2-40B4-BE49-F238E27FC236}">
                <a16:creationId xmlns:a16="http://schemas.microsoft.com/office/drawing/2014/main" id="{C522D11C-6FB6-4A5C-9C60-5DDEC228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12745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sz="36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Ingestion &amp; Feature Engineering</a:t>
            </a:r>
            <a:endParaRPr sz="3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0" name="Google Shape;180;p7">
            <a:extLst xmlns:a="http://schemas.openxmlformats.org/drawingml/2006/main">
              <a:ext uri="{FF2B5EF4-FFF2-40B4-BE49-F238E27FC236}">
                <a16:creationId xmlns:a16="http://schemas.microsoft.com/office/drawing/2014/main" id="{A19F766F-1349-4933-935F-A8423750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4984"/>
            <a:ext cx="11274552" cy="155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>
            <a:extLst xmlns:a="http://schemas.openxmlformats.org/drawingml/2006/main">
              <a:ext uri="{FF2B5EF4-FFF2-40B4-BE49-F238E27FC236}">
                <a16:creationId xmlns:a16="http://schemas.microsoft.com/office/drawing/2014/main" id="{B2024F65-1225-4F3E-B4D5-31B1B4F3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6736"/>
            <a:ext cx="65836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>
            <a:extLst xmlns:a="http://schemas.openxmlformats.org/drawingml/2006/main">
              <a:ext uri="{FF2B5EF4-FFF2-40B4-BE49-F238E27FC236}">
                <a16:creationId xmlns:a16="http://schemas.microsoft.com/office/drawing/2014/main" id="{C9372052-00C8-4054-BDCE-BD7817B6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46304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>
            <a:extLst xmlns:a="http://schemas.openxmlformats.org/drawingml/2006/main">
              <a:ext uri="{FF2B5EF4-FFF2-40B4-BE49-F238E27FC236}">
                <a16:creationId xmlns:a16="http://schemas.microsoft.com/office/drawing/2014/main" id="{9B14CEBC-BD97-4260-9860-5143092E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4630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4" name="Google Shape;184;p7">
            <a:extLst xmlns:a="http://schemas.openxmlformats.org/drawingml/2006/main">
              <a:ext uri="{FF2B5EF4-FFF2-40B4-BE49-F238E27FC236}">
                <a16:creationId xmlns:a16="http://schemas.microsoft.com/office/drawing/2014/main" id="{F2C6AD36-51AD-4272-99F7-AB1C20D7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1389888"/>
            <a:ext cx="5632704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Ingestion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Three third-party sources pulled concurrently with retries under Prefect, cached and throttled to stay polite.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5" name="Google Shape;185;p7">
            <a:extLst xmlns:a="http://schemas.openxmlformats.org/drawingml/2006/main">
              <a:ext uri="{FF2B5EF4-FFF2-40B4-BE49-F238E27FC236}">
                <a16:creationId xmlns:a16="http://schemas.microsoft.com/office/drawing/2014/main" id="{64D05C18-01E4-4726-A478-9FA57E25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6272"/>
            <a:ext cx="65836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>
            <a:extLst xmlns:a="http://schemas.openxmlformats.org/drawingml/2006/main">
              <a:ext uri="{FF2B5EF4-FFF2-40B4-BE49-F238E27FC236}">
                <a16:creationId xmlns:a16="http://schemas.microsoft.com/office/drawing/2014/main" id="{B9A854AF-4510-40B1-BB2B-D3D75F42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322576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>
            <a:extLst xmlns:a="http://schemas.openxmlformats.org/drawingml/2006/main">
              <a:ext uri="{FF2B5EF4-FFF2-40B4-BE49-F238E27FC236}">
                <a16:creationId xmlns:a16="http://schemas.microsoft.com/office/drawing/2014/main" id="{BC8C0BEF-F35A-4ACF-9EE1-C3F16912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322576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8" name="Google Shape;188;p7">
            <a:extLst xmlns:a="http://schemas.openxmlformats.org/drawingml/2006/main">
              <a:ext uri="{FF2B5EF4-FFF2-40B4-BE49-F238E27FC236}">
                <a16:creationId xmlns:a16="http://schemas.microsoft.com/office/drawing/2014/main" id="{EEE98993-82E3-4990-AF2D-CD547530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249424"/>
            <a:ext cx="5632704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Harmonization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Every club is spelled three ways. Team-name matching is solved as a global assignment with the Hungarian algorithm, giving a 99.99% join.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9" name="Google Shape;189;p7">
            <a:extLst xmlns:a="http://schemas.openxmlformats.org/drawingml/2006/main">
              <a:ext uri="{FF2B5EF4-FFF2-40B4-BE49-F238E27FC236}">
                <a16:creationId xmlns:a16="http://schemas.microsoft.com/office/drawing/2014/main" id="{8585B304-2189-4CE2-B684-DA577884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35808"/>
            <a:ext cx="65836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>
            <a:extLst xmlns:a="http://schemas.openxmlformats.org/drawingml/2006/main">
              <a:ext uri="{FF2B5EF4-FFF2-40B4-BE49-F238E27FC236}">
                <a16:creationId xmlns:a16="http://schemas.microsoft.com/office/drawing/2014/main" id="{D2E5EFC0-547C-4D6F-9C16-6DF3373D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182112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>
            <a:extLst xmlns:a="http://schemas.openxmlformats.org/drawingml/2006/main">
              <a:ext uri="{FF2B5EF4-FFF2-40B4-BE49-F238E27FC236}">
                <a16:creationId xmlns:a16="http://schemas.microsoft.com/office/drawing/2014/main" id="{D80BF99B-F51B-4697-B217-9A3B563E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18211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2" name="Google Shape;192;p7">
            <a:extLst xmlns:a="http://schemas.openxmlformats.org/drawingml/2006/main">
              <a:ext uri="{FF2B5EF4-FFF2-40B4-BE49-F238E27FC236}">
                <a16:creationId xmlns:a16="http://schemas.microsoft.com/office/drawing/2014/main" id="{98030A37-3198-4328-A24B-1B9C3764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08960"/>
            <a:ext cx="5632704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Market devig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The Shin method strips the bookmaker margin, leaving vig-free market probabilities.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3" name="Google Shape;193;p7">
            <a:extLst xmlns:a="http://schemas.openxmlformats.org/drawingml/2006/main">
              <a:ext uri="{FF2B5EF4-FFF2-40B4-BE49-F238E27FC236}">
                <a16:creationId xmlns:a16="http://schemas.microsoft.com/office/drawing/2014/main" id="{7B682EBA-E4E8-4B6D-9750-3DA3A685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95344"/>
            <a:ext cx="658368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>
            <a:extLst xmlns:a="http://schemas.openxmlformats.org/drawingml/2006/main">
              <a:ext uri="{FF2B5EF4-FFF2-40B4-BE49-F238E27FC236}">
                <a16:creationId xmlns:a16="http://schemas.microsoft.com/office/drawing/2014/main" id="{D1B6C110-00DF-4709-90C9-2A341A3A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306824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>
            <a:extLst xmlns:a="http://schemas.openxmlformats.org/drawingml/2006/main">
              <a:ext uri="{FF2B5EF4-FFF2-40B4-BE49-F238E27FC236}">
                <a16:creationId xmlns:a16="http://schemas.microsoft.com/office/drawing/2014/main" id="{D22A6CFD-9C49-409A-8A14-2AFC202F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30682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6" name="Google Shape;196;p7">
            <a:extLst xmlns:a="http://schemas.openxmlformats.org/drawingml/2006/main">
              <a:ext uri="{FF2B5EF4-FFF2-40B4-BE49-F238E27FC236}">
                <a16:creationId xmlns:a16="http://schemas.microsoft.com/office/drawing/2014/main" id="{D04664E0-1764-4A77-AC09-C53AC2A9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968496"/>
            <a:ext cx="5632704" cy="1133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86 features, two generations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Base: rolling form over 5 and 10 matches, Elo ratings, rest days, Dixon-Coles attack and defense strengths.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Engineered: strength of schedule, Elo over-performance, home and away split form, EWMA-weighted form, fixture congestion, season points per game, promoted-team flag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7" name="Google Shape;197;p7">
            <a:extLst xmlns:a="http://schemas.openxmlformats.org/drawingml/2006/main">
              <a:ext uri="{FF2B5EF4-FFF2-40B4-BE49-F238E27FC236}">
                <a16:creationId xmlns:a16="http://schemas.microsoft.com/office/drawing/2014/main" id="{CC728023-19EF-4559-8CA3-672C6E10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5232"/>
            <a:ext cx="658368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>
            <a:extLst xmlns:a="http://schemas.openxmlformats.org/drawingml/2006/main">
              <a:ext uri="{FF2B5EF4-FFF2-40B4-BE49-F238E27FC236}">
                <a16:creationId xmlns:a16="http://schemas.microsoft.com/office/drawing/2014/main" id="{95554C0F-7C77-4DB0-965C-C473A6A1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285232"/>
            <a:ext cx="6181344" cy="676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250"/>
              <a:buFont typeface="Arial"/>
              <a:buNone/>
            </a:pPr>
            <a:r>
              <a:rPr sz="125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Honest result:  </a:t>
            </a:r>
            <a:r>
              <a:rPr sz="1250" b="0" i="0" u="none" cap="none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engineered features left the gap to the market unchanged. The closing line already prices team strength, form and schedule. Kept as evidence, not spin.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9" name="Google Shape;199;p7">
            <a:extLst xmlns:a="http://schemas.openxmlformats.org/drawingml/2006/main">
              <a:ext uri="{FF2B5EF4-FFF2-40B4-BE49-F238E27FC236}">
                <a16:creationId xmlns:a16="http://schemas.microsoft.com/office/drawing/2014/main" id="{9A2A33BA-9540-4626-9AEC-0806066E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16736"/>
            <a:ext cx="4416552" cy="4645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>
            <a:extLst xmlns:a="http://schemas.openxmlformats.org/drawingml/2006/main">
              <a:ext uri="{FF2B5EF4-FFF2-40B4-BE49-F238E27FC236}">
                <a16:creationId xmlns:a16="http://schemas.microsoft.com/office/drawing/2014/main" id="{12B91016-1CAD-490B-BE4D-A2200489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1463040"/>
            <a:ext cx="3977640" cy="4352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Leakage discipline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shift-then-roll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rolling window is shifted by one match, so a fixture never sees itself. Only prior matches feed a prediction, and the walk-forward splits enforce it.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Mutation-tested guard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CI flips shift(1) to shift(0) and fails the build if the leakage tests stay green. A guard that never fails on a broken build is no guard at all.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feature code path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700"/>
              </a:spcBef>
              <a:spcAft>
                <a:spcPts val="0"/>
              </a:spcAft>
              <a:buClr>
                <a:srgbClr val="D9D9D9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D9D9D9"/>
                </a:solidFill>
                <a:latin typeface="Arial"/>
                <a:ea typeface="Arial"/>
                <a:cs typeface="Arial"/>
              </a:rPr>
              <a:t>Training and serving run the same code, so there is no train/serve skew to reconcile.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1" name="Google Shape;201;p7">
            <a:extLst xmlns:a="http://schemas.openxmlformats.org/drawingml/2006/main">
              <a:ext uri="{FF2B5EF4-FFF2-40B4-BE49-F238E27FC236}">
                <a16:creationId xmlns:a16="http://schemas.microsoft.com/office/drawing/2014/main" id="{3A47909E-1038-4DC6-A3A0-2C6F11C5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2512"/>
            <a:ext cx="1223467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9" name="Google Shape;202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01c9cbc6ec4c1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6304" y="6464808"/>
            <a:ext cx="244231" cy="3108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3" name="Google Shape;203;p7">
            <a:extLst xmlns:a="http://schemas.openxmlformats.org/drawingml/2006/main">
              <a:ext uri="{FF2B5EF4-FFF2-40B4-BE49-F238E27FC236}">
                <a16:creationId xmlns:a16="http://schemas.microsoft.com/office/drawing/2014/main" id="{963888F4-5F14-4694-BE08-5E701DA6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75" y="6437376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UNIVERSITY OF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CHICAGO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4" name="Google Shape;204;p7">
            <a:extLst xmlns:a="http://schemas.openxmlformats.org/drawingml/2006/main">
              <a:ext uri="{FF2B5EF4-FFF2-40B4-BE49-F238E27FC236}">
                <a16:creationId xmlns:a16="http://schemas.microsoft.com/office/drawing/2014/main" id="{7CEBB2AE-EA69-4226-8BE8-A8A318BD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4" y="6382512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10058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" name="Google Shape;210;p8">
            <a:extLst xmlns:a="http://schemas.openxmlformats.org/drawingml/2006/main">
              <a:ext uri="{FF2B5EF4-FFF2-40B4-BE49-F238E27FC236}">
                <a16:creationId xmlns:a16="http://schemas.microsoft.com/office/drawing/2014/main" id="{A5FDE230-3E18-4188-A8F2-A5E8774B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12745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sz="36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Models &amp; Modeling Approach</a:t>
            </a:r>
            <a:endParaRPr sz="3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1" name="Google Shape;211;p8">
            <a:extLst xmlns:a="http://schemas.openxmlformats.org/drawingml/2006/main">
              <a:ext uri="{FF2B5EF4-FFF2-40B4-BE49-F238E27FC236}">
                <a16:creationId xmlns:a16="http://schemas.microsoft.com/office/drawing/2014/main" id="{CDBB8B9B-2029-428C-9CD9-F3068329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4984"/>
            <a:ext cx="11274552" cy="155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>
            <a:extLst xmlns:a="http://schemas.openxmlformats.org/drawingml/2006/main">
              <a:ext uri="{FF2B5EF4-FFF2-40B4-BE49-F238E27FC236}">
                <a16:creationId xmlns:a16="http://schemas.microsoft.com/office/drawing/2014/main" id="{2F93EF15-A7C1-48CB-9348-10C1634B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0160"/>
            <a:ext cx="5394960" cy="10424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>
            <a:extLst xmlns:a="http://schemas.openxmlformats.org/drawingml/2006/main">
              <a:ext uri="{FF2B5EF4-FFF2-40B4-BE49-F238E27FC236}">
                <a16:creationId xmlns:a16="http://schemas.microsoft.com/office/drawing/2014/main" id="{D333F237-E7AB-46C4-861B-BEFA5C0B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4992624" cy="896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market_blind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Features only, no odds. Can we predict outcomes from the game itself?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4" name="Google Shape;214;p8">
            <a:extLst xmlns:a="http://schemas.openxmlformats.org/drawingml/2006/main">
              <a:ext uri="{FF2B5EF4-FFF2-40B4-BE49-F238E27FC236}">
                <a16:creationId xmlns:a16="http://schemas.microsoft.com/office/drawing/2014/main" id="{B6E48C67-FD63-4AED-961C-0194875E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1280160"/>
            <a:ext cx="5394960" cy="10424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>
            <a:extLst xmlns:a="http://schemas.openxmlformats.org/drawingml/2006/main">
              <a:ext uri="{FF2B5EF4-FFF2-40B4-BE49-F238E27FC236}">
                <a16:creationId xmlns:a16="http://schemas.microsoft.com/office/drawing/2014/main" id="{47E4BCF3-A36A-4937-A26D-93EE66D2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353312"/>
            <a:ext cx="4992624" cy="896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market_aware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The closing line added as a feature. Given the market’s own number, can we improve on it?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6" name="Google Shape;216;p8">
            <a:extLst xmlns:a="http://schemas.openxmlformats.org/drawingml/2006/main">
              <a:ext uri="{FF2B5EF4-FFF2-40B4-BE49-F238E27FC236}">
                <a16:creationId xmlns:a16="http://schemas.microsoft.com/office/drawing/2014/main" id="{F68590A4-F114-448F-B764-6E21388A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87168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Six model families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7" name="Google Shape;217;p8">
            <a:extLst xmlns:a="http://schemas.openxmlformats.org/drawingml/2006/main">
              <a:ext uri="{FF2B5EF4-FFF2-40B4-BE49-F238E27FC236}">
                <a16:creationId xmlns:a16="http://schemas.microsoft.com/office/drawing/2014/main" id="{5A168CA5-FC8E-4D96-9A98-742CB257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9504"/>
            <a:ext cx="357530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>
            <a:extLst xmlns:a="http://schemas.openxmlformats.org/drawingml/2006/main">
              <a:ext uri="{FF2B5EF4-FFF2-40B4-BE49-F238E27FC236}">
                <a16:creationId xmlns:a16="http://schemas.microsoft.com/office/drawing/2014/main" id="{781B152B-B705-482F-B99A-78C89C42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80944"/>
            <a:ext cx="3209544" cy="877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Logistic regression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Linear and interpretable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9" name="Google Shape;219;p8">
            <a:extLst xmlns:a="http://schemas.openxmlformats.org/drawingml/2006/main">
              <a:ext uri="{FF2B5EF4-FFF2-40B4-BE49-F238E27FC236}">
                <a16:creationId xmlns:a16="http://schemas.microsoft.com/office/drawing/2014/main" id="{6B08562D-B395-45A9-8669-7A4F06AB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2889504"/>
            <a:ext cx="357530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>
            <a:extLst xmlns:a="http://schemas.openxmlformats.org/drawingml/2006/main">
              <a:ext uri="{FF2B5EF4-FFF2-40B4-BE49-F238E27FC236}">
                <a16:creationId xmlns:a16="http://schemas.microsoft.com/office/drawing/2014/main" id="{9847F885-F9DF-409C-B5F7-3F0F679C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980944"/>
            <a:ext cx="3209544" cy="877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LightGBM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Gradient-boosted trees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8">
            <a:extLst xmlns:a="http://schemas.openxmlformats.org/drawingml/2006/main">
              <a:ext uri="{FF2B5EF4-FFF2-40B4-BE49-F238E27FC236}">
                <a16:creationId xmlns:a16="http://schemas.microsoft.com/office/drawing/2014/main" id="{E749B657-1297-410D-9BE3-607352E1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2889504"/>
            <a:ext cx="357530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>
            <a:extLst xmlns:a="http://schemas.openxmlformats.org/drawingml/2006/main">
              <a:ext uri="{FF2B5EF4-FFF2-40B4-BE49-F238E27FC236}">
                <a16:creationId xmlns:a16="http://schemas.microsoft.com/office/drawing/2014/main" id="{215983FD-29D1-429D-8B87-1BB90D32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980944"/>
            <a:ext cx="3209544" cy="877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XGBoost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Gradient-boosted trees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8">
            <a:extLst xmlns:a="http://schemas.openxmlformats.org/drawingml/2006/main">
              <a:ext uri="{FF2B5EF4-FFF2-40B4-BE49-F238E27FC236}">
                <a16:creationId xmlns:a16="http://schemas.microsoft.com/office/drawing/2014/main" id="{B1E06DFC-D478-4091-AA4B-804A1B65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41648"/>
            <a:ext cx="357530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>
            <a:extLst xmlns:a="http://schemas.openxmlformats.org/drawingml/2006/main">
              <a:ext uri="{FF2B5EF4-FFF2-40B4-BE49-F238E27FC236}">
                <a16:creationId xmlns:a16="http://schemas.microsoft.com/office/drawing/2014/main" id="{1D7E589C-4D17-4747-8452-8A921AD0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33088"/>
            <a:ext cx="3209544" cy="877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CatBoost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Gradient-boosted trees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5" name="Google Shape;225;p8">
            <a:extLst xmlns:a="http://schemas.openxmlformats.org/drawingml/2006/main">
              <a:ext uri="{FF2B5EF4-FFF2-40B4-BE49-F238E27FC236}">
                <a16:creationId xmlns:a16="http://schemas.microsoft.com/office/drawing/2014/main" id="{279FEA32-1E36-49FC-8AA0-771FAA1F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4041648"/>
            <a:ext cx="357530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>
            <a:extLst xmlns:a="http://schemas.openxmlformats.org/drawingml/2006/main">
              <a:ext uri="{FF2B5EF4-FFF2-40B4-BE49-F238E27FC236}">
                <a16:creationId xmlns:a16="http://schemas.microsoft.com/office/drawing/2014/main" id="{C9EB33AF-9305-445A-8537-C1335AA9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133088"/>
            <a:ext cx="3209544" cy="877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MLP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Neural net (multilayer perceptron)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8">
            <a:extLst xmlns:a="http://schemas.openxmlformats.org/drawingml/2006/main">
              <a:ext uri="{FF2B5EF4-FFF2-40B4-BE49-F238E27FC236}">
                <a16:creationId xmlns:a16="http://schemas.microsoft.com/office/drawing/2014/main" id="{B3F2A115-893B-4C53-91AC-2C7517DC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4041648"/>
            <a:ext cx="357530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>
            <a:extLst xmlns:a="http://schemas.openxmlformats.org/drawingml/2006/main">
              <a:ext uri="{FF2B5EF4-FFF2-40B4-BE49-F238E27FC236}">
                <a16:creationId xmlns:a16="http://schemas.microsoft.com/office/drawing/2014/main" id="{162CBBE3-1407-4229-88B8-B89BA33C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133088"/>
            <a:ext cx="3209544" cy="877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Stacking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Logistic meta-learner over the calibrated boosters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9" name="Google Shape;229;p8">
            <a:extLst xmlns:a="http://schemas.openxmlformats.org/drawingml/2006/main">
              <a:ext uri="{FF2B5EF4-FFF2-40B4-BE49-F238E27FC236}">
                <a16:creationId xmlns:a16="http://schemas.microsoft.com/office/drawing/2014/main" id="{D341A714-1610-4B53-8747-36B6F902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66944"/>
            <a:ext cx="11274552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>
            <a:extLst xmlns:a="http://schemas.openxmlformats.org/drawingml/2006/main">
              <a:ext uri="{FF2B5EF4-FFF2-40B4-BE49-F238E27FC236}">
                <a16:creationId xmlns:a16="http://schemas.microsoft.com/office/drawing/2014/main" id="{19FE46B2-D99D-4E53-9A51-B49848CF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8384"/>
            <a:ext cx="10817352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Each booster also runs a hyperparameter-tuned variant, giving 9 configurations per track and 18 runs in total.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1A1A1A"/>
                </a:solidFill>
                <a:latin typeface="Arial"/>
                <a:ea typeface="Arial"/>
                <a:cs typeface="Arial"/>
              </a:rPr>
              <a:t>Every model is probability-calibrated: betting needs trustworthy probabilities, not just correct rankings.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1" name="Google Shape;231;p8">
            <a:extLst xmlns:a="http://schemas.openxmlformats.org/drawingml/2006/main">
              <a:ext uri="{FF2B5EF4-FFF2-40B4-BE49-F238E27FC236}">
                <a16:creationId xmlns:a16="http://schemas.microsoft.com/office/drawing/2014/main" id="{D06D6425-41CF-4C6C-9211-1CA9BBED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2512"/>
            <a:ext cx="1223467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32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2327a1bbec24db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6304" y="6464808"/>
            <a:ext cx="244231" cy="3108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33" name="Google Shape;233;p8">
            <a:extLst xmlns:a="http://schemas.openxmlformats.org/drawingml/2006/main">
              <a:ext uri="{FF2B5EF4-FFF2-40B4-BE49-F238E27FC236}">
                <a16:creationId xmlns:a16="http://schemas.microsoft.com/office/drawing/2014/main" id="{AFC66455-D9F6-49FA-B999-5A8D10E7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75" y="6437376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UNIVERSITY OF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CHICAGO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4" name="Google Shape;234;p8">
            <a:extLst xmlns:a="http://schemas.openxmlformats.org/drawingml/2006/main">
              <a:ext uri="{FF2B5EF4-FFF2-40B4-BE49-F238E27FC236}">
                <a16:creationId xmlns:a16="http://schemas.microsoft.com/office/drawing/2014/main" id="{EBCBEB26-2213-4561-BD6A-941B6B9A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4" y="6382512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76103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0" name="Google Shape;240;p9">
            <a:extLst xmlns:a="http://schemas.openxmlformats.org/drawingml/2006/main">
              <a:ext uri="{FF2B5EF4-FFF2-40B4-BE49-F238E27FC236}">
                <a16:creationId xmlns:a16="http://schemas.microsoft.com/office/drawing/2014/main" id="{D0DF8D44-64A2-4A08-8E97-A8647959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12745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sz="36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Experiment Tracking &amp; Model Selection</a:t>
            </a:r>
            <a:endParaRPr sz="3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1" name="Google Shape;241;p9">
            <a:extLst xmlns:a="http://schemas.openxmlformats.org/drawingml/2006/main">
              <a:ext uri="{FF2B5EF4-FFF2-40B4-BE49-F238E27FC236}">
                <a16:creationId xmlns:a16="http://schemas.microsoft.com/office/drawing/2014/main" id="{F1839333-0D10-4DF0-83B7-C912A445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4984"/>
            <a:ext cx="11274552" cy="155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>
            <a:extLst xmlns:a="http://schemas.openxmlformats.org/drawingml/2006/main">
              <a:ext uri="{FF2B5EF4-FFF2-40B4-BE49-F238E27FC236}">
                <a16:creationId xmlns:a16="http://schemas.microsoft.com/office/drawing/2014/main" id="{5B143A0C-7BAA-4E44-9B1E-99E8B0F9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6736"/>
            <a:ext cx="6675120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500"/>
              <a:buFont typeface="Arial"/>
              <a:buChar char="•"/>
            </a:pPr>
            <a:r>
              <a:rPr sz="15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MLflow tracks every run’s params, metrics and artifacts. The registry holds beating-1x2 with a @champion alias and tags.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800"/>
              </a:spcBef>
              <a:spcAft>
                <a:spcPts val="0"/>
              </a:spcAft>
              <a:buClr>
                <a:srgbClr val="737373"/>
              </a:buClr>
              <a:buSzPts val="1500"/>
              <a:buFont typeface="Arial"/>
              <a:buChar char="•"/>
            </a:pPr>
            <a:r>
              <a:rPr sz="15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18 candidate configurations across 2 tracks, compared on walk-forward log loss.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800"/>
              </a:spcBef>
              <a:spcAft>
                <a:spcPts val="0"/>
              </a:spcAft>
              <a:buClr>
                <a:srgbClr val="737373"/>
              </a:buClr>
              <a:buSzPts val="1500"/>
              <a:buFont typeface="Arial"/>
              <a:buChar char="•"/>
            </a:pPr>
            <a:r>
              <a:rPr sz="15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Champion: market_aware / catboost_tuned, 86 features, </a:t>
            </a:r>
            <a:r>
              <a:rPr sz="15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MLflow v2 / SemVer 1.0.0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685800" marR="0" lvl="1" indent="-342900" algn="l">
              <a:spcBef>
                <a:spcPts val="80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Arial"/>
              <a:buChar char="•"/>
            </a:pPr>
            <a:r>
              <a:rPr sz="130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Selected at 0.9749 on four common folds; five evaluation folds remain reported. The holdout never selects a model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685800" marR="0" lvl="1" indent="-342900" algn="l">
              <a:spcBef>
                <a:spcPts val="80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Arial"/>
              <a:buChar char="•"/>
            </a:pPr>
            <a:r>
              <a:rPr sz="130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Six searches × 25 = 150 trials; the holdout scores none.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3" name="Google Shape;243;p9">
            <a:extLst xmlns:a="http://schemas.openxmlformats.org/drawingml/2006/main">
              <a:ext uri="{FF2B5EF4-FFF2-40B4-BE49-F238E27FC236}">
                <a16:creationId xmlns:a16="http://schemas.microsoft.com/office/drawing/2014/main" id="{16D73E52-5BBA-41A1-A970-02E4AC4D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16736"/>
            <a:ext cx="4416552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>
            <a:extLst xmlns:a="http://schemas.openxmlformats.org/drawingml/2006/main">
              <a:ext uri="{FF2B5EF4-FFF2-40B4-BE49-F238E27FC236}">
                <a16:creationId xmlns:a16="http://schemas.microsoft.com/office/drawing/2014/main" id="{FCA82E6C-E087-40EA-9CE7-CC9E3E24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1408176"/>
            <a:ext cx="3977640" cy="192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Calibration: sigmoid, not isotonic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Platt scaling won on all 10 fold and model combinations. Isotonic emitted exact zeros, which log loss treats as an infinite penalty.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7" name="Google Shape;247;p9">
            <a:extLst xmlns:a="http://schemas.openxmlformats.org/drawingml/2006/main">
              <a:ext uri="{FF2B5EF4-FFF2-40B4-BE49-F238E27FC236}">
                <a16:creationId xmlns:a16="http://schemas.microsoft.com/office/drawing/2014/main" id="{1447E850-B155-45BE-9201-015B24EB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2512"/>
            <a:ext cx="1223467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48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2fa1576220e465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6304" y="6464808"/>
            <a:ext cx="244231" cy="3108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9" name="Google Shape;249;p9">
            <a:extLst xmlns:a="http://schemas.openxmlformats.org/drawingml/2006/main">
              <a:ext uri="{FF2B5EF4-FFF2-40B4-BE49-F238E27FC236}">
                <a16:creationId xmlns:a16="http://schemas.microsoft.com/office/drawing/2014/main" id="{81400EB3-918B-47BF-8557-34F34CC7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75" y="6437376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UNIVERSITY OF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CHICAGO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0" name="Google Shape;250;p9">
            <a:extLst xmlns:a="http://schemas.openxmlformats.org/drawingml/2006/main">
              <a:ext uri="{FF2B5EF4-FFF2-40B4-BE49-F238E27FC236}">
                <a16:creationId xmlns:a16="http://schemas.microsoft.com/office/drawing/2014/main" id="{B38AC934-0003-470A-A9DE-77698D7F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4" y="6382512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24e09771e451a"/>
          <a:srcRect xmlns:a="http://schemas.openxmlformats.org/drawingml/2006/main" l="0" t="33275" r="0" b="332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3703320"/>
            <a:ext cx="11274552" cy="21214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5740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6" name="Google Shape;256;p10">
            <a:extLst xmlns:a="http://schemas.openxmlformats.org/drawingml/2006/main">
              <a:ext uri="{FF2B5EF4-FFF2-40B4-BE49-F238E27FC236}">
                <a16:creationId xmlns:a16="http://schemas.microsoft.com/office/drawing/2014/main" id="{1E738C4C-1A7C-4374-92B2-6E52B2E2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12745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sz="36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Model Results</a:t>
            </a:r>
            <a:endParaRPr sz="3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7" name="Google Shape;257;p10">
            <a:extLst xmlns:a="http://schemas.openxmlformats.org/drawingml/2006/main">
              <a:ext uri="{FF2B5EF4-FFF2-40B4-BE49-F238E27FC236}">
                <a16:creationId xmlns:a16="http://schemas.microsoft.com/office/drawing/2014/main" id="{E0C28FE7-E1DA-4E5B-A1BE-A9505F6C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4984"/>
            <a:ext cx="11274552" cy="155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>
            <a:extLst xmlns:a="http://schemas.openxmlformats.org/drawingml/2006/main">
              <a:ext uri="{FF2B5EF4-FFF2-40B4-BE49-F238E27FC236}">
                <a16:creationId xmlns:a16="http://schemas.microsoft.com/office/drawing/2014/main" id="{8B0846C2-CCB4-432D-AC3D-B9706649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71780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Four common walk-forward folds, market_aware track. Bar length = gap above the market line (lower is better).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This equal-fold view is the protocol used to select the champion.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9" name="Google Shape;259;p10">
            <a:extLst xmlns:a="http://schemas.openxmlformats.org/drawingml/2006/main">
              <a:ext uri="{FF2B5EF4-FFF2-40B4-BE49-F238E27FC236}">
                <a16:creationId xmlns:a16="http://schemas.microsoft.com/office/drawing/2014/main" id="{C88827B1-7A12-4070-8A2D-C12AC6DD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1746504"/>
            <a:ext cx="20117" cy="4014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>
            <a:extLst xmlns:a="http://schemas.openxmlformats.org/drawingml/2006/main">
              <a:ext uri="{FF2B5EF4-FFF2-40B4-BE49-F238E27FC236}">
                <a16:creationId xmlns:a16="http://schemas.microsoft.com/office/drawing/2014/main" id="{D89F259F-4BB7-428E-BDE2-7CF738DE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5861304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1A1A1A"/>
                </a:solidFill>
                <a:latin typeface="Arial"/>
                <a:ea typeface="Arial"/>
                <a:cs typeface="Arial"/>
              </a:rPr>
              <a:t>Market (vig-free close) = 0.9675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1" name="Google Shape;261;p10">
            <a:extLst xmlns:a="http://schemas.openxmlformats.org/drawingml/2006/main">
              <a:ext uri="{FF2B5EF4-FFF2-40B4-BE49-F238E27FC236}">
                <a16:creationId xmlns:a16="http://schemas.microsoft.com/office/drawing/2014/main" id="{E6ED10D1-3A34-4B3C-BDC2-3430FE3D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1A1A1A"/>
                </a:solidFill>
                <a:latin typeface="Arial"/>
                <a:ea typeface="Arial"/>
                <a:cs typeface="Arial"/>
              </a:rPr>
              <a:t>catboost_tuned (champion)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2" name="Google Shape;262;p10">
            <a:extLst xmlns:a="http://schemas.openxmlformats.org/drawingml/2006/main">
              <a:ext uri="{FF2B5EF4-FFF2-40B4-BE49-F238E27FC236}">
                <a16:creationId xmlns:a16="http://schemas.microsoft.com/office/drawing/2014/main" id="{294A2A22-F567-4039-A74E-C83819A6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57" y="1828800"/>
            <a:ext cx="630149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>
            <a:extLst xmlns:a="http://schemas.openxmlformats.org/drawingml/2006/main">
              <a:ext uri="{FF2B5EF4-FFF2-40B4-BE49-F238E27FC236}">
                <a16:creationId xmlns:a16="http://schemas.microsoft.com/office/drawing/2014/main" id="{29D436A1-367F-4EBC-9C27-8C3663ED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839" y="1828800"/>
            <a:ext cx="17830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0.9749   +0.0074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4" name="Google Shape;264;p10">
            <a:extLst xmlns:a="http://schemas.openxmlformats.org/drawingml/2006/main">
              <a:ext uri="{FF2B5EF4-FFF2-40B4-BE49-F238E27FC236}">
                <a16:creationId xmlns:a16="http://schemas.microsoft.com/office/drawing/2014/main" id="{69BB0712-9007-4109-A9AE-36138DDE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6564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xgboost_tuned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5" name="Google Shape;265;p10">
            <a:extLst xmlns:a="http://schemas.openxmlformats.org/drawingml/2006/main">
              <a:ext uri="{FF2B5EF4-FFF2-40B4-BE49-F238E27FC236}">
                <a16:creationId xmlns:a16="http://schemas.microsoft.com/office/drawing/2014/main" id="{CA75D14B-2FBE-49E8-ADDB-6C2FEB27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57" y="2226564"/>
            <a:ext cx="647180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>
            <a:extLst xmlns:a="http://schemas.openxmlformats.org/drawingml/2006/main">
              <a:ext uri="{FF2B5EF4-FFF2-40B4-BE49-F238E27FC236}">
                <a16:creationId xmlns:a16="http://schemas.microsoft.com/office/drawing/2014/main" id="{943D041C-92A4-4229-BA1C-EFB2AF15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870" y="2226564"/>
            <a:ext cx="17830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0.9751   +0.0076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7" name="Google Shape;267;p10">
            <a:extLst xmlns:a="http://schemas.openxmlformats.org/drawingml/2006/main">
              <a:ext uri="{FF2B5EF4-FFF2-40B4-BE49-F238E27FC236}">
                <a16:creationId xmlns:a16="http://schemas.microsoft.com/office/drawing/2014/main" id="{B7D00510-D880-42AC-8C5D-62F7ECFA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4328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stacking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8" name="Google Shape;268;p10">
            <a:extLst xmlns:a="http://schemas.openxmlformats.org/drawingml/2006/main">
              <a:ext uri="{FF2B5EF4-FFF2-40B4-BE49-F238E27FC236}">
                <a16:creationId xmlns:a16="http://schemas.microsoft.com/office/drawing/2014/main" id="{41F8D59E-65C8-498F-B723-F47AFE75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57" y="2624328"/>
            <a:ext cx="885615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>
            <a:extLst xmlns:a="http://schemas.openxmlformats.org/drawingml/2006/main">
              <a:ext uri="{FF2B5EF4-FFF2-40B4-BE49-F238E27FC236}">
                <a16:creationId xmlns:a16="http://schemas.microsoft.com/office/drawing/2014/main" id="{F630002F-CBB9-4D1A-BAA7-F04E02AC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6305" y="2624328"/>
            <a:ext cx="17830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0.9779   +0.0104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0" name="Google Shape;270;p10">
            <a:extLst xmlns:a="http://schemas.openxmlformats.org/drawingml/2006/main">
              <a:ext uri="{FF2B5EF4-FFF2-40B4-BE49-F238E27FC236}">
                <a16:creationId xmlns:a16="http://schemas.microsoft.com/office/drawing/2014/main" id="{691A7048-7B02-4C0A-9562-FF36EEF6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2092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catboost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1" name="Google Shape;271;p10">
            <a:extLst xmlns:a="http://schemas.openxmlformats.org/drawingml/2006/main">
              <a:ext uri="{FF2B5EF4-FFF2-40B4-BE49-F238E27FC236}">
                <a16:creationId xmlns:a16="http://schemas.microsoft.com/office/drawing/2014/main" id="{8AD80C31-230B-4CBF-91E3-5172A0BD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57" y="3022092"/>
            <a:ext cx="93670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>
            <a:extLst xmlns:a="http://schemas.openxmlformats.org/drawingml/2006/main">
              <a:ext uri="{FF2B5EF4-FFF2-40B4-BE49-F238E27FC236}">
                <a16:creationId xmlns:a16="http://schemas.microsoft.com/office/drawing/2014/main" id="{3A80B4EC-490C-4D40-946D-375B7724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398" y="3022092"/>
            <a:ext cx="17830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0.9784   +0.0110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3" name="Google Shape;273;p10">
            <a:extLst xmlns:a="http://schemas.openxmlformats.org/drawingml/2006/main">
              <a:ext uri="{FF2B5EF4-FFF2-40B4-BE49-F238E27FC236}">
                <a16:creationId xmlns:a16="http://schemas.microsoft.com/office/drawing/2014/main" id="{5370808A-E13E-450F-9CB8-8CE98669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19856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1A1A1A"/>
                </a:solidFill>
                <a:latin typeface="Arial"/>
                <a:ea typeface="Arial"/>
                <a:cs typeface="Arial"/>
              </a:rPr>
              <a:t>logistic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4" name="Google Shape;274;p10">
            <a:extLst xmlns:a="http://schemas.openxmlformats.org/drawingml/2006/main">
              <a:ext uri="{FF2B5EF4-FFF2-40B4-BE49-F238E27FC236}">
                <a16:creationId xmlns:a16="http://schemas.microsoft.com/office/drawing/2014/main" id="{9A9694D9-6DD8-4B6E-B8CD-DCF0D192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57" y="3419856"/>
            <a:ext cx="149021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6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>
            <a:extLst xmlns:a="http://schemas.openxmlformats.org/drawingml/2006/main">
              <a:ext uri="{FF2B5EF4-FFF2-40B4-BE49-F238E27FC236}">
                <a16:creationId xmlns:a16="http://schemas.microsoft.com/office/drawing/2014/main" id="{DD36BFBE-ACD4-4E9F-8F7B-9343C75A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908" y="3419856"/>
            <a:ext cx="17830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0.9850   +0.0175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6" name="Google Shape;276;p10">
            <a:extLst xmlns:a="http://schemas.openxmlformats.org/drawingml/2006/main">
              <a:ext uri="{FF2B5EF4-FFF2-40B4-BE49-F238E27FC236}">
                <a16:creationId xmlns:a16="http://schemas.microsoft.com/office/drawing/2014/main" id="{0E2ADD22-B2D6-4CEA-B079-27F02DE5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7620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xgboost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7" name="Google Shape;277;p10">
            <a:extLst xmlns:a="http://schemas.openxmlformats.org/drawingml/2006/main">
              <a:ext uri="{FF2B5EF4-FFF2-40B4-BE49-F238E27FC236}">
                <a16:creationId xmlns:a16="http://schemas.microsoft.com/office/drawing/2014/main" id="{8A895ED2-7B23-4E55-9765-6517650D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57" y="3817620"/>
            <a:ext cx="1728653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>
            <a:extLst xmlns:a="http://schemas.openxmlformats.org/drawingml/2006/main">
              <a:ext uri="{FF2B5EF4-FFF2-40B4-BE49-F238E27FC236}">
                <a16:creationId xmlns:a16="http://schemas.microsoft.com/office/drawing/2014/main" id="{4EEBD6EA-07CF-4EC2-B27B-4299A71F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343" y="3817620"/>
            <a:ext cx="17830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0.9878   +0.0203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9" name="Google Shape;279;p10">
            <a:extLst xmlns:a="http://schemas.openxmlformats.org/drawingml/2006/main">
              <a:ext uri="{FF2B5EF4-FFF2-40B4-BE49-F238E27FC236}">
                <a16:creationId xmlns:a16="http://schemas.microsoft.com/office/drawing/2014/main" id="{39548B8F-5D97-4CB2-ADF9-17493961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5384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lightgbm_tuned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0" name="Google Shape;280;p10">
            <a:extLst xmlns:a="http://schemas.openxmlformats.org/drawingml/2006/main">
              <a:ext uri="{FF2B5EF4-FFF2-40B4-BE49-F238E27FC236}">
                <a16:creationId xmlns:a16="http://schemas.microsoft.com/office/drawing/2014/main" id="{79813BDB-7073-4B26-AE89-26032158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57" y="4215384"/>
            <a:ext cx="1881932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>
            <a:extLst xmlns:a="http://schemas.openxmlformats.org/drawingml/2006/main">
              <a:ext uri="{FF2B5EF4-FFF2-40B4-BE49-F238E27FC236}">
                <a16:creationId xmlns:a16="http://schemas.microsoft.com/office/drawing/2014/main" id="{7073495B-D3B2-46B0-85E1-520A7D87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622" y="4215384"/>
            <a:ext cx="17830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0.9896   +0.0221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2" name="Google Shape;282;p10">
            <a:extLst xmlns:a="http://schemas.openxmlformats.org/drawingml/2006/main">
              <a:ext uri="{FF2B5EF4-FFF2-40B4-BE49-F238E27FC236}">
                <a16:creationId xmlns:a16="http://schemas.microsoft.com/office/drawing/2014/main" id="{F54B1314-FF07-4E5D-B0CF-BBE5D8BF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3148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Dixon-Coles baseline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3" name="Google Shape;283;p10">
            <a:extLst xmlns:a="http://schemas.openxmlformats.org/drawingml/2006/main">
              <a:ext uri="{FF2B5EF4-FFF2-40B4-BE49-F238E27FC236}">
                <a16:creationId xmlns:a16="http://schemas.microsoft.com/office/drawing/2014/main" id="{B99B1015-08D1-48A2-AC79-5E3D6900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57" y="4613148"/>
            <a:ext cx="199263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>
            <a:extLst xmlns:a="http://schemas.openxmlformats.org/drawingml/2006/main">
              <a:ext uri="{FF2B5EF4-FFF2-40B4-BE49-F238E27FC236}">
                <a16:creationId xmlns:a16="http://schemas.microsoft.com/office/drawing/2014/main" id="{0722A9B9-DF41-4FDC-8B7A-1CEC85CE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324" y="4613148"/>
            <a:ext cx="17830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0.9908   +0.0234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5" name="Google Shape;285;p10">
            <a:extLst xmlns:a="http://schemas.openxmlformats.org/drawingml/2006/main">
              <a:ext uri="{FF2B5EF4-FFF2-40B4-BE49-F238E27FC236}">
                <a16:creationId xmlns:a16="http://schemas.microsoft.com/office/drawing/2014/main" id="{AD7C6C0F-EA10-4ADB-967F-6D7D8ECB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912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mlp (neural net)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6" name="Google Shape;286;p10">
            <a:extLst xmlns:a="http://schemas.openxmlformats.org/drawingml/2006/main">
              <a:ext uri="{FF2B5EF4-FFF2-40B4-BE49-F238E27FC236}">
                <a16:creationId xmlns:a16="http://schemas.microsoft.com/office/drawing/2014/main" id="{6A44672F-C081-49AB-A278-786A271D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57" y="5010912"/>
            <a:ext cx="2333255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>
            <a:extLst xmlns:a="http://schemas.openxmlformats.org/drawingml/2006/main">
              <a:ext uri="{FF2B5EF4-FFF2-40B4-BE49-F238E27FC236}">
                <a16:creationId xmlns:a16="http://schemas.microsoft.com/office/drawing/2014/main" id="{FFDB438F-B2D4-450E-B7B7-CA89B4CC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945" y="5010912"/>
            <a:ext cx="17830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0.9949   +0.0274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8" name="Google Shape;288;p10">
            <a:extLst xmlns:a="http://schemas.openxmlformats.org/drawingml/2006/main">
              <a:ext uri="{FF2B5EF4-FFF2-40B4-BE49-F238E27FC236}">
                <a16:creationId xmlns:a16="http://schemas.microsoft.com/office/drawing/2014/main" id="{D4A668CE-8CAA-4026-8760-05AE6F5C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08676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lightgbm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9" name="Google Shape;289;p10">
            <a:extLst xmlns:a="http://schemas.openxmlformats.org/drawingml/2006/main">
              <a:ext uri="{FF2B5EF4-FFF2-40B4-BE49-F238E27FC236}">
                <a16:creationId xmlns:a16="http://schemas.microsoft.com/office/drawing/2014/main" id="{B1466510-B2F5-41CF-B801-1B1EF197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57" y="5408676"/>
            <a:ext cx="269090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>
            <a:extLst xmlns:a="http://schemas.openxmlformats.org/drawingml/2006/main">
              <a:ext uri="{FF2B5EF4-FFF2-40B4-BE49-F238E27FC236}">
                <a16:creationId xmlns:a16="http://schemas.microsoft.com/office/drawing/2014/main" id="{15EC2315-0AF5-4D1D-A433-1311B6FB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598" y="5408676"/>
            <a:ext cx="17830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0.9990   +0.0316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1" name="Google Shape;291;p10">
            <a:extLst xmlns:a="http://schemas.openxmlformats.org/drawingml/2006/main">
              <a:ext uri="{FF2B5EF4-FFF2-40B4-BE49-F238E27FC236}">
                <a16:creationId xmlns:a16="http://schemas.microsoft.com/office/drawing/2014/main" id="{6E7FB4EA-B101-4484-864F-C7634196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517904"/>
            <a:ext cx="3913632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>
            <a:extLst xmlns:a="http://schemas.openxmlformats.org/drawingml/2006/main">
              <a:ext uri="{FF2B5EF4-FFF2-40B4-BE49-F238E27FC236}">
                <a16:creationId xmlns:a16="http://schemas.microsoft.com/office/drawing/2014/main" id="{37CA2DDC-CE57-46F9-B4CA-7C19B4FC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09344"/>
            <a:ext cx="3547872" cy="1115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market leads every aggregate view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full fold, every league aggregate, both tracks. The smallest gap is the champion’s +0.0074.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3" name="Google Shape;293;p10">
            <a:extLst xmlns:a="http://schemas.openxmlformats.org/drawingml/2006/main">
              <a:ext uri="{FF2B5EF4-FFF2-40B4-BE49-F238E27FC236}">
                <a16:creationId xmlns:a16="http://schemas.microsoft.com/office/drawing/2014/main" id="{BC061A13-C826-48C0-8777-D1E29CFC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999232"/>
            <a:ext cx="3913632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>
            <a:extLst xmlns:a="http://schemas.openxmlformats.org/drawingml/2006/main">
              <a:ext uri="{FF2B5EF4-FFF2-40B4-BE49-F238E27FC236}">
                <a16:creationId xmlns:a16="http://schemas.microsoft.com/office/drawing/2014/main" id="{D52BE0CD-4C9D-4FF9-940D-283956CF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90672"/>
            <a:ext cx="3547872" cy="1115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market_aware narrows—but cannot close—the gap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Adding the closing line improves ML sharply, yet the best model still trails it. Public features add no reliable incremental edge.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5" name="Google Shape;295;p10">
            <a:extLst xmlns:a="http://schemas.openxmlformats.org/drawingml/2006/main">
              <a:ext uri="{FF2B5EF4-FFF2-40B4-BE49-F238E27FC236}">
                <a16:creationId xmlns:a16="http://schemas.microsoft.com/office/drawing/2014/main" id="{17E46E7D-CB71-4AB6-8FCD-07640EE9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480560"/>
            <a:ext cx="3913632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>
            <a:extLst xmlns:a="http://schemas.openxmlformats.org/drawingml/2006/main">
              <a:ext uri="{FF2B5EF4-FFF2-40B4-BE49-F238E27FC236}">
                <a16:creationId xmlns:a16="http://schemas.microsoft.com/office/drawing/2014/main" id="{BF0B4567-0410-4315-8496-9CBFBA96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72000"/>
            <a:ext cx="3547872" cy="1115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Seven beat Dixon-Coles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500"/>
              </a:spcBef>
              <a:spcAft>
                <a:spcPts val="0"/>
              </a:spcAft>
              <a:buClr>
                <a:srgbClr val="737373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Seven of nine configurations land between the market and the price-blind Poisson baseline; only two score worse.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7" name="Google Shape;297;p10">
            <a:extLst xmlns:a="http://schemas.openxmlformats.org/drawingml/2006/main">
              <a:ext uri="{FF2B5EF4-FFF2-40B4-BE49-F238E27FC236}">
                <a16:creationId xmlns:a16="http://schemas.microsoft.com/office/drawing/2014/main" id="{909D16EB-F309-4770-8386-63B1C17C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2512"/>
            <a:ext cx="1223467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4" name="Google Shape;298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2b97b983ea34ad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6304" y="6464808"/>
            <a:ext cx="244231" cy="3108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99" name="Google Shape;299;p10">
            <a:extLst xmlns:a="http://schemas.openxmlformats.org/drawingml/2006/main">
              <a:ext uri="{FF2B5EF4-FFF2-40B4-BE49-F238E27FC236}">
                <a16:creationId xmlns:a16="http://schemas.microsoft.com/office/drawing/2014/main" id="{D67C5FF0-388E-41A4-9FA9-DBB57F7F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75" y="6437376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UNIVERSITY OF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CHICAGO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0" name="Google Shape;300;p10">
            <a:extLst xmlns:a="http://schemas.openxmlformats.org/drawingml/2006/main">
              <a:ext uri="{FF2B5EF4-FFF2-40B4-BE49-F238E27FC236}">
                <a16:creationId xmlns:a16="http://schemas.microsoft.com/office/drawing/2014/main" id="{5AE884FB-8E1F-40A9-9810-E29E7F03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4" y="6382512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9604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6" name="Google Shape;306;p11">
            <a:extLst xmlns:a="http://schemas.openxmlformats.org/drawingml/2006/main">
              <a:ext uri="{FF2B5EF4-FFF2-40B4-BE49-F238E27FC236}">
                <a16:creationId xmlns:a16="http://schemas.microsoft.com/office/drawing/2014/main" id="{D23330D2-5138-4D90-BEA7-07BAC0F5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12745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sz="36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Value-Bet Backtest</a:t>
            </a:r>
            <a:endParaRPr sz="3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7" name="Google Shape;307;p11">
            <a:extLst xmlns:a="http://schemas.openxmlformats.org/drawingml/2006/main">
              <a:ext uri="{FF2B5EF4-FFF2-40B4-BE49-F238E27FC236}">
                <a16:creationId xmlns:a16="http://schemas.microsoft.com/office/drawing/2014/main" id="{C5DC4A4F-1D96-4F7D-938B-4E0CF2E1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4984"/>
            <a:ext cx="11274552" cy="155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>
            <a:extLst xmlns:a="http://schemas.openxmlformats.org/drawingml/2006/main">
              <a:ext uri="{FF2B5EF4-FFF2-40B4-BE49-F238E27FC236}">
                <a16:creationId xmlns:a16="http://schemas.microsoft.com/office/drawing/2014/main" id="{2DF7AE88-849D-4A77-8300-CAA87B8B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7904"/>
            <a:ext cx="4480560" cy="1316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7200"/>
              <a:buFont typeface="Arial"/>
              <a:buNone/>
            </a:pPr>
            <a:r>
              <a:rPr sz="72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-1.6%</a:t>
            </a:r>
            <a:endParaRPr sz="7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9" name="Google Shape;309;p11">
            <a:extLst xmlns:a="http://schemas.openxmlformats.org/drawingml/2006/main">
              <a:ext uri="{FF2B5EF4-FFF2-40B4-BE49-F238E27FC236}">
                <a16:creationId xmlns:a16="http://schemas.microsoft.com/office/drawing/2014/main" id="{F4AF9C43-2611-44BE-B1E7-C7FDE0FB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2928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flat ROI: champion, walk-forward, absolute edge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0" name="Google Shape;310;p11">
            <a:extLst xmlns:a="http://schemas.openxmlformats.org/drawingml/2006/main">
              <a:ext uri="{FF2B5EF4-FFF2-40B4-BE49-F238E27FC236}">
                <a16:creationId xmlns:a16="http://schemas.microsoft.com/office/drawing/2014/main" id="{3FAD6310-1251-46E8-8919-9D5974A9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8688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1A1A1A"/>
                </a:solidFill>
                <a:latin typeface="Arial"/>
                <a:ea typeface="Arial"/>
                <a:cs typeface="Arial"/>
              </a:rPr>
              <a:t>95% bootstrap CI  [-10.0%, +7.8%]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1" name="Google Shape;311;p11">
            <a:extLst xmlns:a="http://schemas.openxmlformats.org/drawingml/2006/main">
              <a:ext uri="{FF2B5EF4-FFF2-40B4-BE49-F238E27FC236}">
                <a16:creationId xmlns:a16="http://schemas.microsoft.com/office/drawing/2014/main" id="{475C44B7-CABE-4AFD-9D6C-D116CFF1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03904"/>
            <a:ext cx="448056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">
            <a:extLst xmlns:a="http://schemas.openxmlformats.org/drawingml/2006/main">
              <a:ext uri="{FF2B5EF4-FFF2-40B4-BE49-F238E27FC236}">
                <a16:creationId xmlns:a16="http://schemas.microsoft.com/office/drawing/2014/main" id="{AF5DF712-E13A-4064-A36B-565EEEEE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803904"/>
            <a:ext cx="1463040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2,429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3" name="Google Shape;313;p11">
            <a:extLst xmlns:a="http://schemas.openxmlformats.org/drawingml/2006/main">
              <a:ext uri="{FF2B5EF4-FFF2-40B4-BE49-F238E27FC236}">
                <a16:creationId xmlns:a16="http://schemas.microsoft.com/office/drawing/2014/main" id="{591FC25A-6736-410A-8E74-7A7B2141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803904"/>
            <a:ext cx="2651760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bets placed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4" name="Google Shape;314;p11">
            <a:extLst xmlns:a="http://schemas.openxmlformats.org/drawingml/2006/main">
              <a:ext uri="{FF2B5EF4-FFF2-40B4-BE49-F238E27FC236}">
                <a16:creationId xmlns:a16="http://schemas.microsoft.com/office/drawing/2014/main" id="{3280F044-7723-415D-B47D-8B9ED55A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7136"/>
            <a:ext cx="448056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>
            <a:extLst xmlns:a="http://schemas.openxmlformats.org/drawingml/2006/main">
              <a:ext uri="{FF2B5EF4-FFF2-40B4-BE49-F238E27FC236}">
                <a16:creationId xmlns:a16="http://schemas.microsoft.com/office/drawing/2014/main" id="{729627D7-F0A1-41E8-8CBD-C2BDC383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517136"/>
            <a:ext cx="1463040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31.2%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6" name="Google Shape;316;p11">
            <a:extLst xmlns:a="http://schemas.openxmlformats.org/drawingml/2006/main">
              <a:ext uri="{FF2B5EF4-FFF2-40B4-BE49-F238E27FC236}">
                <a16:creationId xmlns:a16="http://schemas.microsoft.com/office/drawing/2014/main" id="{E7BF9C5B-BE75-4697-98C4-7B73530E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4517136"/>
            <a:ext cx="2651760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strike rate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7" name="Google Shape;317;p11">
            <a:extLst xmlns:a="http://schemas.openxmlformats.org/drawingml/2006/main">
              <a:ext uri="{FF2B5EF4-FFF2-40B4-BE49-F238E27FC236}">
                <a16:creationId xmlns:a16="http://schemas.microsoft.com/office/drawing/2014/main" id="{7D3D7E1B-BB39-4977-89E1-B50A725B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0368"/>
            <a:ext cx="448056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>
            <a:extLst xmlns:a="http://schemas.openxmlformats.org/drawingml/2006/main">
              <a:ext uri="{FF2B5EF4-FFF2-40B4-BE49-F238E27FC236}">
                <a16:creationId xmlns:a16="http://schemas.microsoft.com/office/drawing/2014/main" id="{1842AED2-2A30-4A11-A6BB-E8D3F9F8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230368"/>
            <a:ext cx="1463040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-3.4%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9" name="Google Shape;319;p11">
            <a:extLst xmlns:a="http://schemas.openxmlformats.org/drawingml/2006/main">
              <a:ext uri="{FF2B5EF4-FFF2-40B4-BE49-F238E27FC236}">
                <a16:creationId xmlns:a16="http://schemas.microsoft.com/office/drawing/2014/main" id="{77209101-53EC-4B21-8B3F-943547C2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5230368"/>
            <a:ext cx="2651760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mean CLV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0" name="Google Shape;320;p11">
            <a:extLst xmlns:a="http://schemas.openxmlformats.org/drawingml/2006/main">
              <a:ext uri="{FF2B5EF4-FFF2-40B4-BE49-F238E27FC236}">
                <a16:creationId xmlns:a16="http://schemas.microsoft.com/office/drawing/2014/main" id="{7B8548E4-C3B3-456D-A829-846847CA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444752"/>
            <a:ext cx="6382512" cy="269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600"/>
              <a:buFont typeface="Arial"/>
              <a:buChar char="•"/>
            </a:pPr>
            <a:r>
              <a:rPr sz="16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ROI is reported with 95% bootstrap CIs. Bets at mean odds near 6.0 are enormously noisy, so a point estimate on its own means nothing.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1600"/>
              <a:buFont typeface="Arial"/>
              <a:buChar char="•"/>
            </a:pPr>
            <a:r>
              <a:rPr sz="16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No configuration is profitable. Across the 0.02 to 0.20 threshold sweep, not one produces an ROI whose 95% CI excludes zero.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1600"/>
              <a:buFont typeface="Arial"/>
              <a:buChar char="•"/>
            </a:pPr>
            <a:r>
              <a:rPr sz="16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Closing-line value is negative in every walk-forward configuration: only 23 to 46% of selections beat the close.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1" name="Google Shape;321;p11">
            <a:extLst xmlns:a="http://schemas.openxmlformats.org/drawingml/2006/main">
              <a:ext uri="{FF2B5EF4-FFF2-40B4-BE49-F238E27FC236}">
                <a16:creationId xmlns:a16="http://schemas.microsoft.com/office/drawing/2014/main" id="{C951C333-0822-4030-A2E9-B2151A75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4206240"/>
            <a:ext cx="6382512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>
            <a:extLst xmlns:a="http://schemas.openxmlformats.org/drawingml/2006/main">
              <a:ext uri="{FF2B5EF4-FFF2-40B4-BE49-F238E27FC236}">
                <a16:creationId xmlns:a16="http://schemas.microsoft.com/office/drawing/2014/main" id="{58CD0990-F0FD-417E-8A08-2DA69590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4315968"/>
            <a:ext cx="5943600" cy="1335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trap we avoided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Best point estimate across every model and threshold: +0.03% ROI, from the champion on a relative-edge rule, worth +0.4 units on 1,319 bets. Its CI is [-14.9%, +15.5%]. That is pure noise, and reporting it as a win would be noise-mining.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3" name="Google Shape;323;p11">
            <a:extLst xmlns:a="http://schemas.openxmlformats.org/drawingml/2006/main">
              <a:ext uri="{FF2B5EF4-FFF2-40B4-BE49-F238E27FC236}">
                <a16:creationId xmlns:a16="http://schemas.microsoft.com/office/drawing/2014/main" id="{E7A675E3-BCFF-4DF6-8488-75657EEA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2512"/>
            <a:ext cx="1223467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6" name="Google Shape;324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aaed28d0c74b1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6304" y="6464808"/>
            <a:ext cx="244231" cy="3108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5" name="Google Shape;325;p11">
            <a:extLst xmlns:a="http://schemas.openxmlformats.org/drawingml/2006/main">
              <a:ext uri="{FF2B5EF4-FFF2-40B4-BE49-F238E27FC236}">
                <a16:creationId xmlns:a16="http://schemas.microsoft.com/office/drawing/2014/main" id="{5D8EC30A-4613-4428-8C49-D7854229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75" y="6437376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UNIVERSITY OF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CHICAGO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6" name="Google Shape;326;p11">
            <a:extLst xmlns:a="http://schemas.openxmlformats.org/drawingml/2006/main">
              <a:ext uri="{FF2B5EF4-FFF2-40B4-BE49-F238E27FC236}">
                <a16:creationId xmlns:a16="http://schemas.microsoft.com/office/drawing/2014/main" id="{BC4276DC-A429-4039-BD40-2932D83B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4" y="6382512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31587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2" name="Google Shape;332;p12">
            <a:extLst xmlns:a="http://schemas.openxmlformats.org/drawingml/2006/main">
              <a:ext uri="{FF2B5EF4-FFF2-40B4-BE49-F238E27FC236}">
                <a16:creationId xmlns:a16="http://schemas.microsoft.com/office/drawing/2014/main" id="{C92C8447-1DE0-4DF6-9EB2-A93B6A75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12745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sz="36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Deployment: Containerized API</a:t>
            </a:r>
            <a:endParaRPr sz="3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3" name="Google Shape;333;p12">
            <a:extLst xmlns:a="http://schemas.openxmlformats.org/drawingml/2006/main">
              <a:ext uri="{FF2B5EF4-FFF2-40B4-BE49-F238E27FC236}">
                <a16:creationId xmlns:a16="http://schemas.microsoft.com/office/drawing/2014/main" id="{EAF6F0CC-2B65-4A1C-8923-9FE0C678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4984"/>
            <a:ext cx="11274552" cy="155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2">
            <a:extLst xmlns:a="http://schemas.openxmlformats.org/drawingml/2006/main">
              <a:ext uri="{FF2B5EF4-FFF2-40B4-BE49-F238E27FC236}">
                <a16:creationId xmlns:a16="http://schemas.microsoft.com/office/drawing/2014/main" id="{3DFDC1F9-DA4E-4835-AD11-5100F1AC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5029200" cy="237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600"/>
              <a:buFont typeface="Arial"/>
              <a:buChar char="•"/>
            </a:pPr>
            <a:r>
              <a:rPr sz="16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docker compose up --build brings up the API on :8000/docs and the dashboard on :8501.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1600"/>
              <a:buFont typeface="Arial"/>
              <a:buChar char="•"/>
            </a:pPr>
            <a:r>
              <a:rPr sz="16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The model is swappable by alias. Replacing it is a re-registration plus a restart, with zero changes to serving code.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1600"/>
              <a:buFont typeface="Arial"/>
              <a:buChar char="•"/>
            </a:pPr>
            <a:r>
              <a:rPr sz="16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GET /health exposes MLflow v2, SemVer 1.0.0 and the @champion alias.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5" name="Google Shape;335;p12">
            <a:extLst xmlns:a="http://schemas.openxmlformats.org/drawingml/2006/main">
              <a:ext uri="{FF2B5EF4-FFF2-40B4-BE49-F238E27FC236}">
                <a16:creationId xmlns:a16="http://schemas.microsoft.com/office/drawing/2014/main" id="{158909E9-5ACB-438D-816D-A24A0482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69080"/>
            <a:ext cx="502920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">
            <a:extLst xmlns:a="http://schemas.openxmlformats.org/drawingml/2006/main">
              <a:ext uri="{FF2B5EF4-FFF2-40B4-BE49-F238E27FC236}">
                <a16:creationId xmlns:a16="http://schemas.microsoft.com/office/drawing/2014/main" id="{966FAF6C-FBB7-4AC2-80A4-3CF7B421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60520"/>
            <a:ext cx="4626864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prices are not closing prices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Upcoming fixtures are scored against current, softer odds, so live value flags fire more readily than the backtest does. Every response states this explicitly.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8" name="Google Shape;338;p12">
            <a:extLst xmlns:a="http://schemas.openxmlformats.org/drawingml/2006/main">
              <a:ext uri="{FF2B5EF4-FFF2-40B4-BE49-F238E27FC236}">
                <a16:creationId xmlns:a16="http://schemas.microsoft.com/office/drawing/2014/main" id="{D1477A45-271F-4073-94E1-429A7B6F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2512"/>
            <a:ext cx="1223467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1" name="Google Shape;33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a2d0b6ee8d4c6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6304" y="6464808"/>
            <a:ext cx="244231" cy="3108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0" name="Google Shape;340;p12">
            <a:extLst xmlns:a="http://schemas.openxmlformats.org/drawingml/2006/main">
              <a:ext uri="{FF2B5EF4-FFF2-40B4-BE49-F238E27FC236}">
                <a16:creationId xmlns:a16="http://schemas.microsoft.com/office/drawing/2014/main" id="{4B31B806-2A05-4BDA-8FBD-B2D210D3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75" y="6437376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UNIVERSITY OF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CHICAGO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1" name="Google Shape;341;p12">
            <a:extLst xmlns:a="http://schemas.openxmlformats.org/drawingml/2006/main">
              <a:ext uri="{FF2B5EF4-FFF2-40B4-BE49-F238E27FC236}">
                <a16:creationId xmlns:a16="http://schemas.microsoft.com/office/drawing/2014/main" id="{EE053988-E1FE-4865-86F0-5A5A8E71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4" y="6382512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2cbf0b0584b5c"/>
          <a:srcRect xmlns:a="http://schemas.openxmlformats.org/drawingml/2006/main" l="0" t="6529" r="0" b="65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7880" y="1481328"/>
            <a:ext cx="5833872" cy="285302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2258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7" name="Google Shape;347;p13">
            <a:extLst xmlns:a="http://schemas.openxmlformats.org/drawingml/2006/main">
              <a:ext uri="{FF2B5EF4-FFF2-40B4-BE49-F238E27FC236}">
                <a16:creationId xmlns:a16="http://schemas.microsoft.com/office/drawing/2014/main" id="{1027960C-9E05-4267-ADA4-5CD565EB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12745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sz="36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Production Monitoring</a:t>
            </a:r>
            <a:endParaRPr sz="3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8" name="Google Shape;348;p13">
            <a:extLst xmlns:a="http://schemas.openxmlformats.org/drawingml/2006/main">
              <a:ext uri="{FF2B5EF4-FFF2-40B4-BE49-F238E27FC236}">
                <a16:creationId xmlns:a16="http://schemas.microsoft.com/office/drawing/2014/main" id="{0419412D-6685-4EC2-ACFC-70990646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4984"/>
            <a:ext cx="11274552" cy="155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>
            <a:extLst xmlns:a="http://schemas.openxmlformats.org/drawingml/2006/main">
              <a:ext uri="{FF2B5EF4-FFF2-40B4-BE49-F238E27FC236}">
                <a16:creationId xmlns:a16="http://schemas.microsoft.com/office/drawing/2014/main" id="{49AC6A06-06EC-431E-A582-808876EC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6675120" cy="292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700"/>
              <a:buFont typeface="Arial"/>
              <a:buChar char="•"/>
            </a:pPr>
            <a:r>
              <a:rPr sz="17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Stack: custom KS and PSI statistics (version-proof) plus Evidently HTML reports for each season from 2020 to 2025.</a:t>
            </a:r>
            <a:endParaRPr sz="1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1700"/>
              <a:buFont typeface="Arial"/>
              <a:buChar char="•"/>
            </a:pPr>
            <a:r>
              <a:rPr sz="17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Reference window is 2018-19 and 2019-20 only. A baseline has to predate the shift you want to detect.</a:t>
            </a:r>
            <a:endParaRPr sz="1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1700"/>
              <a:buFont typeface="Arial"/>
              <a:buChar char="•"/>
            </a:pPr>
            <a:r>
              <a:rPr sz="17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Thresholds: KS alpha = 0.01, PSI = 0.20, across 54 monitored features.</a:t>
            </a:r>
            <a:endParaRPr sz="1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1700"/>
              <a:buFont typeface="Arial"/>
              <a:buChar char="•"/>
            </a:pPr>
            <a:r>
              <a:rPr sz="17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Recent seasons flag 2 to 6 of the 54 features, consistent with roster and schedule churn. Calibration decay is tracked as gap-to-market, so a hard season for everyone does not false-alarm as model decay.</a:t>
            </a:r>
            <a:endParaRPr sz="1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0" name="Google Shape;350;p13">
            <a:extLst xmlns:a="http://schemas.openxmlformats.org/drawingml/2006/main">
              <a:ext uri="{FF2B5EF4-FFF2-40B4-BE49-F238E27FC236}">
                <a16:creationId xmlns:a16="http://schemas.microsoft.com/office/drawing/2014/main" id="{69A92A46-75EB-4B24-A1F1-A7BE5A7D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371600"/>
            <a:ext cx="4279392" cy="420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>
            <a:extLst xmlns:a="http://schemas.openxmlformats.org/drawingml/2006/main">
              <a:ext uri="{FF2B5EF4-FFF2-40B4-BE49-F238E27FC236}">
                <a16:creationId xmlns:a16="http://schemas.microsoft.com/office/drawing/2014/main" id="{6AA16DAF-DD86-4F38-A1EF-D18846DA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517904"/>
            <a:ext cx="38404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Real detected drift: the 2020-21 COVID season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2" name="Google Shape;352;p13">
            <a:extLst xmlns:a="http://schemas.openxmlformats.org/drawingml/2006/main">
              <a:ext uri="{FF2B5EF4-FFF2-40B4-BE49-F238E27FC236}">
                <a16:creationId xmlns:a16="http://schemas.microsoft.com/office/drawing/2014/main" id="{FC059770-1378-4DA4-BDB1-CB87154E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212848"/>
            <a:ext cx="384048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sz="2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 &lt; 0.0001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3" name="Google Shape;353;p13">
            <a:extLst xmlns:a="http://schemas.openxmlformats.org/drawingml/2006/main">
              <a:ext uri="{FF2B5EF4-FFF2-40B4-BE49-F238E27FC236}">
                <a16:creationId xmlns:a16="http://schemas.microsoft.com/office/drawing/2014/main" id="{A64B3098-A328-40BC-A87D-0E951D9D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633472"/>
            <a:ext cx="384048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D9D9D9"/>
                </a:solidFill>
                <a:latin typeface="Arial"/>
                <a:ea typeface="Arial"/>
                <a:cs typeface="Arial"/>
              </a:rPr>
              <a:t>target drift against the pre-COVID reference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4" name="Google Shape;354;p13">
            <a:extLst xmlns:a="http://schemas.openxmlformats.org/drawingml/2006/main">
              <a:ext uri="{FF2B5EF4-FFF2-40B4-BE49-F238E27FC236}">
                <a16:creationId xmlns:a16="http://schemas.microsoft.com/office/drawing/2014/main" id="{39C59DA7-2185-402B-8410-A86EBC6F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182112"/>
            <a:ext cx="384048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sz="2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39.8%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5" name="Google Shape;355;p13">
            <a:extLst xmlns:a="http://schemas.openxmlformats.org/drawingml/2006/main">
              <a:ext uri="{FF2B5EF4-FFF2-40B4-BE49-F238E27FC236}">
                <a16:creationId xmlns:a16="http://schemas.microsoft.com/office/drawing/2014/main" id="{6B5B86A6-67BF-4126-B6D0-B3320F13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602736"/>
            <a:ext cx="384048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D9D9D9"/>
                </a:solidFill>
                <a:latin typeface="Arial"/>
                <a:ea typeface="Arial"/>
                <a:cs typeface="Arial"/>
              </a:rPr>
              <a:t>home-win rate, down from 44 to 45% either side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6" name="Google Shape;356;p13">
            <a:extLst xmlns:a="http://schemas.openxmlformats.org/drawingml/2006/main">
              <a:ext uri="{FF2B5EF4-FFF2-40B4-BE49-F238E27FC236}">
                <a16:creationId xmlns:a16="http://schemas.microsoft.com/office/drawing/2014/main" id="{E444AEA2-43C1-406B-99DE-BAD90DE0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151376"/>
            <a:ext cx="384048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sz="2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+0.095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7" name="Google Shape;357;p13">
            <a:extLst xmlns:a="http://schemas.openxmlformats.org/drawingml/2006/main">
              <a:ext uri="{FF2B5EF4-FFF2-40B4-BE49-F238E27FC236}">
                <a16:creationId xmlns:a16="http://schemas.microsoft.com/office/drawing/2014/main" id="{A061C07D-8188-4D36-A9E1-DE5A8D44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572000"/>
            <a:ext cx="384048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D9D9D9"/>
                </a:solidFill>
                <a:latin typeface="Arial"/>
                <a:ea typeface="Arial"/>
                <a:cs typeface="Arial"/>
              </a:rPr>
              <a:t>worst calibration gap vs market (market_blind / logistic, 2020)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8" name="Google Shape;358;p13">
            <a:extLst xmlns:a="http://schemas.openxmlformats.org/drawingml/2006/main">
              <a:ext uri="{FF2B5EF4-FFF2-40B4-BE49-F238E27FC236}">
                <a16:creationId xmlns:a16="http://schemas.microsoft.com/office/drawing/2014/main" id="{93AFFD6F-B4F5-42B5-8D93-A327199B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5102352"/>
            <a:ext cx="384048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Also the worst-scoring fold for every configuration: empty stadiums removed home advantage.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9" name="Google Shape;359;p13">
            <a:extLst xmlns:a="http://schemas.openxmlformats.org/drawingml/2006/main">
              <a:ext uri="{FF2B5EF4-FFF2-40B4-BE49-F238E27FC236}">
                <a16:creationId xmlns:a16="http://schemas.microsoft.com/office/drawing/2014/main" id="{10B89169-AEB1-4442-A6BE-8703D112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2512"/>
            <a:ext cx="1223467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7" name="Google Shape;360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6104dc196c84ed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6304" y="6464808"/>
            <a:ext cx="244231" cy="3108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61" name="Google Shape;361;p13">
            <a:extLst xmlns:a="http://schemas.openxmlformats.org/drawingml/2006/main">
              <a:ext uri="{FF2B5EF4-FFF2-40B4-BE49-F238E27FC236}">
                <a16:creationId xmlns:a16="http://schemas.microsoft.com/office/drawing/2014/main" id="{BE216F09-296F-45DF-8D44-56328249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75" y="6437376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UNIVERSITY OF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CHICAGO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2" name="Google Shape;362;p13">
            <a:extLst xmlns:a="http://schemas.openxmlformats.org/drawingml/2006/main">
              <a:ext uri="{FF2B5EF4-FFF2-40B4-BE49-F238E27FC236}">
                <a16:creationId xmlns:a16="http://schemas.microsoft.com/office/drawing/2014/main" id="{3BDA91B8-548C-4FF6-ACE1-D4B4FAF6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4" y="6382512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90006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8" name="Google Shape;368;p14">
            <a:extLst xmlns:a="http://schemas.openxmlformats.org/drawingml/2006/main">
              <a:ext uri="{FF2B5EF4-FFF2-40B4-BE49-F238E27FC236}">
                <a16:creationId xmlns:a16="http://schemas.microsoft.com/office/drawing/2014/main" id="{2E15DD37-486E-42AB-A634-49B56A65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12745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sz="36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Drift Simulation &amp; Anomaly Verification</a:t>
            </a:r>
            <a:endParaRPr sz="3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9" name="Google Shape;369;p14">
            <a:extLst xmlns:a="http://schemas.openxmlformats.org/drawingml/2006/main">
              <a:ext uri="{FF2B5EF4-FFF2-40B4-BE49-F238E27FC236}">
                <a16:creationId xmlns:a16="http://schemas.microsoft.com/office/drawing/2014/main" id="{A4FB9EFC-0A10-45F8-B271-A428C9CE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4984"/>
            <a:ext cx="11274552" cy="155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>
            <a:extLst xmlns:a="http://schemas.openxmlformats.org/drawingml/2006/main">
              <a:ext uri="{FF2B5EF4-FFF2-40B4-BE49-F238E27FC236}">
                <a16:creationId xmlns:a16="http://schemas.microsoft.com/office/drawing/2014/main" id="{B7F4D4E4-27CA-4D07-87BB-F3932761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0160"/>
            <a:ext cx="11274552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>
              <a:alpha val="4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4">
            <a:extLst xmlns:a="http://schemas.openxmlformats.org/drawingml/2006/main">
              <a:ext uri="{FF2B5EF4-FFF2-40B4-BE49-F238E27FC236}">
                <a16:creationId xmlns:a16="http://schemas.microsoft.com/office/drawing/2014/main" id="{B6C2DA05-77B4-46CF-938F-A30BF30D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80160"/>
            <a:ext cx="10872216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Baseline first: clean 2025-26 holdout, 1,727 rows, log loss 0.9853 vs market 0.9784, scored through HTTP /predict. Faults run only after the baseline passes.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389" name="Google Shape;372;p14"/>
          <p:cNvGraphicFramePr/>
          <p:nvPr/>
        </p:nvGraphicFramePr>
        <p:xfrm>
          <a:off xmlns:a="http://schemas.openxmlformats.org/drawingml/2006/main" x="457200" y="2139696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{B3A0B536-37AF-435A-9EB2-2F26B4121502}</a:tableStyleId>
              </a:tblPr>
              <a:tblGrid>
                <a:gridCol w="1783075"/>
                <a:gridCol w="2788925"/>
                <a:gridCol w="2788925"/>
              </a:tblGrid>
              <a:tr h="5669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sz="1100" b="1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Injected fault</a:t>
                      </a:r>
                      <a:endParaRPr sz="110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sz="1100" b="1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Corruption</a:t>
                      </a:r>
                      <a:endParaRPr sz="110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sz="1100" b="1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caught it</a:t>
                      </a:r>
                      <a:endParaRPr sz="110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800000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sz="1100" b="1" u="none" cap="non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out_of_bounds</a:t>
                      </a:r>
                      <a:endParaRPr sz="110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37373"/>
                        </a:buClr>
                        <a:buSzPts val="1100"/>
                        <a:buFont typeface="Arial"/>
                        <a:buNone/>
                      </a:pPr>
                      <a:r>
                        <a:rPr sz="1100" u="none" cap="none">
                          <a:solidFill>
                            <a:srgbClr val="737373"/>
                          </a:solidFill>
                          <a:latin typeface="Arial"/>
                          <a:ea typeface="Arial"/>
                          <a:cs typeface="Arial"/>
                        </a:rPr>
                        <a:t>Every feature pushed 5 to 15x past its range</a:t>
                      </a:r>
                      <a:endParaRPr sz="110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37373"/>
                        </a:buClr>
                        <a:buSzPts val="1100"/>
                        <a:buFont typeface="Arial"/>
                        <a:buNone/>
                      </a:pPr>
                      <a:r>
                        <a:rPr sz="1100" u="none" cap="none">
                          <a:solidFill>
                            <a:srgbClr val="737373"/>
                          </a:solidFill>
                          <a:latin typeface="Arial"/>
                          <a:ea typeface="Arial"/>
                          <a:cs typeface="Arial"/>
                        </a:rPr>
                        <a:t>84/86 features drift; prediction PSI 10.71</a:t>
                      </a:r>
                      <a:endParaRPr sz="110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sz="1100" b="1" u="none" cap="non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swapped_columns</a:t>
                      </a:r>
                      <a:endParaRPr sz="110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37373"/>
                        </a:buClr>
                        <a:buSzPts val="1100"/>
                        <a:buFont typeface="Arial"/>
                        <a:buNone/>
                      </a:pPr>
                      <a:r>
                        <a:rPr sz="1100" u="none" cap="none">
                          <a:solidFill>
                            <a:srgbClr val="737373"/>
                          </a:solidFill>
                          <a:latin typeface="Arial"/>
                          <a:ea typeface="Arial"/>
                          <a:cs typeface="Arial"/>
                        </a:rPr>
                        <a:t>Home and away swapped, market price flipped</a:t>
                      </a:r>
                      <a:endParaRPr sz="110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37373"/>
                        </a:buClr>
                        <a:buSzPts val="1100"/>
                        <a:buFont typeface="Arial"/>
                        <a:buNone/>
                      </a:pPr>
                      <a:r>
                        <a:rPr sz="1100" u="none" cap="none">
                          <a:solidFill>
                            <a:srgbClr val="737373"/>
                          </a:solidFill>
                          <a:latin typeface="Arial"/>
                          <a:ea typeface="Arial"/>
                          <a:cs typeface="Arial"/>
                        </a:rPr>
                        <a:t>Log loss +0.395; prediction PSI 0.36</a:t>
                      </a:r>
                      <a:endParaRPr sz="110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sz="1100" b="1" u="none" cap="non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schema_break</a:t>
                      </a:r>
                      <a:endParaRPr sz="110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37373"/>
                        </a:buClr>
                        <a:buSzPts val="1100"/>
                        <a:buFont typeface="Arial"/>
                        <a:buNone/>
                      </a:pPr>
                      <a:r>
                        <a:rPr sz="1100" u="none" cap="none">
                          <a:solidFill>
                            <a:srgbClr val="737373"/>
                          </a:solidFill>
                          <a:latin typeface="Arial"/>
                          <a:ea typeface="Arial"/>
                          <a:cs typeface="Arial"/>
                        </a:rPr>
                        <a:t>The xG feature family dropped</a:t>
                      </a:r>
                      <a:endParaRPr sz="110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37373"/>
                        </a:buClr>
                        <a:buSzPts val="1100"/>
                        <a:buFont typeface="Arial"/>
                        <a:buNone/>
                      </a:pPr>
                      <a:r>
                        <a:rPr sz="1100" u="none" cap="none">
                          <a:solidFill>
                            <a:srgbClr val="737373"/>
                          </a:solidFill>
                          <a:latin typeface="Arial"/>
                          <a:ea typeface="Arial"/>
                          <a:cs typeface="Arial"/>
                        </a:rPr>
                        <a:t>12 missing features; log loss +0.001</a:t>
                      </a:r>
                      <a:endParaRPr sz="110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5" name="Google Shape;375;p14">
            <a:extLst xmlns:a="http://schemas.openxmlformats.org/drawingml/2006/main">
              <a:ext uri="{FF2B5EF4-FFF2-40B4-BE49-F238E27FC236}">
                <a16:creationId xmlns:a16="http://schemas.microsoft.com/office/drawing/2014/main" id="{9C8C3C29-EAC7-4592-ADD7-4B73126A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462272"/>
            <a:ext cx="3639312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Same view in the dashboard’s Stress test tab.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6" name="Google Shape;376;p14">
            <a:extLst xmlns:a="http://schemas.openxmlformats.org/drawingml/2006/main">
              <a:ext uri="{FF2B5EF4-FFF2-40B4-BE49-F238E27FC236}">
                <a16:creationId xmlns:a16="http://schemas.microsoft.com/office/drawing/2014/main" id="{116E8B97-7672-40D8-A8EE-FB19B088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9744"/>
            <a:ext cx="11274552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4">
            <a:extLst xmlns:a="http://schemas.openxmlformats.org/drawingml/2006/main">
              <a:ext uri="{FF2B5EF4-FFF2-40B4-BE49-F238E27FC236}">
                <a16:creationId xmlns:a16="http://schemas.microsoft.com/office/drawing/2014/main" id="{C053ADA2-2BA6-46D7-8204-F77F01B0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9472"/>
            <a:ext cx="10817352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detector is never enough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 drift catches extreme values; prediction and performance checks expose the column swap; schema validation catches missing xG. The batch validation suite combines every signal before declaring a pass.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8" name="Google Shape;378;p14">
            <a:extLst xmlns:a="http://schemas.openxmlformats.org/drawingml/2006/main">
              <a:ext uri="{FF2B5EF4-FFF2-40B4-BE49-F238E27FC236}">
                <a16:creationId xmlns:a16="http://schemas.microsoft.com/office/drawing/2014/main" id="{46BD58EA-B985-483E-A753-97CBA013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2512"/>
            <a:ext cx="1223467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79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2b3a3214e274a0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6304" y="6464808"/>
            <a:ext cx="244231" cy="3108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80" name="Google Shape;380;p14">
            <a:extLst xmlns:a="http://schemas.openxmlformats.org/drawingml/2006/main">
              <a:ext uri="{FF2B5EF4-FFF2-40B4-BE49-F238E27FC236}">
                <a16:creationId xmlns:a16="http://schemas.microsoft.com/office/drawing/2014/main" id="{42DA4417-634F-485D-8A48-C30AC943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75" y="6437376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UNIVERSITY OF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CHICAGO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1" name="Google Shape;381;p14">
            <a:extLst xmlns:a="http://schemas.openxmlformats.org/drawingml/2006/main">
              <a:ext uri="{FF2B5EF4-FFF2-40B4-BE49-F238E27FC236}">
                <a16:creationId xmlns:a16="http://schemas.microsoft.com/office/drawing/2014/main" id="{4BDDE763-E506-4666-8E3F-92FD8304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4" y="6382512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dfd2c5161948c2"/>
          <a:srcRect xmlns:a="http://schemas.openxmlformats.org/drawingml/2006/main" l="4864" t="0" r="48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2440" y="2139696"/>
            <a:ext cx="3639312" cy="22677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4936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7" name="Google Shape;387;p15">
            <a:extLst xmlns:a="http://schemas.openxmlformats.org/drawingml/2006/main">
              <a:ext uri="{FF2B5EF4-FFF2-40B4-BE49-F238E27FC236}">
                <a16:creationId xmlns:a16="http://schemas.microsoft.com/office/drawing/2014/main" id="{F563C42A-4042-414F-B9B3-5EF4E957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12745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sz="36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Conclusions</a:t>
            </a:r>
            <a:endParaRPr sz="3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8" name="Google Shape;388;p15">
            <a:extLst xmlns:a="http://schemas.openxmlformats.org/drawingml/2006/main">
              <a:ext uri="{FF2B5EF4-FFF2-40B4-BE49-F238E27FC236}">
                <a16:creationId xmlns:a16="http://schemas.microsoft.com/office/drawing/2014/main" id="{37B5ECD1-FC81-4803-974B-8853F92F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4984"/>
            <a:ext cx="11274552" cy="155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5">
            <a:extLst xmlns:a="http://schemas.openxmlformats.org/drawingml/2006/main">
              <a:ext uri="{FF2B5EF4-FFF2-40B4-BE49-F238E27FC236}">
                <a16:creationId xmlns:a16="http://schemas.microsoft.com/office/drawing/2014/main" id="{75C959F5-B271-484A-A9FA-EA05C7BC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5024"/>
            <a:ext cx="11274552" cy="3566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700"/>
              <a:buFont typeface="Arial"/>
              <a:buChar char="•"/>
            </a:pPr>
            <a:r>
              <a:rPr sz="17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The negative result is the deliverable, and it is well evidenced</a:t>
            </a:r>
            <a:endParaRPr sz="1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685800" marR="0" lvl="1" indent="-342900" algn="l">
              <a:spcBef>
                <a:spcPts val="700"/>
              </a:spcBef>
              <a:spcAft>
                <a:spcPts val="0"/>
              </a:spcAft>
              <a:buClr>
                <a:srgbClr val="A6A6A6"/>
              </a:buClr>
              <a:buSzPts val="1400"/>
              <a:buFont typeface="Arial"/>
              <a:buChar char="•"/>
            </a:pPr>
            <a:r>
              <a:rPr sz="140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No model beats the market in any aggregate fold, league or track comparison: six families across nine configurations, three tuned.</a:t>
            </a:r>
            <a:endParaRPr sz="1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685800" marR="0" lvl="1" indent="-342900" algn="l">
              <a:spcBef>
                <a:spcPts val="700"/>
              </a:spcBef>
              <a:spcAft>
                <a:spcPts val="0"/>
              </a:spcAft>
              <a:buClr>
                <a:srgbClr val="A6A6A6"/>
              </a:buClr>
              <a:buSzPts val="1400"/>
              <a:buFont typeface="Arial"/>
              <a:buChar char="•"/>
            </a:pPr>
            <a:r>
              <a:rPr sz="140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On four common folds, tuned CatBoost scores 0.9749 and Dixon-Coles 0.9908; both trail the market at 0.9675.</a:t>
            </a:r>
            <a:endParaRPr sz="1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685800" marR="0" lvl="1" indent="-342900" algn="l">
              <a:spcBef>
                <a:spcPts val="700"/>
              </a:spcBef>
              <a:spcAft>
                <a:spcPts val="0"/>
              </a:spcAft>
              <a:buClr>
                <a:srgbClr val="A6A6A6"/>
              </a:buClr>
              <a:buSzPts val="1400"/>
              <a:buFont typeface="Arial"/>
              <a:buChar char="•"/>
            </a:pPr>
            <a:r>
              <a:rPr sz="140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On the deployed 2025-26 holdout, CatBoost scores 0.9853 vs market 0.9784—a stable +0.0069 gap.</a:t>
            </a:r>
            <a:endParaRPr sz="1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685800" marR="0" lvl="1" indent="-342900" algn="l">
              <a:spcBef>
                <a:spcPts val="700"/>
              </a:spcBef>
              <a:spcAft>
                <a:spcPts val="0"/>
              </a:spcAft>
              <a:buClr>
                <a:srgbClr val="A6A6A6"/>
              </a:buClr>
              <a:buSzPts val="1400"/>
              <a:buFont typeface="Arial"/>
              <a:buChar char="•"/>
            </a:pPr>
            <a:r>
              <a:rPr sz="140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No value threshold yields a profit whose CI excludes zero, and CLV is negative throughout.</a:t>
            </a:r>
            <a:endParaRPr sz="1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700"/>
              </a:spcBef>
              <a:spcAft>
                <a:spcPts val="0"/>
              </a:spcAft>
              <a:buClr>
                <a:srgbClr val="737373"/>
              </a:buClr>
              <a:buSzPts val="1700"/>
              <a:buFont typeface="Arial"/>
              <a:buChar char="•"/>
            </a:pPr>
            <a:r>
              <a:rPr sz="17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Interpretation: public pre-kickoff data improves a price-blind baseline but adds no reliable edge beyond the closing market.</a:t>
            </a:r>
            <a:endParaRPr sz="1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700"/>
              </a:spcBef>
              <a:spcAft>
                <a:spcPts val="0"/>
              </a:spcAft>
              <a:buClr>
                <a:srgbClr val="737373"/>
              </a:buClr>
              <a:buSzPts val="1700"/>
              <a:buFont typeface="Arial"/>
              <a:buChar char="•"/>
            </a:pPr>
            <a:r>
              <a:rPr sz="17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What we delivered: a reproducible, leakage-proof, versioned, deployed and monitored pipeline that establishes a negative result credibly.</a:t>
            </a:r>
            <a:endParaRPr sz="1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0" name="Google Shape;390;p15">
            <a:extLst xmlns:a="http://schemas.openxmlformats.org/drawingml/2006/main">
              <a:ext uri="{FF2B5EF4-FFF2-40B4-BE49-F238E27FC236}">
                <a16:creationId xmlns:a16="http://schemas.microsoft.com/office/drawing/2014/main" id="{C7E94351-D58C-4EBA-8F80-34A425BF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127455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5">
            <a:extLst xmlns:a="http://schemas.openxmlformats.org/drawingml/2006/main">
              <a:ext uri="{FF2B5EF4-FFF2-40B4-BE49-F238E27FC236}">
                <a16:creationId xmlns:a16="http://schemas.microsoft.com/office/drawing/2014/main" id="{A3468A22-EC27-44F8-B275-B20D3B4B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2352"/>
            <a:ext cx="10817352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the engineering matters more than the answer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 pipeline that let us fool ourselves into a fake edge would be worse than useless. The value here is that we can trust the “no”: </a:t>
            </a:r>
            <a:r>
              <a:rPr sz="13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walk-forward splits, an HTTP-scored sealed holdout, a market baseline as leakage tripwire, and bootstrap CIs on every economic claim.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2" name="Google Shape;392;p15">
            <a:extLst xmlns:a="http://schemas.openxmlformats.org/drawingml/2006/main">
              <a:ext uri="{FF2B5EF4-FFF2-40B4-BE49-F238E27FC236}">
                <a16:creationId xmlns:a16="http://schemas.microsoft.com/office/drawing/2014/main" id="{EB08E978-579B-4364-A928-02B38198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2512"/>
            <a:ext cx="1223467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3" name="Google Shape;393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bbde1b1518458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6304" y="6464808"/>
            <a:ext cx="244231" cy="3108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94" name="Google Shape;394;p15">
            <a:extLst xmlns:a="http://schemas.openxmlformats.org/drawingml/2006/main">
              <a:ext uri="{FF2B5EF4-FFF2-40B4-BE49-F238E27FC236}">
                <a16:creationId xmlns:a16="http://schemas.microsoft.com/office/drawing/2014/main" id="{1AFEACFE-A3B7-48D5-B3C4-FC0D3884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75" y="6437376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UNIVERSITY OF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CHICAGO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5" name="Google Shape;395;p15">
            <a:extLst xmlns:a="http://schemas.openxmlformats.org/drawingml/2006/main">
              <a:ext uri="{FF2B5EF4-FFF2-40B4-BE49-F238E27FC236}">
                <a16:creationId xmlns:a16="http://schemas.microsoft.com/office/drawing/2014/main" id="{DD258D5A-10E1-41E0-9B97-4183DC69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4" y="6382512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3210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1" name="Google Shape;401;p16">
            <a:extLst xmlns:a="http://schemas.openxmlformats.org/drawingml/2006/main">
              <a:ext uri="{FF2B5EF4-FFF2-40B4-BE49-F238E27FC236}">
                <a16:creationId xmlns:a16="http://schemas.microsoft.com/office/drawing/2014/main" id="{076791BD-B974-4A3A-8C05-12621764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12745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sz="3600" b="0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Limitations &amp; Future Work</a:t>
            </a:r>
            <a:endParaRPr sz="3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2" name="Google Shape;402;p16">
            <a:extLst xmlns:a="http://schemas.openxmlformats.org/drawingml/2006/main">
              <a:ext uri="{FF2B5EF4-FFF2-40B4-BE49-F238E27FC236}">
                <a16:creationId xmlns:a16="http://schemas.microsoft.com/office/drawing/2014/main" id="{F2AB1EE6-F814-47D8-BCB5-C039675B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4984"/>
            <a:ext cx="11274552" cy="155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6">
            <a:extLst xmlns:a="http://schemas.openxmlformats.org/drawingml/2006/main">
              <a:ext uri="{FF2B5EF4-FFF2-40B4-BE49-F238E27FC236}">
                <a16:creationId xmlns:a16="http://schemas.microsoft.com/office/drawing/2014/main" id="{44397CB6-B717-4F13-8CE7-B6E34B21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6736"/>
            <a:ext cx="539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200"/>
              <a:buFont typeface="Arial"/>
              <a:buNone/>
            </a:pPr>
            <a:r>
              <a:rPr sz="22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Limitations</a:t>
            </a:r>
            <a:endParaRPr sz="2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4" name="Google Shape;404;p16">
            <a:extLst xmlns:a="http://schemas.openxmlformats.org/drawingml/2006/main">
              <a:ext uri="{FF2B5EF4-FFF2-40B4-BE49-F238E27FC236}">
                <a16:creationId xmlns:a16="http://schemas.microsoft.com/office/drawing/2014/main" id="{8B6E88EF-D49C-46CA-B538-3D2F91A3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5394960" cy="301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500"/>
              <a:buFont typeface="Arial"/>
              <a:buChar char="•"/>
            </a:pPr>
            <a:r>
              <a:rPr sz="15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Longshot bias: at a 0.05 absolute edge the rule flags 74 to 89% of fixtures at mean odds above 4.7. A relative-edge filter makes it worse, not better.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1500"/>
              <a:buFont typeface="Arial"/>
              <a:buChar char="•"/>
            </a:pPr>
            <a:r>
              <a:rPr sz="15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2020-21 is a genuine distribution shift. No honest tuning fixes it.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1500"/>
              <a:buFont typeface="Arial"/>
              <a:buChar char="•"/>
            </a:pPr>
            <a:r>
              <a:rPr sz="15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CLV caveat: value is flagged against closing-derived probability, so this is not a clean bet-at-open simulation.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1500"/>
              <a:buFont typeface="Arial"/>
              <a:buChar char="•"/>
            </a:pPr>
            <a:r>
              <a:rPr sz="15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Understat is scraped, with no documented API. Its schema already changed once mid-project.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685800" marR="0" lvl="1" indent="-342900" algn="l">
              <a:spcBef>
                <a:spcPts val="90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Arial"/>
              <a:buChar char="•"/>
            </a:pPr>
            <a:r>
              <a:rPr sz="130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Cut from scope: historical injury data (no free feed) and prediction markets as a historical training source.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5" name="Google Shape;405;p16">
            <a:extLst xmlns:a="http://schemas.openxmlformats.org/drawingml/2006/main">
              <a:ext uri="{FF2B5EF4-FFF2-40B4-BE49-F238E27FC236}">
                <a16:creationId xmlns:a16="http://schemas.microsoft.com/office/drawing/2014/main" id="{6C583E20-B5D6-4089-BC1C-0651AA99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1316736"/>
            <a:ext cx="539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200"/>
              <a:buFont typeface="Arial"/>
              <a:buNone/>
            </a:pPr>
            <a:r>
              <a:rPr sz="2200" b="1" i="0" u="none" cap="none">
                <a:solidFill>
                  <a:srgbClr val="800000"/>
                </a:solidFill>
                <a:latin typeface="Arial"/>
                <a:ea typeface="Arial"/>
                <a:cs typeface="Arial"/>
              </a:rPr>
              <a:t>Future work</a:t>
            </a:r>
            <a:endParaRPr sz="2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6" name="Google Shape;406;p16">
            <a:extLst xmlns:a="http://schemas.openxmlformats.org/drawingml/2006/main">
              <a:ext uri="{FF2B5EF4-FFF2-40B4-BE49-F238E27FC236}">
                <a16:creationId xmlns:a16="http://schemas.microsoft.com/office/drawing/2014/main" id="{44987BC4-8AB1-4EDC-9909-63B4A51E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1828800"/>
            <a:ext cx="5394960" cy="301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500"/>
              <a:buFont typeface="Arial"/>
              <a:buChar char="•"/>
            </a:pPr>
            <a:r>
              <a:rPr sz="15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Hosted deployment with a scheduled Prefect server. Local is a deliberate choice for this project, not a limit.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1500"/>
              <a:buFont typeface="Arial"/>
              <a:buChar char="•"/>
            </a:pPr>
            <a:r>
              <a:rPr sz="15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Live prediction-market prices from Kalshi or Polymarket as an inference-time input.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900"/>
              </a:spcBef>
              <a:spcAft>
                <a:spcPts val="0"/>
              </a:spcAft>
              <a:buClr>
                <a:srgbClr val="737373"/>
              </a:buClr>
              <a:buSzPts val="1500"/>
              <a:buFont typeface="Arial"/>
              <a:buChar char="•"/>
            </a:pPr>
            <a:r>
              <a:rPr sz="1500" b="0" i="0" u="none" cap="none">
                <a:solidFill>
                  <a:srgbClr val="737373"/>
                </a:solidFill>
                <a:latin typeface="Arial"/>
                <a:ea typeface="Arial"/>
                <a:cs typeface="Arial"/>
              </a:rPr>
              <a:t>Automated release promotion and SemVer bumps from CI; version 1.0.0 is currently assigned manually.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7" name="Google Shape;407;p16">
            <a:extLst xmlns:a="http://schemas.openxmlformats.org/drawingml/2006/main">
              <a:ext uri="{FF2B5EF4-FFF2-40B4-BE49-F238E27FC236}">
                <a16:creationId xmlns:a16="http://schemas.microsoft.com/office/drawing/2014/main" id="{C348B315-15EA-4934-A2C5-D8DB5417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83480"/>
            <a:ext cx="112745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6">
            <a:extLst xmlns:a="http://schemas.openxmlformats.org/drawingml/2006/main">
              <a:ext uri="{FF2B5EF4-FFF2-40B4-BE49-F238E27FC236}">
                <a16:creationId xmlns:a16="http://schemas.microsoft.com/office/drawing/2014/main" id="{FEBB5011-2B79-4DDB-B0B3-5DEF416F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3208"/>
            <a:ext cx="10817352" cy="786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Risks we called before building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Longshot bias, the 2020-21 distribution shift, and scraped-source fragility were all flagged in the proposal. All three resolved as predicted, which is the point of writing them down first.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9" name="Google Shape;409;p16">
            <a:extLst xmlns:a="http://schemas.openxmlformats.org/drawingml/2006/main">
              <a:ext uri="{FF2B5EF4-FFF2-40B4-BE49-F238E27FC236}">
                <a16:creationId xmlns:a16="http://schemas.microsoft.com/office/drawing/2014/main" id="{E89F5DBC-D4D7-4692-9C37-77ACAF91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2512"/>
            <a:ext cx="1223467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" name="Google Shape;410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37361d262eb42c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6304" y="6464808"/>
            <a:ext cx="244231" cy="3108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11" name="Google Shape;411;p16">
            <a:extLst xmlns:a="http://schemas.openxmlformats.org/drawingml/2006/main">
              <a:ext uri="{FF2B5EF4-FFF2-40B4-BE49-F238E27FC236}">
                <a16:creationId xmlns:a16="http://schemas.microsoft.com/office/drawing/2014/main" id="{5A4376BA-7C7B-456D-A460-03810F10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75" y="6437376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UNIVERSITY OF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CHICAGO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2" name="Google Shape;412;p16">
            <a:extLst xmlns:a="http://schemas.openxmlformats.org/drawingml/2006/main">
              <a:ext uri="{FF2B5EF4-FFF2-40B4-BE49-F238E27FC236}">
                <a16:creationId xmlns:a16="http://schemas.microsoft.com/office/drawing/2014/main" id="{05C7D524-7590-476B-8FEB-B4DAE413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4" y="6382512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16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25122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8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8" name="Google Shape;418;p17">
            <a:extLst xmlns:a="http://schemas.openxmlformats.org/drawingml/2006/main">
              <a:ext uri="{FF2B5EF4-FFF2-40B4-BE49-F238E27FC236}">
                <a16:creationId xmlns:a16="http://schemas.microsoft.com/office/drawing/2014/main" id="{F2306D48-2603-4325-B15B-B147E0E1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543" y="0"/>
            <a:ext cx="4022354" cy="6382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5" name="Google Shape;419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bf1371f5b34b90">
            <a:alphaModFix amt="14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926083" y="1563624"/>
            <a:ext cx="2557241" cy="325526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20" name="Google Shape;420;p17">
            <a:extLst xmlns:a="http://schemas.openxmlformats.org/drawingml/2006/main">
              <a:ext uri="{FF2B5EF4-FFF2-40B4-BE49-F238E27FC236}">
                <a16:creationId xmlns:a16="http://schemas.microsoft.com/office/drawing/2014/main" id="{5C3E62FE-FBCC-45FB-B6DA-7C6AA559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71600"/>
            <a:ext cx="731520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sz="5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Questions?</a:t>
            </a:r>
            <a:endParaRPr sz="5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1" name="Google Shape;421;p17">
            <a:extLst xmlns:a="http://schemas.openxmlformats.org/drawingml/2006/main">
              <a:ext uri="{FF2B5EF4-FFF2-40B4-BE49-F238E27FC236}">
                <a16:creationId xmlns:a16="http://schemas.microsoft.com/office/drawing/2014/main" id="{E0C72493-1AEE-48DF-A03C-8FC8F18F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8716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000"/>
              <a:buFont typeface="Arial"/>
              <a:buNone/>
            </a:pPr>
            <a:r>
              <a:rPr sz="2000" b="0" i="0" u="sng" cap="none">
                <a:solidFill>
                  <a:srgbClr val="D9D9D9"/>
                </a:solidFill>
                <a:latin typeface="Arial"/>
                <a:ea typeface="Arial"/>
                <a:cs typeface="Arial"/>
              </a:rPr>
              <a:t>github.com/arenmizuno/beating-1X2</a:t>
            </a:r>
            <a:endParaRPr sz="2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2" name="Google Shape;422;p17">
            <a:extLst xmlns:a="http://schemas.openxmlformats.org/drawingml/2006/main">
              <a:ext uri="{FF2B5EF4-FFF2-40B4-BE49-F238E27FC236}">
                <a16:creationId xmlns:a16="http://schemas.microsoft.com/office/drawing/2014/main" id="{1FB712A4-7A4C-4587-A144-EEB65D89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73152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7">
            <a:extLst xmlns:a="http://schemas.openxmlformats.org/drawingml/2006/main">
              <a:ext uri="{FF2B5EF4-FFF2-40B4-BE49-F238E27FC236}">
                <a16:creationId xmlns:a16="http://schemas.microsoft.com/office/drawing/2014/main" id="{4451D5FB-4A4F-46AD-9ADF-81DCE91C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4992"/>
            <a:ext cx="6949440" cy="676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Reproduce locally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Clr>
                <a:srgbClr val="D9D9D9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D9D9D9"/>
                </a:solidFill>
                <a:latin typeface="Arial"/>
                <a:ea typeface="Arial"/>
                <a:cs typeface="Arial"/>
              </a:rPr>
              <a:t>pip install -r requirements.txt, dvc repro, docker compose up. Audited search artifacts are reused; full 150-trial retuning is opt-in.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4" name="Google Shape;424;p17">
            <a:extLst xmlns:a="http://schemas.openxmlformats.org/drawingml/2006/main">
              <a:ext uri="{FF2B5EF4-FFF2-40B4-BE49-F238E27FC236}">
                <a16:creationId xmlns:a16="http://schemas.microsoft.com/office/drawing/2014/main" id="{E6C6D9D2-81EB-4268-AB3F-70DFE031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73152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7">
            <a:extLst xmlns:a="http://schemas.openxmlformats.org/drawingml/2006/main">
              <a:ext uri="{FF2B5EF4-FFF2-40B4-BE49-F238E27FC236}">
                <a16:creationId xmlns:a16="http://schemas.microsoft.com/office/drawing/2014/main" id="{AB14802B-C6A8-4485-BBEC-43B54018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7680"/>
            <a:ext cx="6949440" cy="676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98 hermetic tests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Clr>
                <a:srgbClr val="D9D9D9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D9D9D9"/>
                </a:solidFill>
                <a:latin typeface="Arial"/>
                <a:ea typeface="Arial"/>
                <a:cs typeface="Arial"/>
              </a:rPr>
              <a:t>No network access required.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6" name="Google Shape;426;p17">
            <a:extLst xmlns:a="http://schemas.openxmlformats.org/drawingml/2006/main">
              <a:ext uri="{FF2B5EF4-FFF2-40B4-BE49-F238E27FC236}">
                <a16:creationId xmlns:a16="http://schemas.microsoft.com/office/drawing/2014/main" id="{778CAC28-0707-452B-B422-8A03876E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57216"/>
            <a:ext cx="73152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7">
            <a:extLst xmlns:a="http://schemas.openxmlformats.org/drawingml/2006/main">
              <a:ext uri="{FF2B5EF4-FFF2-40B4-BE49-F238E27FC236}">
                <a16:creationId xmlns:a16="http://schemas.microsoft.com/office/drawing/2014/main" id="{4D963A33-19AB-471E-A242-AEBE739F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0368"/>
            <a:ext cx="6949440" cy="676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CI mutation-tests the leakage guard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400"/>
              </a:spcBef>
              <a:spcAft>
                <a:spcPts val="0"/>
              </a:spcAft>
              <a:buClr>
                <a:srgbClr val="D9D9D9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D9D9D9"/>
                </a:solidFill>
                <a:latin typeface="Arial"/>
                <a:ea typeface="Arial"/>
                <a:cs typeface="Arial"/>
              </a:rPr>
              <a:t>It flips shift(1) to shift(0) and fails the build if the tests stay green.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8" name="Google Shape;428;p17">
            <a:extLst xmlns:a="http://schemas.openxmlformats.org/drawingml/2006/main">
              <a:ext uri="{FF2B5EF4-FFF2-40B4-BE49-F238E27FC236}">
                <a16:creationId xmlns:a16="http://schemas.microsoft.com/office/drawing/2014/main" id="{FFB7D4F5-65E9-4733-9815-0E635523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2512"/>
            <a:ext cx="12234672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5" name="Google Shape;429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bf1371f5b34b9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6304" y="6464808"/>
            <a:ext cx="244231" cy="3108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0" name="Google Shape;430;p17">
            <a:extLst xmlns:a="http://schemas.openxmlformats.org/drawingml/2006/main">
              <a:ext uri="{FF2B5EF4-FFF2-40B4-BE49-F238E27FC236}">
                <a16:creationId xmlns:a16="http://schemas.microsoft.com/office/drawing/2014/main" id="{CA490396-C583-4684-A6DE-9ADAD893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75" y="6437376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UNIVERSITY OF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CHICAGO</a:t>
            </a:r>
            <a:endParaRPr sz="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1" name="Google Shape;431;p17">
            <a:extLst xmlns:a="http://schemas.openxmlformats.org/drawingml/2006/main">
              <a:ext uri="{FF2B5EF4-FFF2-40B4-BE49-F238E27FC236}">
                <a16:creationId xmlns:a16="http://schemas.microsoft.com/office/drawing/2014/main" id="{2A54D5EB-7B15-42C5-853D-FAFFF5BA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024" y="6382512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17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380330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2026-08-12T16:30:34.5310000Z</dcterms:created>
  <dcterms:modified xsi:type="dcterms:W3CDTF">2026-08-12T16:30:34.5310000Z</dcterms:modified>
</coreProperties>
</file>
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mC7gaN106dJ+yeUUWVAja0fPk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C8EFCE-6B12-41B8-92B3-E4CBA6F99A15}">
  <a:tblStyle styleId="{46C8EFCE-6B12-41B8-92B3-E4CBA6F99A1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repository: https://github.com/arenmizuno/beating-1X2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UChicago branding inherited from the user-provided source deck.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Team portraits and biographies inherited from the user-provided source deck.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README.md, sections Problem framing and evaluation tracks.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football-data.co.uk: https://www.football-data.co.uk/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Understat: https://understat.com/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ClubElo: http://clubelo.com/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reports/summary.md.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reports/summary.md and reports/model_vs_market.csv.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src/splits.py and reports/champion.json for fold protocol.</a:t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dvc.yaml, flows.py, src/api.py, src/train.py, and README.md.</a:t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src/features.py, src/harmonize.py, src/market.py, and tests/test_features.py.</a:t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Arthur</a:t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Arthur</a:t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Arthur</a:t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Nick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reports/value_backtest.csv and reports/value_backtest.md.</a:t>
            </a:r>
            <a:endParaRPr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Nick 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src/api.py and src/predict.py; screenshot captured from http://127.0.0.1:8000/docs.</a:t>
            </a:r>
            <a:endParaRPr/>
          </a:p>
        </p:txBody>
      </p:sp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Nick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reports/drift/drift_metrics.json and reports/drift/calibration_decay.csv.</a:t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reports/drift/stress_test.json and reports/drift/stress_test.html; all scenarios scored through HTTP /predict.</a:t>
            </a:r>
            <a:endParaRPr/>
          </a:p>
        </p:txBody>
      </p:sp>
      <p:sp>
        <p:nvSpPr>
          <p:cNvPr id="364" name="Google Shape;36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reports/champion.json, reports/summary.md, reports/value_backtest.csv, and reports/drift/stress_test.json.</a:t>
            </a:r>
            <a:endParaRPr/>
          </a:p>
        </p:txBody>
      </p:sp>
      <p:sp>
        <p:nvSpPr>
          <p:cNvPr id="381" name="Google Shape;38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README.md, params.yaml, and reports/drift/drift_metrics.json.</a:t>
            </a:r>
            <a:endParaRPr/>
          </a:p>
        </p:txBody>
      </p:sp>
      <p:sp>
        <p:nvSpPr>
          <p:cNvPr id="395" name="Google Shape;39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repository: https://github.com/arenmizuno/beating-1X2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Verified locally: 98 tests passed; dvc status reported all stages up to date.</a:t>
            </a:r>
            <a:endParaRPr/>
          </a:p>
        </p:txBody>
      </p:sp>
      <p:sp>
        <p:nvSpPr>
          <p:cNvPr id="410" name="Google Shape;41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5.pn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1874520"/>
            <a:ext cx="780092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5400"/>
              <a:buFont typeface="Arial"/>
              <a:buNone/>
            </a:pPr>
            <a:r>
              <a:rPr b="0" i="0" lang="en-US" sz="6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Beating the 1X2</a:t>
            </a:r>
            <a:endParaRPr b="0" i="0" sz="6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5" y="2985513"/>
            <a:ext cx="9769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200"/>
              <a:buFont typeface="Arial"/>
              <a:buNone/>
            </a:pPr>
            <a:r>
              <a:rPr b="0" i="0" lang="en-US" sz="2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Can machine learning beat football’s closing market?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3657600"/>
            <a:ext cx="2011680" cy="1828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" name="Google Shape;19;p1"/>
          <p:cNvSpPr/>
          <p:nvPr/>
        </p:nvSpPr>
        <p:spPr>
          <a:xfrm>
            <a:off x="502926" y="3886200"/>
            <a:ext cx="8955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None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ADSP 32021: MLOps Final Project  ·  Professor Abado  ·  Summer 2026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Aren Mizuno  ·  Nick Dhaliwal  ·  Arthur Acker  ·  Nick Mikhail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github.com/arenmizuno/beating-1X2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Meet the Team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" name="Google Shape;30;p2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12051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Aren Mizuno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75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" name="Google Shape;36;p2"/>
          <p:cNvSpPr/>
          <p:nvPr/>
        </p:nvSpPr>
        <p:spPr>
          <a:xfrm>
            <a:off x="698125" y="3461900"/>
            <a:ext cx="23193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Calibri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UChicago ‘25 Data Science and Business Economics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Calibri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Serving, Deployment, Dashboard, MLOps Infra Glue</a:t>
            </a:r>
            <a:endParaRPr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355836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Arthur Acker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483850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" name="Google Shape;39;p2"/>
          <p:cNvSpPr/>
          <p:nvPr/>
        </p:nvSpPr>
        <p:spPr>
          <a:xfrm>
            <a:off x="3630156" y="3461891"/>
            <a:ext cx="2084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Calibri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McGill ‘25 Statistics and Computer Science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Calibri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Modeling, Evaluation</a:t>
            </a:r>
            <a:endParaRPr i="0" sz="16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99620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Nick Mikhail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327625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043404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Nick Dhaliwal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71425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317900" y="3461900"/>
            <a:ext cx="2231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Calibri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 Berkeley ‘24 Economics and Legal Studies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Calibri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Ingestion, EDA, Harmonization, Feature Engineering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42981" y="1399998"/>
            <a:ext cx="1371600" cy="1371600"/>
          </a:xfrm>
          <a:prstGeom prst="ellipse">
            <a:avLst/>
          </a:prstGeom>
          <a:solidFill>
            <a:srgbClr val="D9D9D9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4">
            <a:alphaModFix/>
          </a:blip>
          <a:srcRect b="-1409" l="-1409" r="-1419" t="-1419"/>
          <a:stretch/>
        </p:blipFill>
        <p:spPr>
          <a:xfrm>
            <a:off x="1005888" y="1294825"/>
            <a:ext cx="1645800" cy="1645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3568"/>
          <a:stretch/>
        </p:blipFill>
        <p:spPr>
          <a:xfrm>
            <a:off x="9629875" y="1417250"/>
            <a:ext cx="1460400" cy="1441200"/>
          </a:xfrm>
          <a:prstGeom prst="ellipse">
            <a:avLst/>
          </a:prstGeom>
          <a:noFill/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" name="Google Shape;48;p2" title="261024091-2.jpeg"/>
          <p:cNvPicPr preferRelativeResize="0"/>
          <p:nvPr/>
        </p:nvPicPr>
        <p:blipFill rotWithShape="1">
          <a:blip r:embed="rId6">
            <a:alphaModFix/>
          </a:blip>
          <a:srcRect b="58336" l="23185" r="23185" t="5919"/>
          <a:stretch/>
        </p:blipFill>
        <p:spPr>
          <a:xfrm>
            <a:off x="3739925" y="1314950"/>
            <a:ext cx="1645800" cy="1645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6474027" y="3461891"/>
            <a:ext cx="2084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Pomona College ‘25 Mathematics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Drift Simulation, Anomaly Verification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2" title="IMG_1434.jpeg"/>
          <p:cNvPicPr preferRelativeResize="0"/>
          <p:nvPr/>
        </p:nvPicPr>
        <p:blipFill rotWithShape="1">
          <a:blip r:embed="rId7">
            <a:alphaModFix/>
          </a:blip>
          <a:srcRect b="71042" l="48094" r="27251" t="9080"/>
          <a:stretch/>
        </p:blipFill>
        <p:spPr>
          <a:xfrm>
            <a:off x="6777600" y="1288426"/>
            <a:ext cx="1460400" cy="1569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" name="Google Shape;58;p3"/>
          <p:cNvSpPr/>
          <p:nvPr/>
        </p:nvSpPr>
        <p:spPr>
          <a:xfrm>
            <a:off x="457200" y="1280160"/>
            <a:ext cx="11274552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" name="Google Shape;59;p3"/>
          <p:cNvSpPr/>
          <p:nvPr/>
        </p:nvSpPr>
        <p:spPr>
          <a:xfrm>
            <a:off x="713232" y="1371600"/>
            <a:ext cx="107624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1" i="0" lang="en-US" sz="17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pre-kickoff signals beat the closing line</a:t>
            </a:r>
            <a:r>
              <a:rPr lang="en-US" sz="2000">
                <a:solidFill>
                  <a:srgbClr val="FFFFFF"/>
                </a:solidFill>
              </a:rPr>
              <a:t>, </a:t>
            </a:r>
            <a:r>
              <a:rPr b="0" i="0" lang="en-US" sz="20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 improve it when the market is included as an input?</a:t>
            </a:r>
            <a:endParaRPr b="0" i="0" sz="1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2523744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" name="Google Shape;61;p3"/>
          <p:cNvSpPr/>
          <p:nvPr/>
        </p:nvSpPr>
        <p:spPr>
          <a:xfrm>
            <a:off x="658368" y="2615184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737373"/>
                </a:solidFill>
              </a:rPr>
              <a:t>C</a:t>
            </a: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lassification of Home / Draw / Away using only information available before kickoff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36792" y="2523744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3" name="Google Shape;63;p3"/>
          <p:cNvSpPr/>
          <p:nvPr/>
        </p:nvSpPr>
        <p:spPr>
          <a:xfrm>
            <a:off x="6537960" y="2615184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value bet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Flag a wager where model probability exceeds the market-implied probability by more than a threshold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4224528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" name="Google Shape;65;p3"/>
          <p:cNvSpPr/>
          <p:nvPr/>
        </p:nvSpPr>
        <p:spPr>
          <a:xfrm>
            <a:off x="658368" y="4315968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What “beating the market” means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 lower probabilistic log loss than the vig-free closing line: not just better accuracy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36792" y="4224528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" name="Google Shape;67;p3"/>
          <p:cNvSpPr/>
          <p:nvPr/>
        </p:nvSpPr>
        <p:spPr>
          <a:xfrm>
            <a:off x="6537960" y="4315968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Why it is hard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closing line aggregates the sharpest money, so beating it is the standard test of market efficiency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457200" y="256025"/>
            <a:ext cx="1090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&amp; EDA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" name="Google Shape;79;p4"/>
          <p:cNvSpPr/>
          <p:nvPr/>
        </p:nvSpPr>
        <p:spPr>
          <a:xfrm>
            <a:off x="457200" y="1298448"/>
            <a:ext cx="3520440" cy="91440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4"/>
          <p:cNvSpPr/>
          <p:nvPr/>
        </p:nvSpPr>
        <p:spPr>
          <a:xfrm>
            <a:off x="621792" y="1353312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14,285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103120" y="1353312"/>
            <a:ext cx="170992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matches ingested, 2018-19 to 2025-26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010080" y="1255923"/>
            <a:ext cx="3520500" cy="91440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3" name="Google Shape;83;p4"/>
          <p:cNvSpPr/>
          <p:nvPr/>
        </p:nvSpPr>
        <p:spPr>
          <a:xfrm>
            <a:off x="8174672" y="1310787"/>
            <a:ext cx="146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13,786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9656000" y="1310787"/>
            <a:ext cx="1710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lang="en-US" sz="1500">
                <a:solidFill>
                  <a:srgbClr val="737373"/>
                </a:solidFill>
              </a:rPr>
              <a:t>matches </a:t>
            </a: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usable once </a:t>
            </a:r>
            <a:r>
              <a:rPr lang="en-US" sz="1500">
                <a:solidFill>
                  <a:srgbClr val="737373"/>
                </a:solidFill>
              </a:rPr>
              <a:t>rolling metrics are calculated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33622" y="1319936"/>
            <a:ext cx="3520500" cy="91440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4"/>
          <p:cNvSpPr/>
          <p:nvPr/>
        </p:nvSpPr>
        <p:spPr>
          <a:xfrm>
            <a:off x="4398215" y="1374800"/>
            <a:ext cx="146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99.99%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879543" y="1374800"/>
            <a:ext cx="1710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cross-source join rate (14,284 / 14,285)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23957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 sources, one row per match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3074003"/>
            <a:ext cx="53949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football-data.co.uk: closing odds and results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Understat: shot-level expected goals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ClubElo: team strength ratings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Top-5 European leagues: EPL, La Liga, Bundesliga, Serie A, Ligue 1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336792" y="2395728"/>
            <a:ext cx="5394960" cy="261518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" name="Google Shape;91;p4"/>
          <p:cNvSpPr/>
          <p:nvPr/>
        </p:nvSpPr>
        <p:spPr>
          <a:xfrm>
            <a:off x="6537960" y="2523744"/>
            <a:ext cx="4992600" cy="23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highlight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 advantage is persistent: the home-win rate holds at 44</a:t>
            </a:r>
            <a:r>
              <a:rPr lang="en-US" sz="1600">
                <a:solidFill>
                  <a:srgbClr val="FFFFFF"/>
                </a:solidFill>
              </a:rPr>
              <a:t>-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45% in every season except 2020-21, when it fell to 39.8% with empty stadiums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Arial"/>
              <a:buNone/>
            </a:pPr>
            <a:r>
              <a:rPr b="0" i="0" lang="en-US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That dip is not noise. It returns on the monitoring slide as target drift at p &lt; 0.0001, measured against a pre-COVID reference window.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52303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Class balance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5504688"/>
            <a:ext cx="4960803" cy="42062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4" name="Google Shape;94;p4"/>
          <p:cNvSpPr/>
          <p:nvPr/>
        </p:nvSpPr>
        <p:spPr>
          <a:xfrm>
            <a:off x="457200" y="5504688"/>
            <a:ext cx="4960803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 win  44%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18003" y="5504688"/>
            <a:ext cx="2931384" cy="42062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6" name="Google Shape;96;p4"/>
          <p:cNvSpPr/>
          <p:nvPr/>
        </p:nvSpPr>
        <p:spPr>
          <a:xfrm>
            <a:off x="5418003" y="5504688"/>
            <a:ext cx="29313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6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Draw  26%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349386" y="5504688"/>
            <a:ext cx="3382366" cy="420624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8" name="Google Shape;98;p4"/>
          <p:cNvSpPr/>
          <p:nvPr/>
        </p:nvSpPr>
        <p:spPr>
          <a:xfrm>
            <a:off x="8349386" y="5504688"/>
            <a:ext cx="338236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Away win  30%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Evaluation Metric &amp; Two Baselines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5"/>
          <p:cNvSpPr/>
          <p:nvPr/>
        </p:nvSpPr>
        <p:spPr>
          <a:xfrm>
            <a:off x="457200" y="131673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Primary metric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175" y="2136150"/>
            <a:ext cx="5120700" cy="25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Multiclass log loss: a proper scoring rule that punishes overconfident probabilities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right lens for betting, where a calibrated probability matters more than raw accuracy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Accuracy alone is useless here: a 44% home-win prior gets you most of the way with no skill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852160" y="1316736"/>
            <a:ext cx="5879592" cy="173736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5"/>
          <p:cNvSpPr/>
          <p:nvPr/>
        </p:nvSpPr>
        <p:spPr>
          <a:xfrm>
            <a:off x="6035040" y="190195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0.969</a:t>
            </a:r>
            <a:r>
              <a:rPr lang="en-US" sz="3000">
                <a:solidFill>
                  <a:srgbClr val="800000"/>
                </a:solidFill>
              </a:rPr>
              <a:t>3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699248" y="1426464"/>
            <a:ext cx="384048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2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Vig-free closing market line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Shin devi</a:t>
            </a:r>
            <a:r>
              <a:rPr lang="en-US" sz="1600">
                <a:solidFill>
                  <a:srgbClr val="737373"/>
                </a:solidFill>
              </a:rPr>
              <a:t>g: </a:t>
            </a: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600">
                <a:solidFill>
                  <a:srgbClr val="737373"/>
                </a:solidFill>
              </a:rPr>
              <a:t>true odds of a bookmaker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852160" y="3200400"/>
            <a:ext cx="5879592" cy="173736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5"/>
          <p:cNvSpPr/>
          <p:nvPr/>
        </p:nvSpPr>
        <p:spPr>
          <a:xfrm>
            <a:off x="6035040" y="378561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0.992</a:t>
            </a:r>
            <a:r>
              <a:rPr lang="en-US" sz="3000">
                <a:solidFill>
                  <a:srgbClr val="800000"/>
                </a:solidFill>
              </a:rPr>
              <a:t>8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699250" y="3310125"/>
            <a:ext cx="39228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2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Dixon-Coles Poisson goals model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reasonable-model control. Price-blind, and deliberately kept out of the feature set so it stays an independent</a:t>
            </a:r>
            <a:r>
              <a:rPr lang="en-US" sz="1600">
                <a:solidFill>
                  <a:srgbClr val="737373"/>
                </a:solidFill>
              </a:rPr>
              <a:t> comparison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5175504"/>
            <a:ext cx="11274552" cy="89611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" name="Google Shape;119;p5"/>
          <p:cNvSpPr/>
          <p:nvPr/>
        </p:nvSpPr>
        <p:spPr>
          <a:xfrm>
            <a:off x="685800" y="5266944"/>
            <a:ext cx="10817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 discipline   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Five walk-forward evaluation folds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champion selection uses the four folds shared by every candidate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The 2025-26 holdout stays sealed until deployed validation.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6"/>
          <p:cNvSpPr/>
          <p:nvPr/>
        </p:nvSpPr>
        <p:spPr>
          <a:xfrm>
            <a:off x="457200" y="12252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2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2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6"/>
          <p:cNvSpPr/>
          <p:nvPr/>
        </p:nvSpPr>
        <p:spPr>
          <a:xfrm>
            <a:off x="530352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3 sources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856232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100072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p6"/>
          <p:cNvSpPr/>
          <p:nvPr/>
        </p:nvSpPr>
        <p:spPr>
          <a:xfrm>
            <a:off x="2173224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sz="13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Harmonize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2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Hungarian matching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499104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742944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6"/>
          <p:cNvSpPr/>
          <p:nvPr/>
        </p:nvSpPr>
        <p:spPr>
          <a:xfrm>
            <a:off x="3816096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Devig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Shin, vig-free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141976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385816" y="1536192"/>
            <a:ext cx="1417320" cy="9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737373"/>
              </a:solidFill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58918" y="1581950"/>
            <a:ext cx="1271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>
                <a:solidFill>
                  <a:srgbClr val="1A1A1A"/>
                </a:solidFill>
              </a:rPr>
              <a:t>Features</a:t>
            </a:r>
            <a:endParaRPr sz="1300">
              <a:solidFill>
                <a:srgbClr val="73737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900"/>
              <a:buFont typeface="Arial"/>
              <a:buNone/>
            </a:pPr>
            <a:r>
              <a:rPr lang="en-US" sz="1300">
                <a:solidFill>
                  <a:srgbClr val="737373"/>
                </a:solidFill>
              </a:rPr>
              <a:t>leakage-guarded</a:t>
            </a:r>
            <a:endParaRPr sz="1300">
              <a:solidFill>
                <a:srgbClr val="737373"/>
              </a:solidFill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784848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028688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6"/>
          <p:cNvSpPr/>
          <p:nvPr/>
        </p:nvSpPr>
        <p:spPr>
          <a:xfrm>
            <a:off x="7101840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Walk-forward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5 eval folds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427720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71560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6"/>
          <p:cNvSpPr/>
          <p:nvPr/>
        </p:nvSpPr>
        <p:spPr>
          <a:xfrm>
            <a:off x="8744712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18 configs · 4 folds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070592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314432" y="1536192"/>
            <a:ext cx="1417320" cy="914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6"/>
          <p:cNvSpPr/>
          <p:nvPr/>
        </p:nvSpPr>
        <p:spPr>
          <a:xfrm>
            <a:off x="10387584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champion </a:t>
            </a:r>
            <a:r>
              <a:rPr lang="en-US" sz="1300">
                <a:solidFill>
                  <a:srgbClr val="D9D9D9"/>
                </a:solidFill>
              </a:rPr>
              <a:t>alias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28163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2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2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6"/>
          <p:cNvSpPr/>
          <p:nvPr/>
        </p:nvSpPr>
        <p:spPr>
          <a:xfrm>
            <a:off x="530352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Docker + FastAPI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one compose command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044952" y="3127248"/>
            <a:ext cx="320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346704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6"/>
          <p:cNvSpPr/>
          <p:nvPr/>
        </p:nvSpPr>
        <p:spPr>
          <a:xfrm>
            <a:off x="3419856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Resolve alias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models:/beating-1x2@champion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34456" y="3127248"/>
            <a:ext cx="320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236208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6"/>
          <p:cNvSpPr/>
          <p:nvPr/>
        </p:nvSpPr>
        <p:spPr>
          <a:xfrm>
            <a:off x="6309360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+ value flags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823960" y="3127248"/>
            <a:ext cx="320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125712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3" name="Google Shape;163;p6"/>
          <p:cNvSpPr/>
          <p:nvPr/>
        </p:nvSpPr>
        <p:spPr>
          <a:xfrm>
            <a:off x="9198864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HTTP holdout + alerts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2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orchestrators, two jobs</a:t>
            </a:r>
            <a:endParaRPr b="0" i="0" sz="2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4700016"/>
            <a:ext cx="5513832" cy="96926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6"/>
          <p:cNvSpPr/>
          <p:nvPr/>
        </p:nvSpPr>
        <p:spPr>
          <a:xfrm>
            <a:off x="640075" y="4773175"/>
            <a:ext cx="54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DVC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Reproducible build DAG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217920" y="4700016"/>
            <a:ext cx="5513832" cy="96926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6"/>
          <p:cNvSpPr/>
          <p:nvPr/>
        </p:nvSpPr>
        <p:spPr>
          <a:xfrm>
            <a:off x="6400800" y="4773168"/>
            <a:ext cx="51480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Prefect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Scheduler and runtime: concurrent ingestion, retries, observability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Ingestion &amp; Feature Engineering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7"/>
          <p:cNvSpPr/>
          <p:nvPr/>
        </p:nvSpPr>
        <p:spPr>
          <a:xfrm>
            <a:off x="457200" y="1316736"/>
            <a:ext cx="6583680" cy="74980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7"/>
          <p:cNvSpPr/>
          <p:nvPr/>
        </p:nvSpPr>
        <p:spPr>
          <a:xfrm>
            <a:off x="621792" y="1463040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2" name="Google Shape;182;p7"/>
          <p:cNvSpPr/>
          <p:nvPr/>
        </p:nvSpPr>
        <p:spPr>
          <a:xfrm>
            <a:off x="621792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243584" y="1389888"/>
            <a:ext cx="56327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Three third-party sources pulled concurrently with retries under Prefect, cached and throttled to be polite towards</a:t>
            </a:r>
            <a:r>
              <a:rPr lang="en-US" sz="1300">
                <a:solidFill>
                  <a:srgbClr val="737373"/>
                </a:solidFill>
              </a:rPr>
              <a:t> </a:t>
            </a: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serv</a:t>
            </a:r>
            <a:r>
              <a:rPr lang="en-US" sz="1300">
                <a:solidFill>
                  <a:srgbClr val="737373"/>
                </a:solidFill>
              </a:rPr>
              <a:t>ers providing data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2176272"/>
            <a:ext cx="6583680" cy="74980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7"/>
          <p:cNvSpPr/>
          <p:nvPr/>
        </p:nvSpPr>
        <p:spPr>
          <a:xfrm>
            <a:off x="621792" y="2322576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6" name="Google Shape;186;p7"/>
          <p:cNvSpPr/>
          <p:nvPr/>
        </p:nvSpPr>
        <p:spPr>
          <a:xfrm>
            <a:off x="621792" y="2322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243584" y="2249424"/>
            <a:ext cx="56327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Harmonization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Every club is spelled three way</a:t>
            </a:r>
            <a:r>
              <a:rPr lang="en-US" sz="1300">
                <a:solidFill>
                  <a:srgbClr val="737373"/>
                </a:solidFill>
              </a:rPr>
              <a:t>s so t</a:t>
            </a: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eam-name matching is solved as a global assignment with the Hungarian algorithm, giving a 99.99% join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57200" y="3035808"/>
            <a:ext cx="6583680" cy="74980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7"/>
          <p:cNvSpPr/>
          <p:nvPr/>
        </p:nvSpPr>
        <p:spPr>
          <a:xfrm>
            <a:off x="621792" y="3182112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0" name="Google Shape;190;p7"/>
          <p:cNvSpPr/>
          <p:nvPr/>
        </p:nvSpPr>
        <p:spPr>
          <a:xfrm>
            <a:off x="621792" y="3182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243584" y="3108960"/>
            <a:ext cx="56327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 devig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Shin method strips the bookmaker margin, leaving vig-free market probabilities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3895344"/>
            <a:ext cx="6583680" cy="128016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3" name="Google Shape;193;p7"/>
          <p:cNvSpPr/>
          <p:nvPr/>
        </p:nvSpPr>
        <p:spPr>
          <a:xfrm>
            <a:off x="621792" y="4306824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7"/>
          <p:cNvSpPr/>
          <p:nvPr/>
        </p:nvSpPr>
        <p:spPr>
          <a:xfrm>
            <a:off x="621792" y="4306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243584" y="3968496"/>
            <a:ext cx="5632704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86 features, two generations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2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Base: rolling form over 5 and 10 matches, Elo ratings, rest days, Dixon-Coles attack and defense strengths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2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Engineered: strength of schedule, Elo over-performance, home and away split form, EWMA-weighted form, fixture congestion, season points per game, promoted-team flag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5285232"/>
            <a:ext cx="6583680" cy="676656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7"/>
          <p:cNvSpPr/>
          <p:nvPr/>
        </p:nvSpPr>
        <p:spPr>
          <a:xfrm>
            <a:off x="658368" y="5285232"/>
            <a:ext cx="618134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250"/>
              <a:buFont typeface="Arial"/>
              <a:buNone/>
            </a:pPr>
            <a:r>
              <a:rPr b="1" i="0" lang="en-US" sz="145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Honest result:  </a:t>
            </a:r>
            <a:r>
              <a:rPr b="0" i="0" lang="en-US" sz="145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engineered features left the gap to the market unchanged</a:t>
            </a:r>
            <a:endParaRPr b="0" i="0" sz="145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315200" y="1316736"/>
            <a:ext cx="4416552" cy="4645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9" name="Google Shape;199;p7"/>
          <p:cNvSpPr/>
          <p:nvPr/>
        </p:nvSpPr>
        <p:spPr>
          <a:xfrm>
            <a:off x="7534656" y="1463040"/>
            <a:ext cx="3977640" cy="435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Leakage discipline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shift-then-roll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rolling window is shifted by one match, so a fixture never sees itself. Only prior matches feed a prediction, and the walk-forward splits enforce it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Mutation-tested guard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flips shift(1) to shift(0) and fails the build if the leakage tests </a:t>
            </a: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stay green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feature code path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Training and serving run the same code, so there is no train/serve skew to reconcile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Models &amp; Modeling Approach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1" name="Google Shape;211;p8"/>
          <p:cNvSpPr/>
          <p:nvPr/>
        </p:nvSpPr>
        <p:spPr>
          <a:xfrm>
            <a:off x="457200" y="1280160"/>
            <a:ext cx="5394960" cy="1042416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8"/>
          <p:cNvSpPr/>
          <p:nvPr/>
        </p:nvSpPr>
        <p:spPr>
          <a:xfrm>
            <a:off x="658368" y="1353312"/>
            <a:ext cx="4992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market_blind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Features only, no odds. Can we predict outcomes from the game itself?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336792" y="1280160"/>
            <a:ext cx="5394960" cy="1042416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8"/>
          <p:cNvSpPr/>
          <p:nvPr/>
        </p:nvSpPr>
        <p:spPr>
          <a:xfrm>
            <a:off x="6537960" y="1353312"/>
            <a:ext cx="4992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market_aware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closing line added as a feature. Given the market’s own number, can we improve on it?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57200" y="248716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1" i="0" lang="en-US" sz="2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Six model families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2889504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7" name="Google Shape;217;p8"/>
          <p:cNvSpPr/>
          <p:nvPr/>
        </p:nvSpPr>
        <p:spPr>
          <a:xfrm>
            <a:off x="640080" y="2980944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Linear and interpretable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306824" y="2889504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8"/>
          <p:cNvSpPr/>
          <p:nvPr/>
        </p:nvSpPr>
        <p:spPr>
          <a:xfrm>
            <a:off x="4489704" y="2980944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Gradient-boosted trees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156448" y="2889504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8"/>
          <p:cNvSpPr/>
          <p:nvPr/>
        </p:nvSpPr>
        <p:spPr>
          <a:xfrm>
            <a:off x="8339328" y="2980944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Gradient-boosted trees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57200" y="4041648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3" name="Google Shape;223;p8"/>
          <p:cNvSpPr/>
          <p:nvPr/>
        </p:nvSpPr>
        <p:spPr>
          <a:xfrm>
            <a:off x="640080" y="4133088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CatBoost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Gradient-boosted trees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306824" y="4041648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8"/>
          <p:cNvSpPr/>
          <p:nvPr/>
        </p:nvSpPr>
        <p:spPr>
          <a:xfrm>
            <a:off x="4489704" y="4133088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MLP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Neural net (multilayer perceptron)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156448" y="4041648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8"/>
          <p:cNvSpPr/>
          <p:nvPr/>
        </p:nvSpPr>
        <p:spPr>
          <a:xfrm>
            <a:off x="8339328" y="4133088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Stacking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Logistic meta-learner over the calibrated boosters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5266944"/>
            <a:ext cx="11274552" cy="804672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9" name="Google Shape;229;p8"/>
          <p:cNvSpPr/>
          <p:nvPr/>
        </p:nvSpPr>
        <p:spPr>
          <a:xfrm>
            <a:off x="685800" y="5358384"/>
            <a:ext cx="10817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Each booster also runs a hyperparameter-tuned variant, giving 9 configurations per track and 18 runs in total.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6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model is probability-calibrated: betting needs trustworthy probabilities, not just correct rankings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Experiment Tracking &amp; Model Selection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9"/>
          <p:cNvSpPr/>
          <p:nvPr/>
        </p:nvSpPr>
        <p:spPr>
          <a:xfrm>
            <a:off x="457200" y="1316725"/>
            <a:ext cx="5169900" cy="22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MLflow tracks every run’s params, metrics and artifacts. The registry holds beating-1x2 with a @champion alias and tags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18 candidate configurations across 2 tracks, compared on walk-forward log loss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Champion</a:t>
            </a:r>
            <a:r>
              <a:rPr lang="en-US" sz="1700">
                <a:solidFill>
                  <a:srgbClr val="737373"/>
                </a:solidFill>
              </a:rPr>
              <a:t>: market_aware / catboost_tuned, 86 features, MLflow @champion alias, SemVer 1.0.1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A6A6A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Selected at 0.9749 on four common folds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90525" y="3830736"/>
            <a:ext cx="4416600" cy="210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9"/>
          <p:cNvSpPr/>
          <p:nvPr/>
        </p:nvSpPr>
        <p:spPr>
          <a:xfrm>
            <a:off x="481981" y="3830726"/>
            <a:ext cx="3977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Calibration:</a:t>
            </a:r>
            <a:r>
              <a:rPr lang="en-US" sz="1800">
                <a:solidFill>
                  <a:schemeClr val="lt1"/>
                </a:solidFill>
              </a:rPr>
              <a:t> sigmoid won all 10 comparisons; isotonic emitted exact zeros (infinite log loss)</a:t>
            </a:r>
            <a:endParaRPr b="0" i="0" sz="2000" u="non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9" title="Screenshot 2026-08-17 at 12.53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7100" y="1316725"/>
            <a:ext cx="6478100" cy="3308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Model Results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10"/>
          <p:cNvSpPr/>
          <p:nvPr/>
        </p:nvSpPr>
        <p:spPr>
          <a:xfrm>
            <a:off x="457200" y="1188725"/>
            <a:ext cx="754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r>
              <a:rPr b="0" i="0" lang="en-US" sz="12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Four common walk-forward folds, market_aware track. Bar length = gap above the market line (lower is better).</a:t>
            </a:r>
            <a:endParaRPr b="0" i="0" sz="1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Arial"/>
              <a:buNone/>
            </a:pPr>
            <a:r>
              <a:rPr b="0" i="0" lang="en-US" sz="1200" u="non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This equal-fold view is the protocol used to select the champion.</a:t>
            </a:r>
            <a:endParaRPr b="0" i="0" sz="1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2377440" y="1746504"/>
            <a:ext cx="20117" cy="401421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10"/>
          <p:cNvSpPr/>
          <p:nvPr/>
        </p:nvSpPr>
        <p:spPr>
          <a:xfrm>
            <a:off x="2331720" y="586130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Market (vig-free close) = 0.9675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18288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catboost_tuned (champion)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2397557" y="1828800"/>
            <a:ext cx="630149" cy="21945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1" name="Google Shape;261;p10"/>
          <p:cNvSpPr/>
          <p:nvPr/>
        </p:nvSpPr>
        <p:spPr>
          <a:xfrm>
            <a:off x="3100839" y="1828800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0.9749   +0.0074</a:t>
            </a:r>
            <a:endParaRPr b="0" i="0" sz="1000" u="none" cap="none">
              <a:solidFill>
                <a:srgbClr val="B886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57200" y="222656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xgboost_tuned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397557" y="2226564"/>
            <a:ext cx="647180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10"/>
          <p:cNvSpPr/>
          <p:nvPr/>
        </p:nvSpPr>
        <p:spPr>
          <a:xfrm>
            <a:off x="3117870" y="2226564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0.9751   +0.0076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2624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stacking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397557" y="2624328"/>
            <a:ext cx="885615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10"/>
          <p:cNvSpPr/>
          <p:nvPr/>
        </p:nvSpPr>
        <p:spPr>
          <a:xfrm>
            <a:off x="3356305" y="2624328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0.9779   +0.0104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302209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catboost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397557" y="3022092"/>
            <a:ext cx="936708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10"/>
          <p:cNvSpPr/>
          <p:nvPr/>
        </p:nvSpPr>
        <p:spPr>
          <a:xfrm>
            <a:off x="3407398" y="3022092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0.9784   +0.0110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341985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37373"/>
                </a:solidFill>
              </a:rPr>
              <a:t>logistic</a:t>
            </a:r>
            <a:endParaRPr sz="1000">
              <a:solidFill>
                <a:srgbClr val="737373"/>
              </a:solidFill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397557" y="3419856"/>
            <a:ext cx="1490218" cy="2194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10"/>
          <p:cNvSpPr/>
          <p:nvPr/>
        </p:nvSpPr>
        <p:spPr>
          <a:xfrm>
            <a:off x="3960908" y="3419856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0.9850   +0.0175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57200" y="38176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2397557" y="3817620"/>
            <a:ext cx="1728653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10"/>
          <p:cNvSpPr/>
          <p:nvPr/>
        </p:nvSpPr>
        <p:spPr>
          <a:xfrm>
            <a:off x="4199343" y="3817620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0.9878   +0.0203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57200" y="421538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lightgbm_tuned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397557" y="4215384"/>
            <a:ext cx="1881932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10"/>
          <p:cNvSpPr/>
          <p:nvPr/>
        </p:nvSpPr>
        <p:spPr>
          <a:xfrm>
            <a:off x="4352622" y="4215384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0.9896   +0.0221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46131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Dixon-Coles baseline</a:t>
            </a:r>
            <a:endParaRPr b="0" i="0" sz="1000" u="none" cap="non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397557" y="4613148"/>
            <a:ext cx="1992634" cy="21945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p10"/>
          <p:cNvSpPr/>
          <p:nvPr/>
        </p:nvSpPr>
        <p:spPr>
          <a:xfrm>
            <a:off x="4463324" y="4613148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0.9908   +0.0234</a:t>
            </a:r>
            <a:endParaRPr b="0" i="0" sz="1000" u="none" cap="non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57200" y="50109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mlp (neural net)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397557" y="5010912"/>
            <a:ext cx="2333255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10"/>
          <p:cNvSpPr/>
          <p:nvPr/>
        </p:nvSpPr>
        <p:spPr>
          <a:xfrm>
            <a:off x="4803945" y="5010912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0.9949   +0.0274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57200" y="540867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2397557" y="5408676"/>
            <a:ext cx="2690908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8" name="Google Shape;288;p10"/>
          <p:cNvSpPr/>
          <p:nvPr/>
        </p:nvSpPr>
        <p:spPr>
          <a:xfrm>
            <a:off x="5161598" y="5408676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0.9990   +0.0316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818120" y="1517904"/>
            <a:ext cx="3913632" cy="129844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0" name="Google Shape;290;p10"/>
          <p:cNvSpPr/>
          <p:nvPr/>
        </p:nvSpPr>
        <p:spPr>
          <a:xfrm>
            <a:off x="8001000" y="1609344"/>
            <a:ext cx="35478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market leads every aggregate view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3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full fold, every league aggregate, both tracks</a:t>
            </a:r>
            <a:r>
              <a:rPr b="0" i="0" lang="en-US" sz="13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The smallest gap is the champion’s +0.0074.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7818120" y="2999232"/>
            <a:ext cx="3913632" cy="129844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10"/>
          <p:cNvSpPr/>
          <p:nvPr/>
        </p:nvSpPr>
        <p:spPr>
          <a:xfrm>
            <a:off x="8001000" y="3090672"/>
            <a:ext cx="35478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market_aware narrows,</a:t>
            </a:r>
            <a:r>
              <a:rPr b="1" lang="en-US" sz="1500">
                <a:solidFill>
                  <a:srgbClr val="800000"/>
                </a:solidFill>
              </a:rPr>
              <a:t> </a:t>
            </a: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but cannot close,</a:t>
            </a:r>
            <a:r>
              <a:rPr b="1" lang="en-US" sz="1500">
                <a:solidFill>
                  <a:srgbClr val="800000"/>
                </a:solidFill>
              </a:rPr>
              <a:t> </a:t>
            </a: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gap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3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Adding the closing line improves ML sharply, yet the best model still trails it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818120" y="4480560"/>
            <a:ext cx="3913632" cy="129844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10"/>
          <p:cNvSpPr/>
          <p:nvPr/>
        </p:nvSpPr>
        <p:spPr>
          <a:xfrm>
            <a:off x="8001000" y="4572000"/>
            <a:ext cx="35478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Seven beat Dixon-Coles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3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Seven of nine configurations land between the market and the price-blind Poisson baseline; only two score worse.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96" name="Google Shape;2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Value-Bet Backtest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6" name="Google Shape;306;p11"/>
          <p:cNvSpPr/>
          <p:nvPr/>
        </p:nvSpPr>
        <p:spPr>
          <a:xfrm>
            <a:off x="457200" y="1517904"/>
            <a:ext cx="44805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7200"/>
              <a:buFont typeface="Arial"/>
              <a:buNone/>
            </a:pPr>
            <a:r>
              <a:rPr b="0" i="0" lang="en-US" sz="72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-1.6%</a:t>
            </a:r>
            <a:endParaRPr b="0" i="0" sz="7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57200" y="28529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None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flat ROI: champion, walk-forward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7200" y="321868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1" i="0" lang="en-US" sz="18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95% bootstrap CI  [-10.0%, +7.8%]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57200" y="3803904"/>
            <a:ext cx="4480560" cy="6035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11"/>
          <p:cNvSpPr/>
          <p:nvPr/>
        </p:nvSpPr>
        <p:spPr>
          <a:xfrm>
            <a:off x="621792" y="3803904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2,429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2103120" y="3803904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bets placed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4517136"/>
            <a:ext cx="4480560" cy="6035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11"/>
          <p:cNvSpPr/>
          <p:nvPr/>
        </p:nvSpPr>
        <p:spPr>
          <a:xfrm>
            <a:off x="621792" y="451713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31.2%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2103120" y="4517136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strike rate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57200" y="5230368"/>
            <a:ext cx="4480560" cy="6035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11"/>
          <p:cNvSpPr/>
          <p:nvPr/>
        </p:nvSpPr>
        <p:spPr>
          <a:xfrm>
            <a:off x="621792" y="5230368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-3.4%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103120" y="523036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mean CLV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349240" y="1444752"/>
            <a:ext cx="6382512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With this few bets at mean odds near 6, the ROI number carries a huge error bar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No configuration is profitable</a:t>
            </a:r>
            <a:r>
              <a:rPr lang="en-US" sz="2000">
                <a:solidFill>
                  <a:srgbClr val="737373"/>
                </a:solidFill>
              </a:rPr>
              <a:t>: 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Across the 0.02</a:t>
            </a:r>
            <a:r>
              <a:rPr lang="en-US" sz="2000">
                <a:solidFill>
                  <a:srgbClr val="737373"/>
                </a:solidFill>
              </a:rPr>
              <a:t>-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0.20 threshold sweep, not one produces an ROI whose 95% CI excludes zero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O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nly 23</a:t>
            </a:r>
            <a:r>
              <a:rPr lang="en-US" sz="2000">
                <a:solidFill>
                  <a:srgbClr val="737373"/>
                </a:solidFill>
              </a:rPr>
              <a:t>-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46% of selections beat the close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349240" y="4206240"/>
            <a:ext cx="6382512" cy="155448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11"/>
          <p:cNvSpPr/>
          <p:nvPr/>
        </p:nvSpPr>
        <p:spPr>
          <a:xfrm>
            <a:off x="5577840" y="4315968"/>
            <a:ext cx="594360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trap we avoided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point estimate across every model and threshold: +0.03% ROI, from the champion on a relative-edge rule, worth +0.4 units on 1,319 bets. Its CI is [-14.9%, +15.5%]. That is pure noise, and reporting it as a win would be noise-mining.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1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Deployment an</a:t>
            </a:r>
            <a:r>
              <a:rPr lang="en-US" sz="3600">
                <a:solidFill>
                  <a:srgbClr val="800000"/>
                </a:solidFill>
              </a:rPr>
              <a:t>d Serving</a:t>
            </a: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Containerized API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2" name="Google Shape;332;p12"/>
          <p:cNvSpPr/>
          <p:nvPr/>
        </p:nvSpPr>
        <p:spPr>
          <a:xfrm>
            <a:off x="457200" y="137160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737373"/>
                </a:solidFill>
              </a:rPr>
              <a:t>docker compose up --build starts three services: the API on :8000/docs, the monitoring dashboard on :8501, and the MLflow UI on :5001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737373"/>
                </a:solidFill>
              </a:rPr>
              <a:t>The model is swappable by alias. Replacing it is a re-registration plus a restart, with zero changes to serving code</a:t>
            </a:r>
            <a:endParaRPr sz="1800">
              <a:solidFill>
                <a:srgbClr val="737373"/>
              </a:solidFill>
            </a:endParaRPr>
          </a:p>
          <a:p>
            <a:pPr indent="-3556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737373"/>
                </a:solidFill>
              </a:rPr>
              <a:t>GET /health reports the loaded model version, its SemVer and the @champion alias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4591405"/>
            <a:ext cx="5029200" cy="141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12"/>
          <p:cNvSpPr/>
          <p:nvPr/>
        </p:nvSpPr>
        <p:spPr>
          <a:xfrm>
            <a:off x="658368" y="4682845"/>
            <a:ext cx="46269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prices are not closing prices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Upcoming fixtures are scored against current, softer odds, so live value flags fire more readily than the backtest does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36" name="Google Shape;3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12" title="Screenshot 2026-08-17 at 12.54.1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625" y="1574225"/>
            <a:ext cx="7102377" cy="627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2" title="Screenshot 2026-08-17 at 12.54.5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6100" y="2834487"/>
            <a:ext cx="6400799" cy="245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Production Monitoring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8" name="Google Shape;348;p13"/>
          <p:cNvSpPr/>
          <p:nvPr/>
        </p:nvSpPr>
        <p:spPr>
          <a:xfrm>
            <a:off x="457200" y="1371600"/>
            <a:ext cx="6675000" cy="3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Stack: custom KS and PSI statistics (version-proof) plus Evidently HTML reports for each season from 2020 to 2025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Reference window is 2018-19 and 2019-20 only. A baseline has to predate the shift you want to detect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Thresholds: KS alpha = 0.01, PSI = 0.20, across 54 monitored features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Recent seasons flag 2 to 6 of the 54 features, consistent with roster and schedule churn. Calibration decay is tracked as gap-to-market, so a hard season for everyone does not false-alarm as model decay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452360" y="1371600"/>
            <a:ext cx="4279392" cy="42062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0" name="Google Shape;350;p13"/>
          <p:cNvSpPr/>
          <p:nvPr/>
        </p:nvSpPr>
        <p:spPr>
          <a:xfrm>
            <a:off x="7680960" y="1517904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detected drift: the 2020-21 COVID season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7680960" y="221284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 &lt; 0.0001</a:t>
            </a:r>
            <a:endParaRPr b="0" i="0" sz="2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7680960" y="263347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target drift against the pre-COVID reference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680960" y="318211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39.8%</a:t>
            </a:r>
            <a:endParaRPr b="0" i="0" sz="2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680960" y="3602736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home-win rate, down from 44 to 45% either side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7680960" y="415137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+0.095</a:t>
            </a:r>
            <a:endParaRPr b="0" i="0" sz="2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7680960" y="457200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worst calibration gap vs market (market_blind / logistic, 2020)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58" name="Google Shape;3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Drift Simulation &amp; Anomaly Verification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8" name="Google Shape;368;p14"/>
          <p:cNvSpPr/>
          <p:nvPr/>
        </p:nvSpPr>
        <p:spPr>
          <a:xfrm>
            <a:off x="457200" y="1280160"/>
            <a:ext cx="11274552" cy="6583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9" name="Google Shape;369;p14"/>
          <p:cNvSpPr/>
          <p:nvPr/>
        </p:nvSpPr>
        <p:spPr>
          <a:xfrm>
            <a:off x="658368" y="1280160"/>
            <a:ext cx="1087221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Baseline first: clean 2025-26 holdout, 1,727 rows, log loss 0.9853 vs market 0.9784, scored through HTTP /predict. Faults run only after the baseline passes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p14"/>
          <p:cNvGraphicFramePr/>
          <p:nvPr/>
        </p:nvGraphicFramePr>
        <p:xfrm>
          <a:off x="457200" y="2139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{46C8EFCE-6B12-41B8-92B3-E4CBA6F99A15}</a:tableStyleId>
              </a:tblPr>
              <a:tblGrid>
                <a:gridCol w="1783075"/>
                <a:gridCol w="2788925"/>
                <a:gridCol w="27889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Injected fault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Corruption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caught it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out_of_bounds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 feature pushed 5 to 15x past its range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84/86 features drift; prediction PSI 10.71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swapped_columns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and away swapped, market price flipped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 loss +0.395; prediction PSI 0.36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schema_break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xG feature family dropped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missing features; log loss +0.001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14"/>
          <p:cNvSpPr/>
          <p:nvPr/>
        </p:nvSpPr>
        <p:spPr>
          <a:xfrm>
            <a:off x="457200" y="4809744"/>
            <a:ext cx="11274552" cy="113385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14"/>
          <p:cNvSpPr/>
          <p:nvPr/>
        </p:nvSpPr>
        <p:spPr>
          <a:xfrm>
            <a:off x="685800" y="4919472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detector is never enough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drift catches extreme values; prediction and performance checks expose the column swap; schema validation catches missing xG. The batch validation suite combines every signal before declaring a pass.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74" name="Google Shape;3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4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4" title="Screenshot 2026-08-17 at 1.00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00" y="2090928"/>
            <a:ext cx="2532108" cy="2566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5" name="Google Shape;385;p15"/>
          <p:cNvSpPr/>
          <p:nvPr/>
        </p:nvSpPr>
        <p:spPr>
          <a:xfrm>
            <a:off x="457200" y="1335024"/>
            <a:ext cx="1127455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negative result is the deliverable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No model beats the market in any aggregate fold, league or track comparison: six families across nine configurations, three tuned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On four common folds, tuned CatBoost scores 0.9749 and Dixon-Coles 0.9908; both trail the market at 0.9675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On the deployed 2025-26 holdout, CatBoost scores 0.9853 vs market 0.9784 — a stable +0.0069 gap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No value threshold yields a profit whose CI excludes zero, and CLV is negative throughout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Interpretation: public pre-kickoff data improves a price-blind baseline but adds no reliable edge beyond the closing market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What we delivered: a reproducible, leakage-proof, versioned, deployed and monitored pipeline that establishes a negative result credibly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7200" y="5029200"/>
            <a:ext cx="11274552" cy="96926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15"/>
          <p:cNvSpPr/>
          <p:nvPr/>
        </p:nvSpPr>
        <p:spPr>
          <a:xfrm>
            <a:off x="685800" y="5102352"/>
            <a:ext cx="10817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the engineering matters more than the answer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pipeline that let us fool ourselves into a fake edge would be worse than useless</a:t>
            </a:r>
            <a:r>
              <a:rPr lang="en-US">
                <a:solidFill>
                  <a:srgbClr val="FFFFFF"/>
                </a:solidFill>
              </a:rPr>
              <a:t>. </a:t>
            </a: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value here is that we can trust the “no”: walk-forward splits, an HTTP-scored sealed holdout, a market baseline as leakage tripwire, and bootstrap CIs on every economic claim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89" name="Google Shape;3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5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16"/>
          <p:cNvSpPr/>
          <p:nvPr/>
        </p:nvSpPr>
        <p:spPr>
          <a:xfrm>
            <a:off x="457200" y="1316736"/>
            <a:ext cx="5394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200"/>
              <a:buFont typeface="Arial"/>
              <a:buNone/>
            </a:pPr>
            <a:r>
              <a:rPr b="1" i="0" lang="en-US" sz="27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 b="0" i="0" sz="2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57225" y="2005275"/>
            <a:ext cx="55947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Longshot bias: at a 0.05 absolute edge the rule flags 74-89% of fixtures at mean odds above 4.7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2020-21 is a genuine distribution shift </a:t>
            </a:r>
            <a:r>
              <a:rPr lang="en-US" sz="2000">
                <a:solidFill>
                  <a:srgbClr val="737373"/>
                </a:solidFill>
              </a:rPr>
              <a:t>– n</a:t>
            </a:r>
            <a:r>
              <a:rPr lang="en-US" sz="2000">
                <a:solidFill>
                  <a:srgbClr val="737373"/>
                </a:solidFill>
              </a:rPr>
              <a:t>o honest tuning fixes it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CLV caveat: value is flagged against closing-derived probability, so this is not a clean bet-at-open simulation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Understat is scraped, with no documented API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Cut from scope: historical injury data (no free feed) and prediction markets as a historical training source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336792" y="1316736"/>
            <a:ext cx="5394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200"/>
              <a:buFont typeface="Arial"/>
              <a:buNone/>
            </a:pPr>
            <a:r>
              <a:rPr b="1" i="0" lang="en-US" sz="27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2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6336817" y="2005263"/>
            <a:ext cx="53949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Hosted deployment with a scheduled Prefect server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Char char="•"/>
            </a:pPr>
            <a:r>
              <a:rPr lang="en-US" sz="2000">
                <a:solidFill>
                  <a:srgbClr val="737373"/>
                </a:solidFill>
              </a:rPr>
              <a:t>Train on more data</a:t>
            </a:r>
            <a:endParaRPr sz="2000">
              <a:solidFill>
                <a:srgbClr val="737373"/>
              </a:solidFill>
            </a:endParaRPr>
          </a:p>
          <a:p>
            <a:pPr indent="-355600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Char char="○"/>
            </a:pPr>
            <a:r>
              <a:rPr lang="en-US" sz="2000">
                <a:solidFill>
                  <a:srgbClr val="737373"/>
                </a:solidFill>
              </a:rPr>
              <a:t>Historical injury data </a:t>
            </a:r>
            <a:endParaRPr sz="2000">
              <a:solidFill>
                <a:srgbClr val="737373"/>
              </a:solidFill>
            </a:endParaRPr>
          </a:p>
          <a:p>
            <a:pPr indent="-355600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Char char="○"/>
            </a:pPr>
            <a:r>
              <a:rPr lang="en-US" sz="2000">
                <a:solidFill>
                  <a:srgbClr val="737373"/>
                </a:solidFill>
              </a:rPr>
              <a:t>Prediction-market prices as a model input (Kalshi, Polymarket)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Automated release promotion and SemVer bumps from CI</a:t>
            </a:r>
            <a:endParaRPr b="0" i="0" sz="2000" u="none" cap="non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37373"/>
              </a:solidFill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04" name="Google Shape;4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6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000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/>
          <p:nvPr/>
        </p:nvSpPr>
        <p:spPr>
          <a:xfrm>
            <a:off x="8227543" y="0"/>
            <a:ext cx="4022354" cy="6382512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13" name="Google Shape;413;p17"/>
          <p:cNvPicPr preferRelativeResize="0"/>
          <p:nvPr/>
        </p:nvPicPr>
        <p:blipFill rotWithShape="1">
          <a:blip r:embed="rId3">
            <a:alphaModFix amt="14000"/>
          </a:blip>
          <a:srcRect b="0" l="0" r="0" t="0"/>
          <a:stretch/>
        </p:blipFill>
        <p:spPr>
          <a:xfrm>
            <a:off x="8926083" y="1563624"/>
            <a:ext cx="2557241" cy="325526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7"/>
          <p:cNvSpPr/>
          <p:nvPr/>
        </p:nvSpPr>
        <p:spPr>
          <a:xfrm>
            <a:off x="502920" y="13716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0" i="0" lang="en-US" sz="54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54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02920" y="248716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00"/>
              <a:buFont typeface="Arial"/>
              <a:buNone/>
            </a:pPr>
            <a:r>
              <a:rPr b="0" i="0" lang="en-US" sz="2000" u="sng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github.com/arenmizuno/beating-1X2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17" name="Google Shape;4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